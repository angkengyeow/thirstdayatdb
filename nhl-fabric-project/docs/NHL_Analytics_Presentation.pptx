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 TITLE
Good [morning / afternoon], everyone. My name is [Your Name], and today I'm presenting my final project for the Junior Data Engineer Programme.
The project is called "NHL Game Data Analytics" — a fully end-to-end data engineering solution built entirely on Microsoft Fabric.
Over the next 20 minutes I'll walk you through how I took 240 megabytes of raw NHL game data spanning 6 seasons, built a complete medallion pipeline, modelled it into a star schema, and delivered a five-page interactive Power BI dashboard.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2: AGENDA
Here's what I'll cover today.
I'll start with the project overview, then walk through the dataset and architecture, the star schema design, and the data pipeline.
After that I'll share the EDA findings, walk through the dashboard, and cover testing and validation.
I'll close with business recommendations, challenges I faced, and then open it up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3: PROJECT OVERVIEW
The goal of this project was to demonstrate a complete data engineering workflow — not just processing data, but delivering actual business value at the end.
Three pillars: the pipeline, the analytics layer, and the business value.
For the pipeline: Medallion architecture — Bronze for raw ingestion, Silver for cleaning, Gold for the star schema. All in a single PySpark notebook called RL_Notebook_Fixed.
Analytics: EDA with PySpark and Matplotlib, a star schema with 3 dimension tables and 3 fact tables, connected to Power BI via DirectLake — no data import needed.
Business value: We can answer real questions. Which teams are most efficient? Who are the top players? Does home ice advantage matter?
One notebook. One Lakehouse. One dashboard — end-to-end on Microsoft Fabric.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4: DATASET &amp; ARCHITECTURE
The data comes from Kaggle — the NHL Game Data dataset. About 240 megabytes across 9 CSV files, covering 6 NHL seasons. The largest table is the play-by-play events with over 4 million rows.
I used the Medallion architecture on Microsoft Fabric's Lakehouse.
Bronze: raw ingestion — all 9 CSVs loaded as Delta tables with no transformation.
Silver: the cleaning layer — nulls handled, tables deduplicated, types cast, derived columns created.
Gold: the star schema — 3 dimension tables, 3 fact tables, and 4 pre-aggregated KPI views optimised for Power BI.
Critically, all three layers run inside one notebook — RL_Notebook_Fixed — which makes the pipeline simple to run and debug.
Power BI connects via DirectLake mode — reading directly from OneLake, no import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5: STAR SCHEMA
The star schema is at the heart of the project.
Three dimension tables: dim_team with 32 rows, dim_player covering 7,000 players, and dim_date for calendar attributes.
Three fact tables: fact_game_performance has one row per team per game — about 47,000 rows for 23,700 unique games. This stores goals, shots, whether the team won, and home vs away.
fact_player_stats has about 600,000 rows — one per player per game — with goals, assists, shots, and time on ice.
fact_play_events is the most granular — over 2 million rows, capturing every play event with x/y coordinates and period. This powers the shot heatmap.
All fact tables connect to the dimension tables via foreign keys — standard star schema in Power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6: DATA PIPELINE
Step 1: Upload. The 9 CSVs go into the Lakehouse Files section under nhl_raw. This is the Bronze landing zone.
Step 2: Bronze to Silver. RL_Notebook_Fixed creates 7 Silver Delta tables. Nulls are filled — numeric columns with zero, categorical with "unknown". Every table is deduplicated by primary key.
Step 3: Silver to Gold. Same notebook, the Silver tables are aggregated and modelled into the star schema — 11 Gold Delta tables including dimension tables, fact tables, and KPI views.
Step 4: Validate. Notebook 03 runs 25 automated tests — row counts, null checks, referential integrity, business logic.
Step 5: Visualise. Power BI connects using DirectLake — reads directly from OneLake, no import or refresh needed.
The entire transformation pipeline runs in one notebook — simple to run, simple to debug, simple to hand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7: EDA &amp; KEY FINDINGS
What did the data tell us?
Home ice advantage is real — home teams win 54 to 57% of regular season games.
Shot volume predicts wins more reliably than shot quality. Teams with 35 or more shots per game win significantly more.
The 2nd period produces the most goals — consistent across all 6 seasons.
The top three predictors of winning are shot volume, faceoff win percentage, and power play efficiency.
Elite goalies maintain a save percentage above 0.920. The league median is around 0.910.
Over 70% of goals come from within 30 feet of the net — the slot zone. This has direct implications for defensive coverage.
These aren't just interesting stats — they're actionable, and I'll come back to them in the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8: POWER BI DASHBOARD
The analytics deliverable is a **six-page** Power BI dashboard connected via DirectLake to the Gold Star Schema.
Page 1 — Executive Summary: high-level KPI cards, goals trend over months, win rate by team, game outcomes (REG/OT/SO donut).
Page 2 — Team Performance: standings table with conditional format on Win%, shot% vs win% scatter, power play efficiency rankings, faceoff win %.
Page 3 — Player Analytics: top scorers bar, goals vs assists scatter, season-over-season points by position, shooting% leaderboard, goalie save % table.
Page 4 — Play-by-Play: interactive shot location heatmap (x/y on rink background), goals by period, event counts and goal distributions by secondary type (wrist, slap, etc.).
Page 5 — Home vs Away: home ice advantage quantified – home win % over seasons (dual line), gauge vs 50% baseline, matrix by team, avg goals/shots split.
**Page 6 — Dream Team formation (the standout deliverable):** A fully dynamic fantasy roster builder. A single season slicer (or What-If GP threshold) against the pre-aggregated 'gold_player_season_stats' table instantly surfaces:
- Top 1 Center, Left Wing, Right Wing (by points, filtered to &gt;=20 GP)
- Top 4 Defensemen (or two pairing tables)
- Top Goaltenders (by Save% or lowest GAA, higher GP threshold ~25-30 for goalies)
Supporting cards calculate "Dream Team Total Star Points" (3F + top-4D) and individual name + stat callouts via TOPN DAX or visual Top-N. Context charts (top-10 centers leaderboard, position breakdown) sit alongside the roster tables.
Changing the Season dropdown completely refreshes the entire roster — perfect for "what-if" storytelling ("In 2016-17 Crosby-centered the first line...").
A focused but powerful set of DAX measures (Win%, Goals/Game, PP%, Save%, Points/Game, plus Dream Team-specific measures) plus the gold aggregates drive responsiveness. Slicers for Season, Team, Game Type (R/P), and Position allow deep filtering. DirectLake mode: the dashboard is always live against OneLake — zero scheduled refresh, zero import.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9: TESTING &amp; VALIDATION
Data engineering without testing isn't data engineering — it's hope-driven development.
I built a 25-test automated suite in Notebook 03. All tests pass.
Row count tests check that fact_game_performance has roughly twice as many rows as silver_game — because each game has two team entries.
Null checks confirm no primary key or critical metric is null.
Referential integrity checks that every foreign key in the fact tables maps to a valid dimension row. Zero orphan rows.
Business logic tests: is won boolean? Are goals non-negative? Are there exactly two team rows per game?
Range checks: periods between 1 and 5, shot coordinates within valid NHL rink bounds, seasons in the expected range.
This gives me confidence that everything in the Gold layer is clean and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10: BUSINESS RECOMMENDATIONS
Five data-driven recommendations.
One: Power play efficiency. Top-quartile PP% teams win 8 to 12% more games. Special teams training has measurable ROI.
Two: Shot volume. Teams generating 35 or more shots per game win more. Build systems that create shot opportunities.
Three: Home ice through seeding. A 55% home win rate means playoff seeding has real consequences — every regular season point matters.
Four: Faceoffs. Teams winning 52% or more of faceoffs control possession and generate more dangerous chances.
Five: Defend the slot. 70% of goals come from within 30 feet of the net. Defensive zone coverage must prioritise this area.
All five come directly from the data — turning raw CSVs into actionable insights is the whole point of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11: CHALLENGES &amp; LEARNINGS
No project goes perfectly — here's what I ran into and what I learned.
Challenge one: the play-by-play table has over 4 million rows. Loading it directly into Power BI was too slow. Fix: pre-aggregate in Gold and filter to key events. Learning: always pre-aggregate before connecting Power BI to large event tables.
Challenge two: skater and goalie stats have incompatible schemas. Fix: separate fact tables, null-aligned before union. Learning: never assume two tables with similar names have compatible columns.
Challenge three: older seasons have missing x/y coordinates. Fix: filled with zero, filtered in the visual layer. Learning: data completeness varies — document it.
Challenge four: team_id appears twice in fact_game_performance — once for the team, once for the opponent. This creates relationship ambiguity in Power BI. Fix: inactive relationships with USERELATIONSHIP() in DAX. Learning: multi-role foreign keys need careful design upfront.
These weren't blockers. They were learning opportunities — and having automated tests meant I caught most of them before they reached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12: CLOSING / Q&amp;A
To close — here's what this project delivers.
A complete end-to-end data pipeline on Microsoft Fabric, Bronze to Silver to Gold in a single notebook. A star schema with 3 dimension tables, 3 fact tables, and 4 KPI views. 25 automated tests confirming data quality. A five-page Power BI dashboard answering real business questions using DirectLake mode. And five data-driven business recommendations.
Most importantly — this demonstrates the full role of a junior data engineer: understand the data, design the schema, build the pipeline, validate the output, and communicate the insights.
Thank you. I'm happy to take questions on the architecture, the pipeline, the DAX measures, or any of the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F4A723"/>
          </a:solidFill>
          <a:ln w="12700">
            <a:solidFill>
              <a:srgbClr val="F4A723"/>
            </a:solidFill>
            <a:prstDash val="solid"/>
          </a:ln>
        </p:spPr>
      </p:sp>
      <p:sp>
        <p:nvSpPr>
          <p:cNvPr id="3" name="Shape 1"/>
          <p:cNvSpPr/>
          <p:nvPr/>
        </p:nvSpPr>
        <p:spPr>
          <a:xfrm>
            <a:off x="0" y="5047488"/>
            <a:ext cx="9144000" cy="91440"/>
          </a:xfrm>
          <a:prstGeom prst="rect">
            <a:avLst/>
          </a:prstGeom>
          <a:solidFill>
            <a:srgbClr val="F4A723"/>
          </a:solidFill>
          <a:ln w="12700">
            <a:solidFill>
              <a:srgbClr val="F4A723"/>
            </a:solidFill>
            <a:prstDash val="solid"/>
          </a:ln>
        </p:spPr>
      </p:sp>
      <p:sp>
        <p:nvSpPr>
          <p:cNvPr id="4" name="Shape 2"/>
          <p:cNvSpPr/>
          <p:nvPr/>
        </p:nvSpPr>
        <p:spPr>
          <a:xfrm>
            <a:off x="5989320" y="320040"/>
            <a:ext cx="2834640" cy="457200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5989320" y="320040"/>
            <a:ext cx="2834640" cy="73152"/>
          </a:xfrm>
          <a:prstGeom prst="rect">
            <a:avLst/>
          </a:prstGeom>
          <a:solidFill>
            <a:srgbClr val="F4A723"/>
          </a:solidFill>
          <a:ln w="12700">
            <a:solidFill>
              <a:srgbClr val="F4A723"/>
            </a:solidFill>
            <a:prstDash val="solid"/>
          </a:ln>
        </p:spPr>
      </p:sp>
      <p:sp>
        <p:nvSpPr>
          <p:cNvPr id="6" name="Text 4"/>
          <p:cNvSpPr/>
          <p:nvPr/>
        </p:nvSpPr>
        <p:spPr>
          <a:xfrm>
            <a:off x="6903720" y="640080"/>
            <a:ext cx="1097280" cy="91440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7" name="Text 5"/>
          <p:cNvSpPr/>
          <p:nvPr/>
        </p:nvSpPr>
        <p:spPr>
          <a:xfrm>
            <a:off x="6172200" y="1645920"/>
            <a:ext cx="2468880" cy="640080"/>
          </a:xfrm>
          <a:prstGeom prst="rect">
            <a:avLst/>
          </a:prstGeom>
          <a:noFill/>
          <a:ln/>
        </p:spPr>
        <p:txBody>
          <a:bodyPr wrap="square" lIns="0" tIns="0" rIns="0" bIns="0" rtlCol="0" anchor="ctr"/>
          <a:lstStyle/>
          <a:p>
            <a:pPr algn="ctr" indent="0" marL="0">
              <a:buNone/>
            </a:pPr>
            <a:r>
              <a:rPr lang="en-US" sz="900" b="1" spc="200" kern="0" dirty="0">
                <a:solidFill>
                  <a:srgbClr val="F4A723"/>
                </a:solidFill>
                <a:latin typeface="Calibri" pitchFamily="34" charset="0"/>
                <a:ea typeface="Calibri" pitchFamily="34" charset="-122"/>
                <a:cs typeface="Calibri" pitchFamily="34" charset="-120"/>
              </a:rPr>
              <a:t>JUNIOR DATA ENGINEER</a:t>
            </a:r>
            <a:endParaRPr lang="en-US" sz="900" dirty="0"/>
          </a:p>
          <a:p>
            <a:pPr algn="ctr" indent="0" marL="0">
              <a:buNone/>
            </a:pPr>
            <a:r>
              <a:rPr lang="en-US" sz="900" b="1" spc="200" kern="0" dirty="0">
                <a:solidFill>
                  <a:srgbClr val="F4A723"/>
                </a:solidFill>
                <a:latin typeface="Calibri" pitchFamily="34" charset="0"/>
                <a:ea typeface="Calibri" pitchFamily="34" charset="-122"/>
                <a:cs typeface="Calibri" pitchFamily="34" charset="-120"/>
              </a:rPr>
              <a:t>PROGRAMME</a:t>
            </a:r>
            <a:endParaRPr lang="en-US" sz="900" dirty="0"/>
          </a:p>
        </p:txBody>
      </p:sp>
      <p:sp>
        <p:nvSpPr>
          <p:cNvPr id="8" name="Text 6"/>
          <p:cNvSpPr/>
          <p:nvPr/>
        </p:nvSpPr>
        <p:spPr>
          <a:xfrm>
            <a:off x="6172200" y="2331720"/>
            <a:ext cx="2468880" cy="256032"/>
          </a:xfrm>
          <a:prstGeom prst="rect">
            <a:avLst/>
          </a:prstGeom>
          <a:noFill/>
          <a:ln/>
        </p:spPr>
        <p:txBody>
          <a:bodyPr wrap="square" lIns="0" tIns="0" rIns="0" bIns="0" rtlCol="0" anchor="ctr"/>
          <a:lstStyle/>
          <a:p>
            <a:pPr algn="ctr" indent="0" marL="0">
              <a:buNone/>
            </a:pPr>
            <a:r>
              <a:rPr lang="en-US" sz="1200" i="1" dirty="0">
                <a:solidFill>
                  <a:srgbClr val="8FA8C0"/>
                </a:solidFill>
                <a:latin typeface="Calibri" pitchFamily="34" charset="0"/>
                <a:ea typeface="Calibri" pitchFamily="34" charset="-122"/>
                <a:cs typeface="Calibri" pitchFamily="34" charset="-120"/>
              </a:rPr>
              <a:t>Final Project</a:t>
            </a:r>
            <a:endParaRPr lang="en-US" sz="1200" dirty="0"/>
          </a:p>
        </p:txBody>
      </p:sp>
      <p:sp>
        <p:nvSpPr>
          <p:cNvPr id="9" name="Text 7"/>
          <p:cNvSpPr/>
          <p:nvPr/>
        </p:nvSpPr>
        <p:spPr>
          <a:xfrm>
            <a:off x="457200" y="868680"/>
            <a:ext cx="5303520" cy="685800"/>
          </a:xfrm>
          <a:prstGeom prst="rect">
            <a:avLst/>
          </a:prstGeom>
          <a:noFill/>
          <a:ln/>
        </p:spPr>
        <p:txBody>
          <a:bodyPr wrap="square" lIns="0" tIns="0" rIns="0" bIns="0" rtlCol="0" anchor="ctr"/>
          <a:lstStyle/>
          <a:p>
            <a:pPr algn="l" indent="0" marL="0">
              <a:buNone/>
            </a:pPr>
            <a:r>
              <a:rPr lang="en-US" sz="4400" b="1" spc="200" kern="0" dirty="0">
                <a:solidFill>
                  <a:srgbClr val="FFFFFF"/>
                </a:solidFill>
                <a:latin typeface="Trebuchet MS" pitchFamily="34" charset="0"/>
                <a:ea typeface="Trebuchet MS" pitchFamily="34" charset="-122"/>
                <a:cs typeface="Trebuchet MS" pitchFamily="34" charset="-120"/>
              </a:rPr>
              <a:t>NHL GAME DATA</a:t>
            </a:r>
            <a:endParaRPr lang="en-US" sz="4400" dirty="0"/>
          </a:p>
        </p:txBody>
      </p:sp>
      <p:sp>
        <p:nvSpPr>
          <p:cNvPr id="10" name="Text 8"/>
          <p:cNvSpPr/>
          <p:nvPr/>
        </p:nvSpPr>
        <p:spPr>
          <a:xfrm>
            <a:off x="457200" y="1536192"/>
            <a:ext cx="5303520" cy="640080"/>
          </a:xfrm>
          <a:prstGeom prst="rect">
            <a:avLst/>
          </a:prstGeom>
          <a:noFill/>
          <a:ln/>
        </p:spPr>
        <p:txBody>
          <a:bodyPr wrap="square" lIns="0" tIns="0" rIns="0" bIns="0" rtlCol="0" anchor="ctr"/>
          <a:lstStyle/>
          <a:p>
            <a:pPr algn="l" indent="0" marL="0">
              <a:buNone/>
            </a:pPr>
            <a:r>
              <a:rPr lang="en-US" sz="4400" b="1" spc="200" kern="0" dirty="0">
                <a:solidFill>
                  <a:srgbClr val="F4A723"/>
                </a:solidFill>
                <a:latin typeface="Trebuchet MS" pitchFamily="34" charset="0"/>
                <a:ea typeface="Trebuchet MS" pitchFamily="34" charset="-122"/>
                <a:cs typeface="Trebuchet MS" pitchFamily="34" charset="-120"/>
              </a:rPr>
              <a:t>ANALYTICS</a:t>
            </a:r>
            <a:endParaRPr lang="en-US" sz="4400" dirty="0"/>
          </a:p>
        </p:txBody>
      </p:sp>
      <p:sp>
        <p:nvSpPr>
          <p:cNvPr id="11" name="Text 9"/>
          <p:cNvSpPr/>
          <p:nvPr/>
        </p:nvSpPr>
        <p:spPr>
          <a:xfrm>
            <a:off x="457200" y="2331720"/>
            <a:ext cx="5303520" cy="320040"/>
          </a:xfrm>
          <a:prstGeom prst="rect">
            <a:avLst/>
          </a:prstGeom>
          <a:noFill/>
          <a:ln/>
        </p:spPr>
        <p:txBody>
          <a:bodyPr wrap="square" lIns="0" tIns="0" rIns="0" bIns="0" rtlCol="0" anchor="ctr"/>
          <a:lstStyle/>
          <a:p>
            <a:pPr algn="l" indent="0" marL="0">
              <a:buNone/>
            </a:pPr>
            <a:r>
              <a:rPr lang="en-US" sz="1400" i="1" dirty="0">
                <a:solidFill>
                  <a:srgbClr val="C8E0F4"/>
                </a:solidFill>
                <a:latin typeface="Calibri" pitchFamily="34" charset="0"/>
                <a:ea typeface="Calibri" pitchFamily="34" charset="-122"/>
                <a:cs typeface="Calibri" pitchFamily="34" charset="-120"/>
              </a:rPr>
              <a:t>Microsoft Fabric · End-to-End Data Engineering</a:t>
            </a:r>
            <a:endParaRPr lang="en-US" sz="1400" dirty="0"/>
          </a:p>
        </p:txBody>
      </p:sp>
      <p:sp>
        <p:nvSpPr>
          <p:cNvPr id="12" name="Shape 10"/>
          <p:cNvSpPr/>
          <p:nvPr/>
        </p:nvSpPr>
        <p:spPr>
          <a:xfrm>
            <a:off x="256032" y="3200400"/>
            <a:ext cx="1691640" cy="91440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3" name="Text 11"/>
          <p:cNvSpPr/>
          <p:nvPr/>
        </p:nvSpPr>
        <p:spPr>
          <a:xfrm>
            <a:off x="256032" y="3236976"/>
            <a:ext cx="1691640" cy="502920"/>
          </a:xfrm>
          <a:prstGeom prst="rect">
            <a:avLst/>
          </a:prstGeom>
          <a:noFill/>
          <a:ln/>
        </p:spPr>
        <p:txBody>
          <a:bodyPr wrap="square" lIns="0" tIns="0" rIns="0" bIns="0" rtlCol="0" anchor="ctr"/>
          <a:lstStyle/>
          <a:p>
            <a:pPr algn="ctr" indent="0" marL="0">
              <a:buNone/>
            </a:pPr>
            <a:r>
              <a:rPr lang="en-US" sz="2800" b="1" dirty="0">
                <a:solidFill>
                  <a:srgbClr val="F4A723"/>
                </a:solidFill>
                <a:latin typeface="Trebuchet MS" pitchFamily="34" charset="0"/>
                <a:ea typeface="Trebuchet MS" pitchFamily="34" charset="-122"/>
                <a:cs typeface="Trebuchet MS" pitchFamily="34" charset="-120"/>
              </a:rPr>
              <a:t>6</a:t>
            </a:r>
            <a:endParaRPr lang="en-US" sz="2800" dirty="0"/>
          </a:p>
        </p:txBody>
      </p:sp>
      <p:sp>
        <p:nvSpPr>
          <p:cNvPr id="14" name="Text 12"/>
          <p:cNvSpPr/>
          <p:nvPr/>
        </p:nvSpPr>
        <p:spPr>
          <a:xfrm>
            <a:off x="256032" y="3749040"/>
            <a:ext cx="1691640" cy="292608"/>
          </a:xfrm>
          <a:prstGeom prst="rect">
            <a:avLst/>
          </a:prstGeom>
          <a:noFill/>
          <a:ln/>
        </p:spPr>
        <p:txBody>
          <a:bodyPr wrap="square" lIns="0" tIns="0" rIns="0" bIns="0" rtlCol="0" anchor="ctr"/>
          <a:lstStyle/>
          <a:p>
            <a:pPr algn="ctr" indent="0" marL="0">
              <a:buNone/>
            </a:pPr>
            <a:r>
              <a:rPr lang="en-US" sz="1000" dirty="0">
                <a:solidFill>
                  <a:srgbClr val="C8E0F4"/>
                </a:solidFill>
                <a:latin typeface="Calibri" pitchFamily="34" charset="0"/>
                <a:ea typeface="Calibri" pitchFamily="34" charset="-122"/>
                <a:cs typeface="Calibri" pitchFamily="34" charset="-120"/>
              </a:rPr>
              <a:t>NHL Seasons</a:t>
            </a:r>
            <a:endParaRPr lang="en-US" sz="1000" dirty="0"/>
          </a:p>
        </p:txBody>
      </p:sp>
      <p:sp>
        <p:nvSpPr>
          <p:cNvPr id="15" name="Shape 13"/>
          <p:cNvSpPr/>
          <p:nvPr/>
        </p:nvSpPr>
        <p:spPr>
          <a:xfrm>
            <a:off x="1993392" y="3200400"/>
            <a:ext cx="1691640" cy="91440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6" name="Text 14"/>
          <p:cNvSpPr/>
          <p:nvPr/>
        </p:nvSpPr>
        <p:spPr>
          <a:xfrm>
            <a:off x="1993392" y="3236976"/>
            <a:ext cx="1691640" cy="502920"/>
          </a:xfrm>
          <a:prstGeom prst="rect">
            <a:avLst/>
          </a:prstGeom>
          <a:noFill/>
          <a:ln/>
        </p:spPr>
        <p:txBody>
          <a:bodyPr wrap="square" lIns="0" tIns="0" rIns="0" bIns="0" rtlCol="0" anchor="ctr"/>
          <a:lstStyle/>
          <a:p>
            <a:pPr algn="ctr" indent="0" marL="0">
              <a:buNone/>
            </a:pPr>
            <a:r>
              <a:rPr lang="en-US" sz="2800" b="1" dirty="0">
                <a:solidFill>
                  <a:srgbClr val="F4A723"/>
                </a:solidFill>
                <a:latin typeface="Trebuchet MS" pitchFamily="34" charset="0"/>
                <a:ea typeface="Trebuchet MS" pitchFamily="34" charset="-122"/>
                <a:cs typeface="Trebuchet MS" pitchFamily="34" charset="-120"/>
              </a:rPr>
              <a:t>~240MB</a:t>
            </a:r>
            <a:endParaRPr lang="en-US" sz="2800" dirty="0"/>
          </a:p>
        </p:txBody>
      </p:sp>
      <p:sp>
        <p:nvSpPr>
          <p:cNvPr id="17" name="Text 15"/>
          <p:cNvSpPr/>
          <p:nvPr/>
        </p:nvSpPr>
        <p:spPr>
          <a:xfrm>
            <a:off x="1993392" y="3749040"/>
            <a:ext cx="1691640" cy="292608"/>
          </a:xfrm>
          <a:prstGeom prst="rect">
            <a:avLst/>
          </a:prstGeom>
          <a:noFill/>
          <a:ln/>
        </p:spPr>
        <p:txBody>
          <a:bodyPr wrap="square" lIns="0" tIns="0" rIns="0" bIns="0" rtlCol="0" anchor="ctr"/>
          <a:lstStyle/>
          <a:p>
            <a:pPr algn="ctr" indent="0" marL="0">
              <a:buNone/>
            </a:pPr>
            <a:r>
              <a:rPr lang="en-US" sz="1000" dirty="0">
                <a:solidFill>
                  <a:srgbClr val="C8E0F4"/>
                </a:solidFill>
                <a:latin typeface="Calibri" pitchFamily="34" charset="0"/>
                <a:ea typeface="Calibri" pitchFamily="34" charset="-122"/>
                <a:cs typeface="Calibri" pitchFamily="34" charset="-120"/>
              </a:rPr>
              <a:t>Raw Data</a:t>
            </a:r>
            <a:endParaRPr lang="en-US" sz="1000" dirty="0"/>
          </a:p>
        </p:txBody>
      </p:sp>
      <p:sp>
        <p:nvSpPr>
          <p:cNvPr id="18" name="Shape 16"/>
          <p:cNvSpPr/>
          <p:nvPr/>
        </p:nvSpPr>
        <p:spPr>
          <a:xfrm>
            <a:off x="3730752" y="3200400"/>
            <a:ext cx="1691640" cy="91440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9" name="Text 17"/>
          <p:cNvSpPr/>
          <p:nvPr/>
        </p:nvSpPr>
        <p:spPr>
          <a:xfrm>
            <a:off x="3730752" y="3236976"/>
            <a:ext cx="1691640" cy="502920"/>
          </a:xfrm>
          <a:prstGeom prst="rect">
            <a:avLst/>
          </a:prstGeom>
          <a:noFill/>
          <a:ln/>
        </p:spPr>
        <p:txBody>
          <a:bodyPr wrap="square" lIns="0" tIns="0" rIns="0" bIns="0" rtlCol="0" anchor="ctr"/>
          <a:lstStyle/>
          <a:p>
            <a:pPr algn="ctr" indent="0" marL="0">
              <a:buNone/>
            </a:pPr>
            <a:r>
              <a:rPr lang="en-US" sz="2800" b="1" dirty="0">
                <a:solidFill>
                  <a:srgbClr val="F4A723"/>
                </a:solidFill>
                <a:latin typeface="Trebuchet MS" pitchFamily="34" charset="0"/>
                <a:ea typeface="Trebuchet MS" pitchFamily="34" charset="-122"/>
                <a:cs typeface="Trebuchet MS" pitchFamily="34" charset="-120"/>
              </a:rPr>
              <a:t>9</a:t>
            </a:r>
            <a:endParaRPr lang="en-US" sz="2800" dirty="0"/>
          </a:p>
        </p:txBody>
      </p:sp>
      <p:sp>
        <p:nvSpPr>
          <p:cNvPr id="20" name="Text 18"/>
          <p:cNvSpPr/>
          <p:nvPr/>
        </p:nvSpPr>
        <p:spPr>
          <a:xfrm>
            <a:off x="3730752" y="3749040"/>
            <a:ext cx="1691640" cy="292608"/>
          </a:xfrm>
          <a:prstGeom prst="rect">
            <a:avLst/>
          </a:prstGeom>
          <a:noFill/>
          <a:ln/>
        </p:spPr>
        <p:txBody>
          <a:bodyPr wrap="square" lIns="0" tIns="0" rIns="0" bIns="0" rtlCol="0" anchor="ctr"/>
          <a:lstStyle/>
          <a:p>
            <a:pPr algn="ctr" indent="0" marL="0">
              <a:buNone/>
            </a:pPr>
            <a:r>
              <a:rPr lang="en-US" sz="1000" dirty="0">
                <a:solidFill>
                  <a:srgbClr val="C8E0F4"/>
                </a:solidFill>
                <a:latin typeface="Calibri" pitchFamily="34" charset="0"/>
                <a:ea typeface="Calibri" pitchFamily="34" charset="-122"/>
                <a:cs typeface="Calibri" pitchFamily="34" charset="-120"/>
              </a:rPr>
              <a:t>CSV Files</a:t>
            </a:r>
            <a:endParaRPr lang="en-US" sz="1000" dirty="0"/>
          </a:p>
        </p:txBody>
      </p:sp>
      <p:sp>
        <p:nvSpPr>
          <p:cNvPr id="21" name="Shape 19"/>
          <p:cNvSpPr/>
          <p:nvPr/>
        </p:nvSpPr>
        <p:spPr>
          <a:xfrm>
            <a:off x="5468112" y="3200400"/>
            <a:ext cx="1691640" cy="91440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22" name="Text 20"/>
          <p:cNvSpPr/>
          <p:nvPr/>
        </p:nvSpPr>
        <p:spPr>
          <a:xfrm>
            <a:off x="5468112" y="3236976"/>
            <a:ext cx="1691640" cy="502920"/>
          </a:xfrm>
          <a:prstGeom prst="rect">
            <a:avLst/>
          </a:prstGeom>
          <a:noFill/>
          <a:ln/>
        </p:spPr>
        <p:txBody>
          <a:bodyPr wrap="square" lIns="0" tIns="0" rIns="0" bIns="0" rtlCol="0" anchor="ctr"/>
          <a:lstStyle/>
          <a:p>
            <a:pPr algn="ctr" indent="0" marL="0">
              <a:buNone/>
            </a:pPr>
            <a:r>
              <a:rPr lang="en-US" sz="2800" b="1" dirty="0">
                <a:solidFill>
                  <a:srgbClr val="F4A723"/>
                </a:solidFill>
                <a:latin typeface="Trebuchet MS" pitchFamily="34" charset="0"/>
                <a:ea typeface="Trebuchet MS" pitchFamily="34" charset="-122"/>
                <a:cs typeface="Trebuchet MS" pitchFamily="34" charset="-120"/>
              </a:rPr>
              <a:t>~4M+</a:t>
            </a:r>
            <a:endParaRPr lang="en-US" sz="2800" dirty="0"/>
          </a:p>
        </p:txBody>
      </p:sp>
      <p:sp>
        <p:nvSpPr>
          <p:cNvPr id="23" name="Text 21"/>
          <p:cNvSpPr/>
          <p:nvPr/>
        </p:nvSpPr>
        <p:spPr>
          <a:xfrm>
            <a:off x="5468112" y="3749040"/>
            <a:ext cx="1691640" cy="292608"/>
          </a:xfrm>
          <a:prstGeom prst="rect">
            <a:avLst/>
          </a:prstGeom>
          <a:noFill/>
          <a:ln/>
        </p:spPr>
        <p:txBody>
          <a:bodyPr wrap="square" lIns="0" tIns="0" rIns="0" bIns="0" rtlCol="0" anchor="ctr"/>
          <a:lstStyle/>
          <a:p>
            <a:pPr algn="ctr" indent="0" marL="0">
              <a:buNone/>
            </a:pPr>
            <a:r>
              <a:rPr lang="en-US" sz="1000" dirty="0">
                <a:solidFill>
                  <a:srgbClr val="C8E0F4"/>
                </a:solidFill>
                <a:latin typeface="Calibri" pitchFamily="34" charset="0"/>
                <a:ea typeface="Calibri" pitchFamily="34" charset="-122"/>
                <a:cs typeface="Calibri" pitchFamily="34" charset="-120"/>
              </a:rPr>
              <a:t>Play Events</a:t>
            </a:r>
            <a:endParaRPr lang="en-US" sz="1000" dirty="0"/>
          </a:p>
        </p:txBody>
      </p:sp>
      <p:sp>
        <p:nvSpPr>
          <p:cNvPr id="24" name="Shape 22"/>
          <p:cNvSpPr/>
          <p:nvPr/>
        </p:nvSpPr>
        <p:spPr>
          <a:xfrm>
            <a:off x="7205472" y="3200400"/>
            <a:ext cx="1691640" cy="91440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25" name="Text 23"/>
          <p:cNvSpPr/>
          <p:nvPr/>
        </p:nvSpPr>
        <p:spPr>
          <a:xfrm>
            <a:off x="7205472" y="3236976"/>
            <a:ext cx="1691640" cy="502920"/>
          </a:xfrm>
          <a:prstGeom prst="rect">
            <a:avLst/>
          </a:prstGeom>
          <a:noFill/>
          <a:ln/>
        </p:spPr>
        <p:txBody>
          <a:bodyPr wrap="square" lIns="0" tIns="0" rIns="0" bIns="0" rtlCol="0" anchor="ctr"/>
          <a:lstStyle/>
          <a:p>
            <a:pPr algn="ctr" indent="0" marL="0">
              <a:buNone/>
            </a:pPr>
            <a:r>
              <a:rPr lang="en-US" sz="2800" b="1" dirty="0">
                <a:solidFill>
                  <a:srgbClr val="F4A723"/>
                </a:solidFill>
                <a:latin typeface="Trebuchet MS" pitchFamily="34" charset="0"/>
                <a:ea typeface="Trebuchet MS" pitchFamily="34" charset="-122"/>
                <a:cs typeface="Trebuchet MS" pitchFamily="34" charset="-120"/>
              </a:rPr>
              <a:t>5</a:t>
            </a:r>
            <a:endParaRPr lang="en-US" sz="2800" dirty="0"/>
          </a:p>
        </p:txBody>
      </p:sp>
      <p:sp>
        <p:nvSpPr>
          <p:cNvPr id="26" name="Text 24"/>
          <p:cNvSpPr/>
          <p:nvPr/>
        </p:nvSpPr>
        <p:spPr>
          <a:xfrm>
            <a:off x="7205472" y="3749040"/>
            <a:ext cx="1691640" cy="292608"/>
          </a:xfrm>
          <a:prstGeom prst="rect">
            <a:avLst/>
          </a:prstGeom>
          <a:noFill/>
          <a:ln/>
        </p:spPr>
        <p:txBody>
          <a:bodyPr wrap="square" lIns="0" tIns="0" rIns="0" bIns="0" rtlCol="0" anchor="ctr"/>
          <a:lstStyle/>
          <a:p>
            <a:pPr algn="ctr" indent="0" marL="0">
              <a:buNone/>
            </a:pPr>
            <a:r>
              <a:rPr lang="en-US" sz="1000" dirty="0">
                <a:solidFill>
                  <a:srgbClr val="C8E0F4"/>
                </a:solidFill>
                <a:latin typeface="Calibri" pitchFamily="34" charset="0"/>
                <a:ea typeface="Calibri" pitchFamily="34" charset="-122"/>
                <a:cs typeface="Calibri" pitchFamily="34" charset="-120"/>
              </a:rPr>
              <a:t>Dashboard Pages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1280160" cy="237744"/>
          </a:xfrm>
          <a:prstGeom prst="rect">
            <a:avLst/>
          </a:prstGeom>
          <a:solidFill>
            <a:srgbClr val="F4A723"/>
          </a:solidFill>
          <a:ln w="12700">
            <a:solidFill>
              <a:srgbClr val="F4A723"/>
            </a:solidFill>
            <a:prstDash val="solid"/>
          </a:ln>
          <a:effectLst>
            <a:outerShdw sx="100000" sy="100000" kx="0" ky="0" algn="bl" rotWithShape="0" blurRad="101600" dist="38100" dir="8100000">
              <a:srgbClr val="000000">
                <a:alpha val="18000"/>
              </a:srgbClr>
            </a:outerShdw>
          </a:effectLst>
        </p:spPr>
      </p:sp>
      <p:sp>
        <p:nvSpPr>
          <p:cNvPr id="3" name="Text 1"/>
          <p:cNvSpPr/>
          <p:nvPr/>
        </p:nvSpPr>
        <p:spPr>
          <a:xfrm>
            <a:off x="457200" y="256032"/>
            <a:ext cx="1280160" cy="237744"/>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AGENDA</a:t>
            </a:r>
            <a:endParaRPr lang="en-US" sz="900" dirty="0"/>
          </a:p>
        </p:txBody>
      </p:sp>
      <p:sp>
        <p:nvSpPr>
          <p:cNvPr id="4" name="Shape 2"/>
          <p:cNvSpPr/>
          <p:nvPr/>
        </p:nvSpPr>
        <p:spPr>
          <a:xfrm>
            <a:off x="457200" y="621792"/>
            <a:ext cx="50292" cy="475488"/>
          </a:xfrm>
          <a:prstGeom prst="rect">
            <a:avLst/>
          </a:prstGeom>
          <a:solidFill>
            <a:srgbClr val="F4A723"/>
          </a:solidFill>
          <a:ln w="12700">
            <a:solidFill>
              <a:srgbClr val="F4A723"/>
            </a:solidFill>
            <a:prstDash val="solid"/>
          </a:ln>
        </p:spPr>
      </p:sp>
      <p:sp>
        <p:nvSpPr>
          <p:cNvPr id="5" name="Text 3"/>
          <p:cNvSpPr/>
          <p:nvPr/>
        </p:nvSpPr>
        <p:spPr>
          <a:xfrm>
            <a:off x="621792" y="621792"/>
            <a:ext cx="822960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Trebuchet MS" pitchFamily="34" charset="0"/>
                <a:ea typeface="Trebuchet MS" pitchFamily="34" charset="-122"/>
                <a:cs typeface="Trebuchet MS" pitchFamily="34" charset="-120"/>
              </a:rPr>
              <a:t>What We'll Cover Today</a:t>
            </a:r>
            <a:endParaRPr lang="en-US" sz="2800" dirty="0"/>
          </a:p>
        </p:txBody>
      </p:sp>
      <p:sp>
        <p:nvSpPr>
          <p:cNvPr id="6" name="Shape 4"/>
          <p:cNvSpPr/>
          <p:nvPr/>
        </p:nvSpPr>
        <p:spPr>
          <a:xfrm>
            <a:off x="365760" y="1234440"/>
            <a:ext cx="4069080" cy="566928"/>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65760" y="1234440"/>
            <a:ext cx="457200" cy="566928"/>
          </a:xfrm>
          <a:prstGeom prst="rect">
            <a:avLst/>
          </a:prstGeom>
          <a:solidFill>
            <a:srgbClr val="F4A723"/>
          </a:solidFill>
          <a:ln w="12700">
            <a:solidFill>
              <a:srgbClr val="F4A723"/>
            </a:solidFill>
            <a:prstDash val="solid"/>
          </a:ln>
        </p:spPr>
      </p:sp>
      <p:sp>
        <p:nvSpPr>
          <p:cNvPr id="8" name="Text 6"/>
          <p:cNvSpPr/>
          <p:nvPr/>
        </p:nvSpPr>
        <p:spPr>
          <a:xfrm>
            <a:off x="365760" y="1234440"/>
            <a:ext cx="457200" cy="566928"/>
          </a:xfrm>
          <a:prstGeom prst="rect">
            <a:avLst/>
          </a:prstGeom>
          <a:noFill/>
          <a:ln/>
        </p:spPr>
        <p:txBody>
          <a:bodyPr wrap="square" lIns="0" tIns="0" rIns="0" bIns="0" rtlCol="0" anchor="ctr"/>
          <a:lstStyle/>
          <a:p>
            <a:pPr algn="ctr" indent="0" marL="0">
              <a:buNone/>
            </a:pPr>
            <a:r>
              <a:rPr lang="en-US" sz="1400" b="1" dirty="0">
                <a:solidFill>
                  <a:srgbClr val="0D1B2A"/>
                </a:solidFill>
                <a:latin typeface="Trebuchet MS" pitchFamily="34" charset="0"/>
                <a:ea typeface="Trebuchet MS" pitchFamily="34" charset="-122"/>
                <a:cs typeface="Trebuchet MS" pitchFamily="34" charset="-120"/>
              </a:rPr>
              <a:t>01</a:t>
            </a:r>
            <a:endParaRPr lang="en-US" sz="1400" dirty="0"/>
          </a:p>
        </p:txBody>
      </p:sp>
      <p:sp>
        <p:nvSpPr>
          <p:cNvPr id="9" name="Text 7"/>
          <p:cNvSpPr/>
          <p:nvPr/>
        </p:nvSpPr>
        <p:spPr>
          <a:xfrm>
            <a:off x="932688" y="1234440"/>
            <a:ext cx="3410712" cy="566928"/>
          </a:xfrm>
          <a:prstGeom prst="rect">
            <a:avLst/>
          </a:prstGeom>
          <a:noFill/>
          <a:ln/>
        </p:spPr>
        <p:txBody>
          <a:bodyPr wrap="square" lIns="50800" tIns="50800" rIns="50800" bIns="5080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Project Overview &amp; Objectives</a:t>
            </a:r>
            <a:endParaRPr lang="en-US" sz="1200" dirty="0"/>
          </a:p>
        </p:txBody>
      </p:sp>
      <p:sp>
        <p:nvSpPr>
          <p:cNvPr id="10" name="Shape 8"/>
          <p:cNvSpPr/>
          <p:nvPr/>
        </p:nvSpPr>
        <p:spPr>
          <a:xfrm>
            <a:off x="365760" y="1883664"/>
            <a:ext cx="4069080" cy="566928"/>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365760" y="1883664"/>
            <a:ext cx="457200" cy="566928"/>
          </a:xfrm>
          <a:prstGeom prst="rect">
            <a:avLst/>
          </a:prstGeom>
          <a:solidFill>
            <a:srgbClr val="F4A723"/>
          </a:solidFill>
          <a:ln w="12700">
            <a:solidFill>
              <a:srgbClr val="F4A723"/>
            </a:solidFill>
            <a:prstDash val="solid"/>
          </a:ln>
        </p:spPr>
      </p:sp>
      <p:sp>
        <p:nvSpPr>
          <p:cNvPr id="12" name="Text 10"/>
          <p:cNvSpPr/>
          <p:nvPr/>
        </p:nvSpPr>
        <p:spPr>
          <a:xfrm>
            <a:off x="365760" y="1883664"/>
            <a:ext cx="457200" cy="566928"/>
          </a:xfrm>
          <a:prstGeom prst="rect">
            <a:avLst/>
          </a:prstGeom>
          <a:noFill/>
          <a:ln/>
        </p:spPr>
        <p:txBody>
          <a:bodyPr wrap="square" lIns="0" tIns="0" rIns="0" bIns="0" rtlCol="0" anchor="ctr"/>
          <a:lstStyle/>
          <a:p>
            <a:pPr algn="ctr" indent="0" marL="0">
              <a:buNone/>
            </a:pPr>
            <a:r>
              <a:rPr lang="en-US" sz="1400" b="1" dirty="0">
                <a:solidFill>
                  <a:srgbClr val="0D1B2A"/>
                </a:solidFill>
                <a:latin typeface="Trebuchet MS" pitchFamily="34" charset="0"/>
                <a:ea typeface="Trebuchet MS" pitchFamily="34" charset="-122"/>
                <a:cs typeface="Trebuchet MS" pitchFamily="34" charset="-120"/>
              </a:rPr>
              <a:t>02</a:t>
            </a:r>
            <a:endParaRPr lang="en-US" sz="1400" dirty="0"/>
          </a:p>
        </p:txBody>
      </p:sp>
      <p:sp>
        <p:nvSpPr>
          <p:cNvPr id="13" name="Text 11"/>
          <p:cNvSpPr/>
          <p:nvPr/>
        </p:nvSpPr>
        <p:spPr>
          <a:xfrm>
            <a:off x="932688" y="1883664"/>
            <a:ext cx="3410712" cy="566928"/>
          </a:xfrm>
          <a:prstGeom prst="rect">
            <a:avLst/>
          </a:prstGeom>
          <a:noFill/>
          <a:ln/>
        </p:spPr>
        <p:txBody>
          <a:bodyPr wrap="square" lIns="50800" tIns="50800" rIns="50800" bIns="5080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Dataset &amp; Architecture</a:t>
            </a:r>
            <a:endParaRPr lang="en-US" sz="1200" dirty="0"/>
          </a:p>
        </p:txBody>
      </p:sp>
      <p:sp>
        <p:nvSpPr>
          <p:cNvPr id="14" name="Shape 12"/>
          <p:cNvSpPr/>
          <p:nvPr/>
        </p:nvSpPr>
        <p:spPr>
          <a:xfrm>
            <a:off x="365760" y="2532888"/>
            <a:ext cx="4069080" cy="566928"/>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365760" y="2532888"/>
            <a:ext cx="457200" cy="566928"/>
          </a:xfrm>
          <a:prstGeom prst="rect">
            <a:avLst/>
          </a:prstGeom>
          <a:solidFill>
            <a:srgbClr val="F4A723"/>
          </a:solidFill>
          <a:ln w="12700">
            <a:solidFill>
              <a:srgbClr val="F4A723"/>
            </a:solidFill>
            <a:prstDash val="solid"/>
          </a:ln>
        </p:spPr>
      </p:sp>
      <p:sp>
        <p:nvSpPr>
          <p:cNvPr id="16" name="Text 14"/>
          <p:cNvSpPr/>
          <p:nvPr/>
        </p:nvSpPr>
        <p:spPr>
          <a:xfrm>
            <a:off x="365760" y="2532888"/>
            <a:ext cx="457200" cy="566928"/>
          </a:xfrm>
          <a:prstGeom prst="rect">
            <a:avLst/>
          </a:prstGeom>
          <a:noFill/>
          <a:ln/>
        </p:spPr>
        <p:txBody>
          <a:bodyPr wrap="square" lIns="0" tIns="0" rIns="0" bIns="0" rtlCol="0" anchor="ctr"/>
          <a:lstStyle/>
          <a:p>
            <a:pPr algn="ctr" indent="0" marL="0">
              <a:buNone/>
            </a:pPr>
            <a:r>
              <a:rPr lang="en-US" sz="1400" b="1" dirty="0">
                <a:solidFill>
                  <a:srgbClr val="0D1B2A"/>
                </a:solidFill>
                <a:latin typeface="Trebuchet MS" pitchFamily="34" charset="0"/>
                <a:ea typeface="Trebuchet MS" pitchFamily="34" charset="-122"/>
                <a:cs typeface="Trebuchet MS" pitchFamily="34" charset="-120"/>
              </a:rPr>
              <a:t>03</a:t>
            </a:r>
            <a:endParaRPr lang="en-US" sz="1400" dirty="0"/>
          </a:p>
        </p:txBody>
      </p:sp>
      <p:sp>
        <p:nvSpPr>
          <p:cNvPr id="17" name="Text 15"/>
          <p:cNvSpPr/>
          <p:nvPr/>
        </p:nvSpPr>
        <p:spPr>
          <a:xfrm>
            <a:off x="932688" y="2532888"/>
            <a:ext cx="3410712" cy="566928"/>
          </a:xfrm>
          <a:prstGeom prst="rect">
            <a:avLst/>
          </a:prstGeom>
          <a:noFill/>
          <a:ln/>
        </p:spPr>
        <p:txBody>
          <a:bodyPr wrap="square" lIns="50800" tIns="50800" rIns="50800" bIns="5080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Schema Design (Star Schema)</a:t>
            </a:r>
            <a:endParaRPr lang="en-US" sz="1200" dirty="0"/>
          </a:p>
        </p:txBody>
      </p:sp>
      <p:sp>
        <p:nvSpPr>
          <p:cNvPr id="18" name="Shape 16"/>
          <p:cNvSpPr/>
          <p:nvPr/>
        </p:nvSpPr>
        <p:spPr>
          <a:xfrm>
            <a:off x="365760" y="3182112"/>
            <a:ext cx="4069080" cy="566928"/>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365760" y="3182112"/>
            <a:ext cx="457200" cy="566928"/>
          </a:xfrm>
          <a:prstGeom prst="rect">
            <a:avLst/>
          </a:prstGeom>
          <a:solidFill>
            <a:srgbClr val="F4A723"/>
          </a:solidFill>
          <a:ln w="12700">
            <a:solidFill>
              <a:srgbClr val="F4A723"/>
            </a:solidFill>
            <a:prstDash val="solid"/>
          </a:ln>
        </p:spPr>
      </p:sp>
      <p:sp>
        <p:nvSpPr>
          <p:cNvPr id="20" name="Text 18"/>
          <p:cNvSpPr/>
          <p:nvPr/>
        </p:nvSpPr>
        <p:spPr>
          <a:xfrm>
            <a:off x="365760" y="3182112"/>
            <a:ext cx="457200" cy="566928"/>
          </a:xfrm>
          <a:prstGeom prst="rect">
            <a:avLst/>
          </a:prstGeom>
          <a:noFill/>
          <a:ln/>
        </p:spPr>
        <p:txBody>
          <a:bodyPr wrap="square" lIns="0" tIns="0" rIns="0" bIns="0" rtlCol="0" anchor="ctr"/>
          <a:lstStyle/>
          <a:p>
            <a:pPr algn="ctr" indent="0" marL="0">
              <a:buNone/>
            </a:pPr>
            <a:r>
              <a:rPr lang="en-US" sz="1400" b="1" dirty="0">
                <a:solidFill>
                  <a:srgbClr val="0D1B2A"/>
                </a:solidFill>
                <a:latin typeface="Trebuchet MS" pitchFamily="34" charset="0"/>
                <a:ea typeface="Trebuchet MS" pitchFamily="34" charset="-122"/>
                <a:cs typeface="Trebuchet MS" pitchFamily="34" charset="-120"/>
              </a:rPr>
              <a:t>04</a:t>
            </a:r>
            <a:endParaRPr lang="en-US" sz="1400" dirty="0"/>
          </a:p>
        </p:txBody>
      </p:sp>
      <p:sp>
        <p:nvSpPr>
          <p:cNvPr id="21" name="Text 19"/>
          <p:cNvSpPr/>
          <p:nvPr/>
        </p:nvSpPr>
        <p:spPr>
          <a:xfrm>
            <a:off x="932688" y="3182112"/>
            <a:ext cx="3410712" cy="566928"/>
          </a:xfrm>
          <a:prstGeom prst="rect">
            <a:avLst/>
          </a:prstGeom>
          <a:noFill/>
          <a:ln/>
        </p:spPr>
        <p:txBody>
          <a:bodyPr wrap="square" lIns="50800" tIns="50800" rIns="50800" bIns="5080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Data Pipeline (ETL/ELT)</a:t>
            </a:r>
            <a:endParaRPr lang="en-US" sz="1200" dirty="0"/>
          </a:p>
        </p:txBody>
      </p:sp>
      <p:sp>
        <p:nvSpPr>
          <p:cNvPr id="22" name="Shape 20"/>
          <p:cNvSpPr/>
          <p:nvPr/>
        </p:nvSpPr>
        <p:spPr>
          <a:xfrm>
            <a:off x="365760" y="3831336"/>
            <a:ext cx="4069080" cy="566928"/>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365760" y="3831336"/>
            <a:ext cx="457200" cy="566928"/>
          </a:xfrm>
          <a:prstGeom prst="rect">
            <a:avLst/>
          </a:prstGeom>
          <a:solidFill>
            <a:srgbClr val="F4A723"/>
          </a:solidFill>
          <a:ln w="12700">
            <a:solidFill>
              <a:srgbClr val="F4A723"/>
            </a:solidFill>
            <a:prstDash val="solid"/>
          </a:ln>
        </p:spPr>
      </p:sp>
      <p:sp>
        <p:nvSpPr>
          <p:cNvPr id="24" name="Text 22"/>
          <p:cNvSpPr/>
          <p:nvPr/>
        </p:nvSpPr>
        <p:spPr>
          <a:xfrm>
            <a:off x="365760" y="3831336"/>
            <a:ext cx="457200" cy="566928"/>
          </a:xfrm>
          <a:prstGeom prst="rect">
            <a:avLst/>
          </a:prstGeom>
          <a:noFill/>
          <a:ln/>
        </p:spPr>
        <p:txBody>
          <a:bodyPr wrap="square" lIns="0" tIns="0" rIns="0" bIns="0" rtlCol="0" anchor="ctr"/>
          <a:lstStyle/>
          <a:p>
            <a:pPr algn="ctr" indent="0" marL="0">
              <a:buNone/>
            </a:pPr>
            <a:r>
              <a:rPr lang="en-US" sz="1400" b="1" dirty="0">
                <a:solidFill>
                  <a:srgbClr val="0D1B2A"/>
                </a:solidFill>
                <a:latin typeface="Trebuchet MS" pitchFamily="34" charset="0"/>
                <a:ea typeface="Trebuchet MS" pitchFamily="34" charset="-122"/>
                <a:cs typeface="Trebuchet MS" pitchFamily="34" charset="-120"/>
              </a:rPr>
              <a:t>05</a:t>
            </a:r>
            <a:endParaRPr lang="en-US" sz="1400" dirty="0"/>
          </a:p>
        </p:txBody>
      </p:sp>
      <p:sp>
        <p:nvSpPr>
          <p:cNvPr id="25" name="Text 23"/>
          <p:cNvSpPr/>
          <p:nvPr/>
        </p:nvSpPr>
        <p:spPr>
          <a:xfrm>
            <a:off x="932688" y="3831336"/>
            <a:ext cx="3410712" cy="566928"/>
          </a:xfrm>
          <a:prstGeom prst="rect">
            <a:avLst/>
          </a:prstGeom>
          <a:noFill/>
          <a:ln/>
        </p:spPr>
        <p:txBody>
          <a:bodyPr wrap="square" lIns="50800" tIns="50800" rIns="50800" bIns="5080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EDA &amp; Key Findings</a:t>
            </a:r>
            <a:endParaRPr lang="en-US" sz="1200" dirty="0"/>
          </a:p>
        </p:txBody>
      </p:sp>
      <p:sp>
        <p:nvSpPr>
          <p:cNvPr id="26" name="Shape 24"/>
          <p:cNvSpPr/>
          <p:nvPr/>
        </p:nvSpPr>
        <p:spPr>
          <a:xfrm>
            <a:off x="4892040" y="1234440"/>
            <a:ext cx="4069080" cy="566928"/>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27" name="Shape 25"/>
          <p:cNvSpPr/>
          <p:nvPr/>
        </p:nvSpPr>
        <p:spPr>
          <a:xfrm>
            <a:off x="4892040" y="1234440"/>
            <a:ext cx="457200" cy="566928"/>
          </a:xfrm>
          <a:prstGeom prst="rect">
            <a:avLst/>
          </a:prstGeom>
          <a:solidFill>
            <a:srgbClr val="F4A723"/>
          </a:solidFill>
          <a:ln w="12700">
            <a:solidFill>
              <a:srgbClr val="F4A723"/>
            </a:solidFill>
            <a:prstDash val="solid"/>
          </a:ln>
        </p:spPr>
      </p:sp>
      <p:sp>
        <p:nvSpPr>
          <p:cNvPr id="28" name="Text 26"/>
          <p:cNvSpPr/>
          <p:nvPr/>
        </p:nvSpPr>
        <p:spPr>
          <a:xfrm>
            <a:off x="4892040" y="1234440"/>
            <a:ext cx="457200" cy="566928"/>
          </a:xfrm>
          <a:prstGeom prst="rect">
            <a:avLst/>
          </a:prstGeom>
          <a:noFill/>
          <a:ln/>
        </p:spPr>
        <p:txBody>
          <a:bodyPr wrap="square" lIns="0" tIns="0" rIns="0" bIns="0" rtlCol="0" anchor="ctr"/>
          <a:lstStyle/>
          <a:p>
            <a:pPr algn="ctr" indent="0" marL="0">
              <a:buNone/>
            </a:pPr>
            <a:r>
              <a:rPr lang="en-US" sz="1400" b="1" dirty="0">
                <a:solidFill>
                  <a:srgbClr val="0D1B2A"/>
                </a:solidFill>
                <a:latin typeface="Trebuchet MS" pitchFamily="34" charset="0"/>
                <a:ea typeface="Trebuchet MS" pitchFamily="34" charset="-122"/>
                <a:cs typeface="Trebuchet MS" pitchFamily="34" charset="-120"/>
              </a:rPr>
              <a:t>06</a:t>
            </a:r>
            <a:endParaRPr lang="en-US" sz="1400" dirty="0"/>
          </a:p>
        </p:txBody>
      </p:sp>
      <p:sp>
        <p:nvSpPr>
          <p:cNvPr id="29" name="Text 27"/>
          <p:cNvSpPr/>
          <p:nvPr/>
        </p:nvSpPr>
        <p:spPr>
          <a:xfrm>
            <a:off x="5458968" y="1234440"/>
            <a:ext cx="3410712" cy="566928"/>
          </a:xfrm>
          <a:prstGeom prst="rect">
            <a:avLst/>
          </a:prstGeom>
          <a:noFill/>
          <a:ln/>
        </p:spPr>
        <p:txBody>
          <a:bodyPr wrap="square" lIns="50800" tIns="50800" rIns="50800" bIns="5080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Power BI Dashboard</a:t>
            </a:r>
            <a:endParaRPr lang="en-US" sz="1200" dirty="0"/>
          </a:p>
        </p:txBody>
      </p:sp>
      <p:sp>
        <p:nvSpPr>
          <p:cNvPr id="30" name="Shape 28"/>
          <p:cNvSpPr/>
          <p:nvPr/>
        </p:nvSpPr>
        <p:spPr>
          <a:xfrm>
            <a:off x="4892040" y="1883664"/>
            <a:ext cx="4069080" cy="566928"/>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31" name="Shape 29"/>
          <p:cNvSpPr/>
          <p:nvPr/>
        </p:nvSpPr>
        <p:spPr>
          <a:xfrm>
            <a:off x="4892040" y="1883664"/>
            <a:ext cx="457200" cy="566928"/>
          </a:xfrm>
          <a:prstGeom prst="rect">
            <a:avLst/>
          </a:prstGeom>
          <a:solidFill>
            <a:srgbClr val="F4A723"/>
          </a:solidFill>
          <a:ln w="12700">
            <a:solidFill>
              <a:srgbClr val="F4A723"/>
            </a:solidFill>
            <a:prstDash val="solid"/>
          </a:ln>
        </p:spPr>
      </p:sp>
      <p:sp>
        <p:nvSpPr>
          <p:cNvPr id="32" name="Text 30"/>
          <p:cNvSpPr/>
          <p:nvPr/>
        </p:nvSpPr>
        <p:spPr>
          <a:xfrm>
            <a:off x="4892040" y="1883664"/>
            <a:ext cx="457200" cy="566928"/>
          </a:xfrm>
          <a:prstGeom prst="rect">
            <a:avLst/>
          </a:prstGeom>
          <a:noFill/>
          <a:ln/>
        </p:spPr>
        <p:txBody>
          <a:bodyPr wrap="square" lIns="0" tIns="0" rIns="0" bIns="0" rtlCol="0" anchor="ctr"/>
          <a:lstStyle/>
          <a:p>
            <a:pPr algn="ctr" indent="0" marL="0">
              <a:buNone/>
            </a:pPr>
            <a:r>
              <a:rPr lang="en-US" sz="1400" b="1" dirty="0">
                <a:solidFill>
                  <a:srgbClr val="0D1B2A"/>
                </a:solidFill>
                <a:latin typeface="Trebuchet MS" pitchFamily="34" charset="0"/>
                <a:ea typeface="Trebuchet MS" pitchFamily="34" charset="-122"/>
                <a:cs typeface="Trebuchet MS" pitchFamily="34" charset="-120"/>
              </a:rPr>
              <a:t>07</a:t>
            </a:r>
            <a:endParaRPr lang="en-US" sz="1400" dirty="0"/>
          </a:p>
        </p:txBody>
      </p:sp>
      <p:sp>
        <p:nvSpPr>
          <p:cNvPr id="33" name="Text 31"/>
          <p:cNvSpPr/>
          <p:nvPr/>
        </p:nvSpPr>
        <p:spPr>
          <a:xfrm>
            <a:off x="5458968" y="1883664"/>
            <a:ext cx="3410712" cy="566928"/>
          </a:xfrm>
          <a:prstGeom prst="rect">
            <a:avLst/>
          </a:prstGeom>
          <a:noFill/>
          <a:ln/>
        </p:spPr>
        <p:txBody>
          <a:bodyPr wrap="square" lIns="50800" tIns="50800" rIns="50800" bIns="5080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Testing &amp; Validation</a:t>
            </a:r>
            <a:endParaRPr lang="en-US" sz="1200" dirty="0"/>
          </a:p>
        </p:txBody>
      </p:sp>
      <p:sp>
        <p:nvSpPr>
          <p:cNvPr id="34" name="Shape 32"/>
          <p:cNvSpPr/>
          <p:nvPr/>
        </p:nvSpPr>
        <p:spPr>
          <a:xfrm>
            <a:off x="4892040" y="2532888"/>
            <a:ext cx="4069080" cy="566928"/>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35" name="Shape 33"/>
          <p:cNvSpPr/>
          <p:nvPr/>
        </p:nvSpPr>
        <p:spPr>
          <a:xfrm>
            <a:off x="4892040" y="2532888"/>
            <a:ext cx="457200" cy="566928"/>
          </a:xfrm>
          <a:prstGeom prst="rect">
            <a:avLst/>
          </a:prstGeom>
          <a:solidFill>
            <a:srgbClr val="F4A723"/>
          </a:solidFill>
          <a:ln w="12700">
            <a:solidFill>
              <a:srgbClr val="F4A723"/>
            </a:solidFill>
            <a:prstDash val="solid"/>
          </a:ln>
        </p:spPr>
      </p:sp>
      <p:sp>
        <p:nvSpPr>
          <p:cNvPr id="36" name="Text 34"/>
          <p:cNvSpPr/>
          <p:nvPr/>
        </p:nvSpPr>
        <p:spPr>
          <a:xfrm>
            <a:off x="4892040" y="2532888"/>
            <a:ext cx="457200" cy="566928"/>
          </a:xfrm>
          <a:prstGeom prst="rect">
            <a:avLst/>
          </a:prstGeom>
          <a:noFill/>
          <a:ln/>
        </p:spPr>
        <p:txBody>
          <a:bodyPr wrap="square" lIns="0" tIns="0" rIns="0" bIns="0" rtlCol="0" anchor="ctr"/>
          <a:lstStyle/>
          <a:p>
            <a:pPr algn="ctr" indent="0" marL="0">
              <a:buNone/>
            </a:pPr>
            <a:r>
              <a:rPr lang="en-US" sz="1400" b="1" dirty="0">
                <a:solidFill>
                  <a:srgbClr val="0D1B2A"/>
                </a:solidFill>
                <a:latin typeface="Trebuchet MS" pitchFamily="34" charset="0"/>
                <a:ea typeface="Trebuchet MS" pitchFamily="34" charset="-122"/>
                <a:cs typeface="Trebuchet MS" pitchFamily="34" charset="-120"/>
              </a:rPr>
              <a:t>08</a:t>
            </a:r>
            <a:endParaRPr lang="en-US" sz="1400" dirty="0"/>
          </a:p>
        </p:txBody>
      </p:sp>
      <p:sp>
        <p:nvSpPr>
          <p:cNvPr id="37" name="Text 35"/>
          <p:cNvSpPr/>
          <p:nvPr/>
        </p:nvSpPr>
        <p:spPr>
          <a:xfrm>
            <a:off x="5458968" y="2532888"/>
            <a:ext cx="3410712" cy="566928"/>
          </a:xfrm>
          <a:prstGeom prst="rect">
            <a:avLst/>
          </a:prstGeom>
          <a:noFill/>
          <a:ln/>
        </p:spPr>
        <p:txBody>
          <a:bodyPr wrap="square" lIns="50800" tIns="50800" rIns="50800" bIns="5080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Business Recommendations</a:t>
            </a:r>
            <a:endParaRPr lang="en-US" sz="1200" dirty="0"/>
          </a:p>
        </p:txBody>
      </p:sp>
      <p:sp>
        <p:nvSpPr>
          <p:cNvPr id="38" name="Shape 36"/>
          <p:cNvSpPr/>
          <p:nvPr/>
        </p:nvSpPr>
        <p:spPr>
          <a:xfrm>
            <a:off x="4892040" y="3182112"/>
            <a:ext cx="4069080" cy="566928"/>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39" name="Shape 37"/>
          <p:cNvSpPr/>
          <p:nvPr/>
        </p:nvSpPr>
        <p:spPr>
          <a:xfrm>
            <a:off x="4892040" y="3182112"/>
            <a:ext cx="457200" cy="566928"/>
          </a:xfrm>
          <a:prstGeom prst="rect">
            <a:avLst/>
          </a:prstGeom>
          <a:solidFill>
            <a:srgbClr val="F4A723"/>
          </a:solidFill>
          <a:ln w="12700">
            <a:solidFill>
              <a:srgbClr val="F4A723"/>
            </a:solidFill>
            <a:prstDash val="solid"/>
          </a:ln>
        </p:spPr>
      </p:sp>
      <p:sp>
        <p:nvSpPr>
          <p:cNvPr id="40" name="Text 38"/>
          <p:cNvSpPr/>
          <p:nvPr/>
        </p:nvSpPr>
        <p:spPr>
          <a:xfrm>
            <a:off x="4892040" y="3182112"/>
            <a:ext cx="457200" cy="566928"/>
          </a:xfrm>
          <a:prstGeom prst="rect">
            <a:avLst/>
          </a:prstGeom>
          <a:noFill/>
          <a:ln/>
        </p:spPr>
        <p:txBody>
          <a:bodyPr wrap="square" lIns="0" tIns="0" rIns="0" bIns="0" rtlCol="0" anchor="ctr"/>
          <a:lstStyle/>
          <a:p>
            <a:pPr algn="ctr" indent="0" marL="0">
              <a:buNone/>
            </a:pPr>
            <a:r>
              <a:rPr lang="en-US" sz="1400" b="1" dirty="0">
                <a:solidFill>
                  <a:srgbClr val="0D1B2A"/>
                </a:solidFill>
                <a:latin typeface="Trebuchet MS" pitchFamily="34" charset="0"/>
                <a:ea typeface="Trebuchet MS" pitchFamily="34" charset="-122"/>
                <a:cs typeface="Trebuchet MS" pitchFamily="34" charset="-120"/>
              </a:rPr>
              <a:t>09</a:t>
            </a:r>
            <a:endParaRPr lang="en-US" sz="1400" dirty="0"/>
          </a:p>
        </p:txBody>
      </p:sp>
      <p:sp>
        <p:nvSpPr>
          <p:cNvPr id="41" name="Text 39"/>
          <p:cNvSpPr/>
          <p:nvPr/>
        </p:nvSpPr>
        <p:spPr>
          <a:xfrm>
            <a:off x="5458968" y="3182112"/>
            <a:ext cx="3410712" cy="566928"/>
          </a:xfrm>
          <a:prstGeom prst="rect">
            <a:avLst/>
          </a:prstGeom>
          <a:noFill/>
          <a:ln/>
        </p:spPr>
        <p:txBody>
          <a:bodyPr wrap="square" lIns="50800" tIns="50800" rIns="50800" bIns="5080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Challenges &amp; Learnings</a:t>
            </a:r>
            <a:endParaRPr lang="en-US" sz="1200" dirty="0"/>
          </a:p>
        </p:txBody>
      </p:sp>
      <p:sp>
        <p:nvSpPr>
          <p:cNvPr id="42" name="Shape 40"/>
          <p:cNvSpPr/>
          <p:nvPr/>
        </p:nvSpPr>
        <p:spPr>
          <a:xfrm>
            <a:off x="4892040" y="3831336"/>
            <a:ext cx="4069080" cy="566928"/>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43" name="Shape 41"/>
          <p:cNvSpPr/>
          <p:nvPr/>
        </p:nvSpPr>
        <p:spPr>
          <a:xfrm>
            <a:off x="4892040" y="3831336"/>
            <a:ext cx="457200" cy="566928"/>
          </a:xfrm>
          <a:prstGeom prst="rect">
            <a:avLst/>
          </a:prstGeom>
          <a:solidFill>
            <a:srgbClr val="F4A723"/>
          </a:solidFill>
          <a:ln w="12700">
            <a:solidFill>
              <a:srgbClr val="F4A723"/>
            </a:solidFill>
            <a:prstDash val="solid"/>
          </a:ln>
        </p:spPr>
      </p:sp>
      <p:sp>
        <p:nvSpPr>
          <p:cNvPr id="44" name="Text 42"/>
          <p:cNvSpPr/>
          <p:nvPr/>
        </p:nvSpPr>
        <p:spPr>
          <a:xfrm>
            <a:off x="4892040" y="3831336"/>
            <a:ext cx="457200" cy="566928"/>
          </a:xfrm>
          <a:prstGeom prst="rect">
            <a:avLst/>
          </a:prstGeom>
          <a:noFill/>
          <a:ln/>
        </p:spPr>
        <p:txBody>
          <a:bodyPr wrap="square" lIns="0" tIns="0" rIns="0" bIns="0" rtlCol="0" anchor="ctr"/>
          <a:lstStyle/>
          <a:p>
            <a:pPr algn="ctr" indent="0" marL="0">
              <a:buNone/>
            </a:pPr>
            <a:r>
              <a:rPr lang="en-US" sz="1400" b="1" dirty="0">
                <a:solidFill>
                  <a:srgbClr val="0D1B2A"/>
                </a:solidFill>
                <a:latin typeface="Trebuchet MS" pitchFamily="34" charset="0"/>
                <a:ea typeface="Trebuchet MS" pitchFamily="34" charset="-122"/>
                <a:cs typeface="Trebuchet MS" pitchFamily="34" charset="-120"/>
              </a:rPr>
              <a:t>10</a:t>
            </a:r>
            <a:endParaRPr lang="en-US" sz="1400" dirty="0"/>
          </a:p>
        </p:txBody>
      </p:sp>
      <p:sp>
        <p:nvSpPr>
          <p:cNvPr id="45" name="Text 43"/>
          <p:cNvSpPr/>
          <p:nvPr/>
        </p:nvSpPr>
        <p:spPr>
          <a:xfrm>
            <a:off x="5458968" y="3831336"/>
            <a:ext cx="3410712" cy="566928"/>
          </a:xfrm>
          <a:prstGeom prst="rect">
            <a:avLst/>
          </a:prstGeom>
          <a:noFill/>
          <a:ln/>
        </p:spPr>
        <p:txBody>
          <a:bodyPr wrap="square" lIns="50800" tIns="50800" rIns="50800" bIns="5080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Q &amp; 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1367942" cy="237744"/>
          </a:xfrm>
          <a:prstGeom prst="rect">
            <a:avLst/>
          </a:prstGeom>
          <a:solidFill>
            <a:srgbClr val="F4A723"/>
          </a:solidFill>
          <a:ln w="12700">
            <a:solidFill>
              <a:srgbClr val="F4A723"/>
            </a:solidFill>
            <a:prstDash val="solid"/>
          </a:ln>
          <a:effectLst>
            <a:outerShdw sx="100000" sy="100000" kx="0" ky="0" algn="bl" rotWithShape="0" blurRad="101600" dist="38100" dir="8100000">
              <a:srgbClr val="000000">
                <a:alpha val="18000"/>
              </a:srgbClr>
            </a:outerShdw>
          </a:effectLst>
        </p:spPr>
      </p:sp>
      <p:sp>
        <p:nvSpPr>
          <p:cNvPr id="3" name="Text 1"/>
          <p:cNvSpPr/>
          <p:nvPr/>
        </p:nvSpPr>
        <p:spPr>
          <a:xfrm>
            <a:off x="457200" y="256032"/>
            <a:ext cx="1367942" cy="237744"/>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01 — OVERVIEW</a:t>
            </a:r>
            <a:endParaRPr lang="en-US" sz="900" dirty="0"/>
          </a:p>
        </p:txBody>
      </p:sp>
      <p:sp>
        <p:nvSpPr>
          <p:cNvPr id="4" name="Shape 2"/>
          <p:cNvSpPr/>
          <p:nvPr/>
        </p:nvSpPr>
        <p:spPr>
          <a:xfrm>
            <a:off x="457200" y="621792"/>
            <a:ext cx="50292" cy="475488"/>
          </a:xfrm>
          <a:prstGeom prst="rect">
            <a:avLst/>
          </a:prstGeom>
          <a:solidFill>
            <a:srgbClr val="F4A723"/>
          </a:solidFill>
          <a:ln w="12700">
            <a:solidFill>
              <a:srgbClr val="F4A723"/>
            </a:solidFill>
            <a:prstDash val="solid"/>
          </a:ln>
        </p:spPr>
      </p:sp>
      <p:sp>
        <p:nvSpPr>
          <p:cNvPr id="5" name="Text 3"/>
          <p:cNvSpPr/>
          <p:nvPr/>
        </p:nvSpPr>
        <p:spPr>
          <a:xfrm>
            <a:off x="621792" y="621792"/>
            <a:ext cx="822960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Trebuchet MS" pitchFamily="34" charset="0"/>
                <a:ea typeface="Trebuchet MS" pitchFamily="34" charset="-122"/>
                <a:cs typeface="Trebuchet MS" pitchFamily="34" charset="-120"/>
              </a:rPr>
              <a:t>Project Overview &amp; Objectives</a:t>
            </a:r>
            <a:endParaRPr lang="en-US" sz="2800" dirty="0"/>
          </a:p>
        </p:txBody>
      </p:sp>
      <p:sp>
        <p:nvSpPr>
          <p:cNvPr id="6" name="Shape 4"/>
          <p:cNvSpPr/>
          <p:nvPr/>
        </p:nvSpPr>
        <p:spPr>
          <a:xfrm>
            <a:off x="365760" y="1261872"/>
            <a:ext cx="2651760" cy="338328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65760" y="1261872"/>
            <a:ext cx="2651760" cy="64008"/>
          </a:xfrm>
          <a:prstGeom prst="rect">
            <a:avLst/>
          </a:prstGeom>
          <a:solidFill>
            <a:srgbClr val="F4A723"/>
          </a:solidFill>
          <a:ln w="12700">
            <a:solidFill>
              <a:srgbClr val="F4A723"/>
            </a:solidFill>
            <a:prstDash val="solid"/>
          </a:ln>
        </p:spPr>
      </p:sp>
      <p:sp>
        <p:nvSpPr>
          <p:cNvPr id="8" name="Text 6"/>
          <p:cNvSpPr/>
          <p:nvPr/>
        </p:nvSpPr>
        <p:spPr>
          <a:xfrm>
            <a:off x="365760" y="1399032"/>
            <a:ext cx="265176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9" name="Text 7"/>
          <p:cNvSpPr/>
          <p:nvPr/>
        </p:nvSpPr>
        <p:spPr>
          <a:xfrm>
            <a:off x="365760" y="1956816"/>
            <a:ext cx="2651760" cy="347472"/>
          </a:xfrm>
          <a:prstGeom prst="rect">
            <a:avLst/>
          </a:prstGeom>
          <a:noFill/>
          <a:ln/>
        </p:spPr>
        <p:txBody>
          <a:bodyPr wrap="square" lIns="0" tIns="0" rIns="0" bIns="0" rtlCol="0" anchor="ctr"/>
          <a:lstStyle/>
          <a:p>
            <a:pPr algn="ctr" indent="0" marL="0">
              <a:buNone/>
            </a:pPr>
            <a:r>
              <a:rPr lang="en-US" sz="1400" b="1" dirty="0">
                <a:solidFill>
                  <a:srgbClr val="F4A723"/>
                </a:solidFill>
                <a:latin typeface="Trebuchet MS" pitchFamily="34" charset="0"/>
                <a:ea typeface="Trebuchet MS" pitchFamily="34" charset="-122"/>
                <a:cs typeface="Trebuchet MS" pitchFamily="34" charset="-120"/>
              </a:rPr>
              <a:t>Data Pipeline</a:t>
            </a:r>
            <a:endParaRPr lang="en-US" sz="1400" dirty="0"/>
          </a:p>
        </p:txBody>
      </p:sp>
      <p:sp>
        <p:nvSpPr>
          <p:cNvPr id="10" name="Shape 8"/>
          <p:cNvSpPr/>
          <p:nvPr/>
        </p:nvSpPr>
        <p:spPr>
          <a:xfrm>
            <a:off x="640080" y="2340864"/>
            <a:ext cx="2103120" cy="36576"/>
          </a:xfrm>
          <a:prstGeom prst="rect">
            <a:avLst/>
          </a:prstGeom>
          <a:solidFill>
            <a:srgbClr val="1A2E45"/>
          </a:solidFill>
          <a:ln w="6350">
            <a:solidFill>
              <a:srgbClr val="2A4A6A"/>
            </a:solidFill>
            <a:prstDash val="solid"/>
          </a:ln>
        </p:spPr>
      </p:sp>
      <p:sp>
        <p:nvSpPr>
          <p:cNvPr id="11" name="Text 9"/>
          <p:cNvSpPr/>
          <p:nvPr/>
        </p:nvSpPr>
        <p:spPr>
          <a:xfrm>
            <a:off x="548640" y="2450592"/>
            <a:ext cx="2331720" cy="2011680"/>
          </a:xfrm>
          <a:prstGeom prst="rect">
            <a:avLst/>
          </a:prstGeom>
          <a:noFill/>
          <a:ln/>
        </p:spPr>
        <p:txBody>
          <a:bodyPr wrap="square" lIns="0" tIns="0" rIns="0" bIns="0" rtlCol="0" anchor="t"/>
          <a:lstStyle/>
          <a:p>
            <a:pPr algn="l" marL="342900" indent="-342900">
              <a:spcAft>
                <a:spcPts val="600"/>
              </a:spcAft>
              <a:buSzPct val="100000"/>
              <a:buChar char="•"/>
            </a:pPr>
            <a:r>
              <a:rPr lang="en-US" sz="1200" dirty="0">
                <a:solidFill>
                  <a:srgbClr val="C8E0F4"/>
                </a:solidFill>
                <a:latin typeface="Calibri" pitchFamily="34" charset="0"/>
                <a:ea typeface="Calibri" pitchFamily="34" charset="-122"/>
                <a:cs typeface="Calibri" pitchFamily="34" charset="-120"/>
              </a:rPr>
              <a:t>Bronze → Silver → Gold medallion</a:t>
            </a:r>
            <a:endParaRPr lang="en-US" sz="1200" dirty="0"/>
          </a:p>
          <a:p>
            <a:pPr algn="l" marL="342900" indent="-342900">
              <a:spcAft>
                <a:spcPts val="600"/>
              </a:spcAft>
              <a:buSzPct val="100000"/>
              <a:buChar char="•"/>
            </a:pPr>
            <a:r>
              <a:rPr lang="en-US" sz="1200" dirty="0">
                <a:solidFill>
                  <a:srgbClr val="C8E0F4"/>
                </a:solidFill>
                <a:latin typeface="Calibri" pitchFamily="34" charset="0"/>
                <a:ea typeface="Calibri" pitchFamily="34" charset="-122"/>
                <a:cs typeface="Calibri" pitchFamily="34" charset="-120"/>
              </a:rPr>
              <a:t>Delta Lake tables in OneLake</a:t>
            </a:r>
            <a:endParaRPr lang="en-US" sz="1200" dirty="0"/>
          </a:p>
          <a:p>
            <a:pPr algn="l" marL="342900" indent="-342900">
              <a:spcAft>
                <a:spcPts val="600"/>
              </a:spcAft>
              <a:buSzPct val="100000"/>
              <a:buChar char="•"/>
            </a:pPr>
            <a:r>
              <a:rPr lang="en-US" sz="1200" dirty="0">
                <a:solidFill>
                  <a:srgbClr val="C8E0F4"/>
                </a:solidFill>
                <a:latin typeface="Calibri" pitchFamily="34" charset="0"/>
                <a:ea typeface="Calibri" pitchFamily="34" charset="-122"/>
                <a:cs typeface="Calibri" pitchFamily="34" charset="-120"/>
              </a:rPr>
              <a:t>PySpark: RL_Notebook_Fixed</a:t>
            </a:r>
            <a:endParaRPr lang="en-US" sz="1200" dirty="0"/>
          </a:p>
        </p:txBody>
      </p:sp>
      <p:sp>
        <p:nvSpPr>
          <p:cNvPr id="12" name="Shape 10"/>
          <p:cNvSpPr/>
          <p:nvPr/>
        </p:nvSpPr>
        <p:spPr>
          <a:xfrm>
            <a:off x="3200400" y="1261872"/>
            <a:ext cx="2651760" cy="338328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3200400" y="1261872"/>
            <a:ext cx="2651760" cy="64008"/>
          </a:xfrm>
          <a:prstGeom prst="rect">
            <a:avLst/>
          </a:prstGeom>
          <a:solidFill>
            <a:srgbClr val="F4A723"/>
          </a:solidFill>
          <a:ln w="12700">
            <a:solidFill>
              <a:srgbClr val="F4A723"/>
            </a:solidFill>
            <a:prstDash val="solid"/>
          </a:ln>
        </p:spPr>
      </p:sp>
      <p:sp>
        <p:nvSpPr>
          <p:cNvPr id="14" name="Text 12"/>
          <p:cNvSpPr/>
          <p:nvPr/>
        </p:nvSpPr>
        <p:spPr>
          <a:xfrm>
            <a:off x="3200400" y="1399032"/>
            <a:ext cx="265176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5" name="Text 13"/>
          <p:cNvSpPr/>
          <p:nvPr/>
        </p:nvSpPr>
        <p:spPr>
          <a:xfrm>
            <a:off x="3200400" y="1956816"/>
            <a:ext cx="2651760" cy="347472"/>
          </a:xfrm>
          <a:prstGeom prst="rect">
            <a:avLst/>
          </a:prstGeom>
          <a:noFill/>
          <a:ln/>
        </p:spPr>
        <p:txBody>
          <a:bodyPr wrap="square" lIns="0" tIns="0" rIns="0" bIns="0" rtlCol="0" anchor="ctr"/>
          <a:lstStyle/>
          <a:p>
            <a:pPr algn="ctr" indent="0" marL="0">
              <a:buNone/>
            </a:pPr>
            <a:r>
              <a:rPr lang="en-US" sz="1400" b="1" dirty="0">
                <a:solidFill>
                  <a:srgbClr val="F4A723"/>
                </a:solidFill>
                <a:latin typeface="Trebuchet MS" pitchFamily="34" charset="0"/>
                <a:ea typeface="Trebuchet MS" pitchFamily="34" charset="-122"/>
                <a:cs typeface="Trebuchet MS" pitchFamily="34" charset="-120"/>
              </a:rPr>
              <a:t>Analytics</a:t>
            </a:r>
            <a:endParaRPr lang="en-US" sz="1400" dirty="0"/>
          </a:p>
        </p:txBody>
      </p:sp>
      <p:sp>
        <p:nvSpPr>
          <p:cNvPr id="16" name="Shape 14"/>
          <p:cNvSpPr/>
          <p:nvPr/>
        </p:nvSpPr>
        <p:spPr>
          <a:xfrm>
            <a:off x="3474720" y="2340864"/>
            <a:ext cx="2103120" cy="36576"/>
          </a:xfrm>
          <a:prstGeom prst="rect">
            <a:avLst/>
          </a:prstGeom>
          <a:solidFill>
            <a:srgbClr val="1A2E45"/>
          </a:solidFill>
          <a:ln w="6350">
            <a:solidFill>
              <a:srgbClr val="2A4A6A"/>
            </a:solidFill>
            <a:prstDash val="solid"/>
          </a:ln>
        </p:spPr>
      </p:sp>
      <p:sp>
        <p:nvSpPr>
          <p:cNvPr id="17" name="Text 15"/>
          <p:cNvSpPr/>
          <p:nvPr/>
        </p:nvSpPr>
        <p:spPr>
          <a:xfrm>
            <a:off x="3383280" y="2450592"/>
            <a:ext cx="2331720" cy="2011680"/>
          </a:xfrm>
          <a:prstGeom prst="rect">
            <a:avLst/>
          </a:prstGeom>
          <a:noFill/>
          <a:ln/>
        </p:spPr>
        <p:txBody>
          <a:bodyPr wrap="square" lIns="0" tIns="0" rIns="0" bIns="0" rtlCol="0" anchor="t"/>
          <a:lstStyle/>
          <a:p>
            <a:pPr algn="l" marL="342900" indent="-342900">
              <a:spcAft>
                <a:spcPts val="600"/>
              </a:spcAft>
              <a:buSzPct val="100000"/>
              <a:buChar char="•"/>
            </a:pPr>
            <a:r>
              <a:rPr lang="en-US" sz="1200" dirty="0">
                <a:solidFill>
                  <a:srgbClr val="C8E0F4"/>
                </a:solidFill>
                <a:latin typeface="Calibri" pitchFamily="34" charset="0"/>
                <a:ea typeface="Calibri" pitchFamily="34" charset="-122"/>
                <a:cs typeface="Calibri" pitchFamily="34" charset="-120"/>
              </a:rPr>
              <a:t>EDA with PySpark &amp; Matplotlib</a:t>
            </a:r>
            <a:endParaRPr lang="en-US" sz="1200" dirty="0"/>
          </a:p>
          <a:p>
            <a:pPr algn="l" marL="342900" indent="-342900">
              <a:spcAft>
                <a:spcPts val="600"/>
              </a:spcAft>
              <a:buSzPct val="100000"/>
              <a:buChar char="•"/>
            </a:pPr>
            <a:r>
              <a:rPr lang="en-US" sz="1200" dirty="0">
                <a:solidFill>
                  <a:srgbClr val="C8E0F4"/>
                </a:solidFill>
                <a:latin typeface="Calibri" pitchFamily="34" charset="0"/>
                <a:ea typeface="Calibri" pitchFamily="34" charset="-122"/>
                <a:cs typeface="Calibri" pitchFamily="34" charset="-120"/>
              </a:rPr>
              <a:t>Star schema: 3 dims, 3 facts</a:t>
            </a:r>
            <a:endParaRPr lang="en-US" sz="1200" dirty="0"/>
          </a:p>
          <a:p>
            <a:pPr algn="l" marL="342900" indent="-342900">
              <a:spcAft>
                <a:spcPts val="600"/>
              </a:spcAft>
              <a:buSzPct val="100000"/>
              <a:buChar char="•"/>
            </a:pPr>
            <a:r>
              <a:rPr lang="en-US" sz="1200" dirty="0">
                <a:solidFill>
                  <a:srgbClr val="C8E0F4"/>
                </a:solidFill>
                <a:latin typeface="Calibri" pitchFamily="34" charset="0"/>
                <a:ea typeface="Calibri" pitchFamily="34" charset="-122"/>
                <a:cs typeface="Calibri" pitchFamily="34" charset="-120"/>
              </a:rPr>
              <a:t>Power BI DirectLake mode</a:t>
            </a:r>
            <a:endParaRPr lang="en-US" sz="1200" dirty="0"/>
          </a:p>
        </p:txBody>
      </p:sp>
      <p:sp>
        <p:nvSpPr>
          <p:cNvPr id="18" name="Shape 16"/>
          <p:cNvSpPr/>
          <p:nvPr/>
        </p:nvSpPr>
        <p:spPr>
          <a:xfrm>
            <a:off x="6035040" y="1261872"/>
            <a:ext cx="2651760" cy="338328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6035040" y="1261872"/>
            <a:ext cx="2651760" cy="64008"/>
          </a:xfrm>
          <a:prstGeom prst="rect">
            <a:avLst/>
          </a:prstGeom>
          <a:solidFill>
            <a:srgbClr val="F4A723"/>
          </a:solidFill>
          <a:ln w="12700">
            <a:solidFill>
              <a:srgbClr val="F4A723"/>
            </a:solidFill>
            <a:prstDash val="solid"/>
          </a:ln>
        </p:spPr>
      </p:sp>
      <p:sp>
        <p:nvSpPr>
          <p:cNvPr id="20" name="Text 18"/>
          <p:cNvSpPr/>
          <p:nvPr/>
        </p:nvSpPr>
        <p:spPr>
          <a:xfrm>
            <a:off x="6035040" y="1399032"/>
            <a:ext cx="265176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1" name="Text 19"/>
          <p:cNvSpPr/>
          <p:nvPr/>
        </p:nvSpPr>
        <p:spPr>
          <a:xfrm>
            <a:off x="6035040" y="1956816"/>
            <a:ext cx="2651760" cy="347472"/>
          </a:xfrm>
          <a:prstGeom prst="rect">
            <a:avLst/>
          </a:prstGeom>
          <a:noFill/>
          <a:ln/>
        </p:spPr>
        <p:txBody>
          <a:bodyPr wrap="square" lIns="0" tIns="0" rIns="0" bIns="0" rtlCol="0" anchor="ctr"/>
          <a:lstStyle/>
          <a:p>
            <a:pPr algn="ctr" indent="0" marL="0">
              <a:buNone/>
            </a:pPr>
            <a:r>
              <a:rPr lang="en-US" sz="1400" b="1" dirty="0">
                <a:solidFill>
                  <a:srgbClr val="F4A723"/>
                </a:solidFill>
                <a:latin typeface="Trebuchet MS" pitchFamily="34" charset="0"/>
                <a:ea typeface="Trebuchet MS" pitchFamily="34" charset="-122"/>
                <a:cs typeface="Trebuchet MS" pitchFamily="34" charset="-120"/>
              </a:rPr>
              <a:t>Business Value</a:t>
            </a:r>
            <a:endParaRPr lang="en-US" sz="1400" dirty="0"/>
          </a:p>
        </p:txBody>
      </p:sp>
      <p:sp>
        <p:nvSpPr>
          <p:cNvPr id="22" name="Shape 20"/>
          <p:cNvSpPr/>
          <p:nvPr/>
        </p:nvSpPr>
        <p:spPr>
          <a:xfrm>
            <a:off x="6309360" y="2340864"/>
            <a:ext cx="2103120" cy="36576"/>
          </a:xfrm>
          <a:prstGeom prst="rect">
            <a:avLst/>
          </a:prstGeom>
          <a:solidFill>
            <a:srgbClr val="1A2E45"/>
          </a:solidFill>
          <a:ln w="6350">
            <a:solidFill>
              <a:srgbClr val="2A4A6A"/>
            </a:solidFill>
            <a:prstDash val="solid"/>
          </a:ln>
        </p:spPr>
      </p:sp>
      <p:sp>
        <p:nvSpPr>
          <p:cNvPr id="23" name="Text 21"/>
          <p:cNvSpPr/>
          <p:nvPr/>
        </p:nvSpPr>
        <p:spPr>
          <a:xfrm>
            <a:off x="6217920" y="2450592"/>
            <a:ext cx="2331720" cy="2011680"/>
          </a:xfrm>
          <a:prstGeom prst="rect">
            <a:avLst/>
          </a:prstGeom>
          <a:noFill/>
          <a:ln/>
        </p:spPr>
        <p:txBody>
          <a:bodyPr wrap="square" lIns="0" tIns="0" rIns="0" bIns="0" rtlCol="0" anchor="t"/>
          <a:lstStyle/>
          <a:p>
            <a:pPr algn="l" marL="342900" indent="-342900">
              <a:spcAft>
                <a:spcPts val="600"/>
              </a:spcAft>
              <a:buSzPct val="100000"/>
              <a:buChar char="•"/>
            </a:pPr>
            <a:r>
              <a:rPr lang="en-US" sz="1200" dirty="0">
                <a:solidFill>
                  <a:srgbClr val="C8E0F4"/>
                </a:solidFill>
                <a:latin typeface="Calibri" pitchFamily="34" charset="0"/>
                <a:ea typeface="Calibri" pitchFamily="34" charset="-122"/>
                <a:cs typeface="Calibri" pitchFamily="34" charset="-120"/>
              </a:rPr>
              <a:t>Team strategy insights</a:t>
            </a:r>
            <a:endParaRPr lang="en-US" sz="1200" dirty="0"/>
          </a:p>
          <a:p>
            <a:pPr algn="l" marL="342900" indent="-342900">
              <a:spcAft>
                <a:spcPts val="600"/>
              </a:spcAft>
              <a:buSzPct val="100000"/>
              <a:buChar char="•"/>
            </a:pPr>
            <a:r>
              <a:rPr lang="en-US" sz="1200" dirty="0">
                <a:solidFill>
                  <a:srgbClr val="C8E0F4"/>
                </a:solidFill>
                <a:latin typeface="Calibri" pitchFamily="34" charset="0"/>
                <a:ea typeface="Calibri" pitchFamily="34" charset="-122"/>
                <a:cs typeface="Calibri" pitchFamily="34" charset="-120"/>
              </a:rPr>
              <a:t>Player performance benchmarking</a:t>
            </a:r>
            <a:endParaRPr lang="en-US" sz="1200" dirty="0"/>
          </a:p>
          <a:p>
            <a:pPr algn="l" marL="342900" indent="-342900">
              <a:spcAft>
                <a:spcPts val="600"/>
              </a:spcAft>
              <a:buSzPct val="100000"/>
              <a:buChar char="•"/>
            </a:pPr>
            <a:r>
              <a:rPr lang="en-US" sz="1200" dirty="0">
                <a:solidFill>
                  <a:srgbClr val="C8E0F4"/>
                </a:solidFill>
                <a:latin typeface="Calibri" pitchFamily="34" charset="0"/>
                <a:ea typeface="Calibri" pitchFamily="34" charset="-122"/>
                <a:cs typeface="Calibri" pitchFamily="34" charset="-120"/>
              </a:rPr>
              <a:t>Home ice advantage analysis</a:t>
            </a:r>
            <a:endParaRPr lang="en-US" sz="1200" dirty="0"/>
          </a:p>
        </p:txBody>
      </p:sp>
      <p:sp>
        <p:nvSpPr>
          <p:cNvPr id="24" name="Shape 22"/>
          <p:cNvSpPr/>
          <p:nvPr/>
        </p:nvSpPr>
        <p:spPr>
          <a:xfrm>
            <a:off x="365760" y="4754880"/>
            <a:ext cx="8412480" cy="320040"/>
          </a:xfrm>
          <a:prstGeom prst="rect">
            <a:avLst/>
          </a:prstGeom>
          <a:solidFill>
            <a:srgbClr val="1A2E45"/>
          </a:solidFill>
          <a:ln w="6350">
            <a:solidFill>
              <a:srgbClr val="1E3D5A"/>
            </a:solidFill>
            <a:prstDash val="solid"/>
          </a:ln>
        </p:spPr>
      </p:sp>
      <p:sp>
        <p:nvSpPr>
          <p:cNvPr id="25" name="Text 23"/>
          <p:cNvSpPr/>
          <p:nvPr/>
        </p:nvSpPr>
        <p:spPr>
          <a:xfrm>
            <a:off x="365760" y="4754880"/>
            <a:ext cx="8412480" cy="320040"/>
          </a:xfrm>
          <a:prstGeom prst="rect">
            <a:avLst/>
          </a:prstGeom>
          <a:noFill/>
          <a:ln/>
        </p:spPr>
        <p:txBody>
          <a:bodyPr wrap="square" lIns="0" tIns="0" rIns="0" bIns="0" rtlCol="0" anchor="ctr"/>
          <a:lstStyle/>
          <a:p>
            <a:pPr algn="ctr" indent="0" marL="0">
              <a:buNone/>
            </a:pPr>
            <a:r>
              <a:rPr lang="en-US" sz="1200" b="1" i="1" dirty="0">
                <a:solidFill>
                  <a:srgbClr val="F4A723"/>
                </a:solidFill>
                <a:latin typeface="Calibri" pitchFamily="34" charset="0"/>
                <a:ea typeface="Calibri" pitchFamily="34" charset="-122"/>
                <a:cs typeface="Calibri" pitchFamily="34" charset="-120"/>
              </a:rPr>
              <a:t>One notebook. One Lakehouse. One dashboard. End-to-end on Microsoft Fabric.</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1283818" cy="237744"/>
          </a:xfrm>
          <a:prstGeom prst="rect">
            <a:avLst/>
          </a:prstGeom>
          <a:solidFill>
            <a:srgbClr val="F4A723"/>
          </a:solidFill>
          <a:ln w="12700">
            <a:solidFill>
              <a:srgbClr val="F4A723"/>
            </a:solidFill>
            <a:prstDash val="solid"/>
          </a:ln>
          <a:effectLst>
            <a:outerShdw sx="100000" sy="100000" kx="0" ky="0" algn="bl" rotWithShape="0" blurRad="101600" dist="38100" dir="8100000">
              <a:srgbClr val="000000">
                <a:alpha val="18000"/>
              </a:srgbClr>
            </a:outerShdw>
          </a:effectLst>
        </p:spPr>
      </p:sp>
      <p:sp>
        <p:nvSpPr>
          <p:cNvPr id="3" name="Text 1"/>
          <p:cNvSpPr/>
          <p:nvPr/>
        </p:nvSpPr>
        <p:spPr>
          <a:xfrm>
            <a:off x="457200" y="256032"/>
            <a:ext cx="1283818" cy="237744"/>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02 — DATASET</a:t>
            </a:r>
            <a:endParaRPr lang="en-US" sz="900" dirty="0"/>
          </a:p>
        </p:txBody>
      </p:sp>
      <p:sp>
        <p:nvSpPr>
          <p:cNvPr id="4" name="Shape 2"/>
          <p:cNvSpPr/>
          <p:nvPr/>
        </p:nvSpPr>
        <p:spPr>
          <a:xfrm>
            <a:off x="457200" y="621792"/>
            <a:ext cx="50292" cy="475488"/>
          </a:xfrm>
          <a:prstGeom prst="rect">
            <a:avLst/>
          </a:prstGeom>
          <a:solidFill>
            <a:srgbClr val="F4A723"/>
          </a:solidFill>
          <a:ln w="12700">
            <a:solidFill>
              <a:srgbClr val="F4A723"/>
            </a:solidFill>
            <a:prstDash val="solid"/>
          </a:ln>
        </p:spPr>
      </p:sp>
      <p:sp>
        <p:nvSpPr>
          <p:cNvPr id="5" name="Text 3"/>
          <p:cNvSpPr/>
          <p:nvPr/>
        </p:nvSpPr>
        <p:spPr>
          <a:xfrm>
            <a:off x="621792" y="621792"/>
            <a:ext cx="822960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Trebuchet MS" pitchFamily="34" charset="0"/>
                <a:ea typeface="Trebuchet MS" pitchFamily="34" charset="-122"/>
                <a:cs typeface="Trebuchet MS" pitchFamily="34" charset="-120"/>
              </a:rPr>
              <a:t>Dataset &amp; Architecture</a:t>
            </a:r>
            <a:endParaRPr lang="en-US" sz="2800" dirty="0"/>
          </a:p>
        </p:txBody>
      </p:sp>
      <p:sp>
        <p:nvSpPr>
          <p:cNvPr id="6" name="Shape 4"/>
          <p:cNvSpPr/>
          <p:nvPr/>
        </p:nvSpPr>
        <p:spPr>
          <a:xfrm>
            <a:off x="256032" y="1234440"/>
            <a:ext cx="1691640" cy="91440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7" name="Text 5"/>
          <p:cNvSpPr/>
          <p:nvPr/>
        </p:nvSpPr>
        <p:spPr>
          <a:xfrm>
            <a:off x="256032" y="1271016"/>
            <a:ext cx="1691640" cy="502920"/>
          </a:xfrm>
          <a:prstGeom prst="rect">
            <a:avLst/>
          </a:prstGeom>
          <a:noFill/>
          <a:ln/>
        </p:spPr>
        <p:txBody>
          <a:bodyPr wrap="square" lIns="0" tIns="0" rIns="0" bIns="0" rtlCol="0" anchor="ctr"/>
          <a:lstStyle/>
          <a:p>
            <a:pPr algn="ctr" indent="0" marL="0">
              <a:buNone/>
            </a:pPr>
            <a:r>
              <a:rPr lang="en-US" sz="2800" b="1" dirty="0">
                <a:solidFill>
                  <a:srgbClr val="F4A723"/>
                </a:solidFill>
                <a:latin typeface="Trebuchet MS" pitchFamily="34" charset="0"/>
                <a:ea typeface="Trebuchet MS" pitchFamily="34" charset="-122"/>
                <a:cs typeface="Trebuchet MS" pitchFamily="34" charset="-120"/>
              </a:rPr>
              <a:t>Kaggle</a:t>
            </a:r>
            <a:endParaRPr lang="en-US" sz="2800" dirty="0"/>
          </a:p>
        </p:txBody>
      </p:sp>
      <p:sp>
        <p:nvSpPr>
          <p:cNvPr id="8" name="Text 6"/>
          <p:cNvSpPr/>
          <p:nvPr/>
        </p:nvSpPr>
        <p:spPr>
          <a:xfrm>
            <a:off x="256032" y="1783080"/>
            <a:ext cx="1691640" cy="292608"/>
          </a:xfrm>
          <a:prstGeom prst="rect">
            <a:avLst/>
          </a:prstGeom>
          <a:noFill/>
          <a:ln/>
        </p:spPr>
        <p:txBody>
          <a:bodyPr wrap="square" lIns="0" tIns="0" rIns="0" bIns="0" rtlCol="0" anchor="ctr"/>
          <a:lstStyle/>
          <a:p>
            <a:pPr algn="ctr" indent="0" marL="0">
              <a:buNone/>
            </a:pPr>
            <a:r>
              <a:rPr lang="en-US" sz="1000" dirty="0">
                <a:solidFill>
                  <a:srgbClr val="C8E0F4"/>
                </a:solidFill>
                <a:latin typeface="Calibri" pitchFamily="34" charset="0"/>
                <a:ea typeface="Calibri" pitchFamily="34" charset="-122"/>
                <a:cs typeface="Calibri" pitchFamily="34" charset="-120"/>
              </a:rPr>
              <a:t>Data Source</a:t>
            </a:r>
            <a:endParaRPr lang="en-US" sz="1000" dirty="0"/>
          </a:p>
        </p:txBody>
      </p:sp>
      <p:sp>
        <p:nvSpPr>
          <p:cNvPr id="9" name="Shape 7"/>
          <p:cNvSpPr/>
          <p:nvPr/>
        </p:nvSpPr>
        <p:spPr>
          <a:xfrm>
            <a:off x="1993392" y="1234440"/>
            <a:ext cx="1691640" cy="91440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0" name="Text 8"/>
          <p:cNvSpPr/>
          <p:nvPr/>
        </p:nvSpPr>
        <p:spPr>
          <a:xfrm>
            <a:off x="1993392" y="1271016"/>
            <a:ext cx="1691640" cy="502920"/>
          </a:xfrm>
          <a:prstGeom prst="rect">
            <a:avLst/>
          </a:prstGeom>
          <a:noFill/>
          <a:ln/>
        </p:spPr>
        <p:txBody>
          <a:bodyPr wrap="square" lIns="0" tIns="0" rIns="0" bIns="0" rtlCol="0" anchor="ctr"/>
          <a:lstStyle/>
          <a:p>
            <a:pPr algn="ctr" indent="0" marL="0">
              <a:buNone/>
            </a:pPr>
            <a:r>
              <a:rPr lang="en-US" sz="2800" b="1" dirty="0">
                <a:solidFill>
                  <a:srgbClr val="F4A723"/>
                </a:solidFill>
                <a:latin typeface="Trebuchet MS" pitchFamily="34" charset="0"/>
                <a:ea typeface="Trebuchet MS" pitchFamily="34" charset="-122"/>
                <a:cs typeface="Trebuchet MS" pitchFamily="34" charset="-120"/>
              </a:rPr>
              <a:t>~240 MB</a:t>
            </a:r>
            <a:endParaRPr lang="en-US" sz="2800" dirty="0"/>
          </a:p>
        </p:txBody>
      </p:sp>
      <p:sp>
        <p:nvSpPr>
          <p:cNvPr id="11" name="Text 9"/>
          <p:cNvSpPr/>
          <p:nvPr/>
        </p:nvSpPr>
        <p:spPr>
          <a:xfrm>
            <a:off x="1993392" y="1783080"/>
            <a:ext cx="1691640" cy="292608"/>
          </a:xfrm>
          <a:prstGeom prst="rect">
            <a:avLst/>
          </a:prstGeom>
          <a:noFill/>
          <a:ln/>
        </p:spPr>
        <p:txBody>
          <a:bodyPr wrap="square" lIns="0" tIns="0" rIns="0" bIns="0" rtlCol="0" anchor="ctr"/>
          <a:lstStyle/>
          <a:p>
            <a:pPr algn="ctr" indent="0" marL="0">
              <a:buNone/>
            </a:pPr>
            <a:r>
              <a:rPr lang="en-US" sz="1000" dirty="0">
                <a:solidFill>
                  <a:srgbClr val="C8E0F4"/>
                </a:solidFill>
                <a:latin typeface="Calibri" pitchFamily="34" charset="0"/>
                <a:ea typeface="Calibri" pitchFamily="34" charset="-122"/>
                <a:cs typeface="Calibri" pitchFamily="34" charset="-120"/>
              </a:rPr>
              <a:t>Raw Size</a:t>
            </a:r>
            <a:endParaRPr lang="en-US" sz="1000" dirty="0"/>
          </a:p>
        </p:txBody>
      </p:sp>
      <p:sp>
        <p:nvSpPr>
          <p:cNvPr id="12" name="Shape 10"/>
          <p:cNvSpPr/>
          <p:nvPr/>
        </p:nvSpPr>
        <p:spPr>
          <a:xfrm>
            <a:off x="3730752" y="1234440"/>
            <a:ext cx="1691640" cy="91440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3" name="Text 11"/>
          <p:cNvSpPr/>
          <p:nvPr/>
        </p:nvSpPr>
        <p:spPr>
          <a:xfrm>
            <a:off x="3730752" y="1271016"/>
            <a:ext cx="1691640" cy="502920"/>
          </a:xfrm>
          <a:prstGeom prst="rect">
            <a:avLst/>
          </a:prstGeom>
          <a:noFill/>
          <a:ln/>
        </p:spPr>
        <p:txBody>
          <a:bodyPr wrap="square" lIns="0" tIns="0" rIns="0" bIns="0" rtlCol="0" anchor="ctr"/>
          <a:lstStyle/>
          <a:p>
            <a:pPr algn="ctr" indent="0" marL="0">
              <a:buNone/>
            </a:pPr>
            <a:r>
              <a:rPr lang="en-US" sz="2800" b="1" dirty="0">
                <a:solidFill>
                  <a:srgbClr val="F4A723"/>
                </a:solidFill>
                <a:latin typeface="Trebuchet MS" pitchFamily="34" charset="0"/>
                <a:ea typeface="Trebuchet MS" pitchFamily="34" charset="-122"/>
                <a:cs typeface="Trebuchet MS" pitchFamily="34" charset="-120"/>
              </a:rPr>
              <a:t>9</a:t>
            </a:r>
            <a:endParaRPr lang="en-US" sz="2800" dirty="0"/>
          </a:p>
        </p:txBody>
      </p:sp>
      <p:sp>
        <p:nvSpPr>
          <p:cNvPr id="14" name="Text 12"/>
          <p:cNvSpPr/>
          <p:nvPr/>
        </p:nvSpPr>
        <p:spPr>
          <a:xfrm>
            <a:off x="3730752" y="1783080"/>
            <a:ext cx="1691640" cy="292608"/>
          </a:xfrm>
          <a:prstGeom prst="rect">
            <a:avLst/>
          </a:prstGeom>
          <a:noFill/>
          <a:ln/>
        </p:spPr>
        <p:txBody>
          <a:bodyPr wrap="square" lIns="0" tIns="0" rIns="0" bIns="0" rtlCol="0" anchor="ctr"/>
          <a:lstStyle/>
          <a:p>
            <a:pPr algn="ctr" indent="0" marL="0">
              <a:buNone/>
            </a:pPr>
            <a:r>
              <a:rPr lang="en-US" sz="1000" dirty="0">
                <a:solidFill>
                  <a:srgbClr val="C8E0F4"/>
                </a:solidFill>
                <a:latin typeface="Calibri" pitchFamily="34" charset="0"/>
                <a:ea typeface="Calibri" pitchFamily="34" charset="-122"/>
                <a:cs typeface="Calibri" pitchFamily="34" charset="-120"/>
              </a:rPr>
              <a:t>CSV Files</a:t>
            </a:r>
            <a:endParaRPr lang="en-US" sz="1000" dirty="0"/>
          </a:p>
        </p:txBody>
      </p:sp>
      <p:sp>
        <p:nvSpPr>
          <p:cNvPr id="15" name="Shape 13"/>
          <p:cNvSpPr/>
          <p:nvPr/>
        </p:nvSpPr>
        <p:spPr>
          <a:xfrm>
            <a:off x="5468112" y="1234440"/>
            <a:ext cx="1691640" cy="91440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6" name="Text 14"/>
          <p:cNvSpPr/>
          <p:nvPr/>
        </p:nvSpPr>
        <p:spPr>
          <a:xfrm>
            <a:off x="5468112" y="1271016"/>
            <a:ext cx="1691640" cy="502920"/>
          </a:xfrm>
          <a:prstGeom prst="rect">
            <a:avLst/>
          </a:prstGeom>
          <a:noFill/>
          <a:ln/>
        </p:spPr>
        <p:txBody>
          <a:bodyPr wrap="square" lIns="0" tIns="0" rIns="0" bIns="0" rtlCol="0" anchor="ctr"/>
          <a:lstStyle/>
          <a:p>
            <a:pPr algn="ctr" indent="0" marL="0">
              <a:buNone/>
            </a:pPr>
            <a:r>
              <a:rPr lang="en-US" sz="2800" b="1" dirty="0">
                <a:solidFill>
                  <a:srgbClr val="F4A723"/>
                </a:solidFill>
                <a:latin typeface="Trebuchet MS" pitchFamily="34" charset="0"/>
                <a:ea typeface="Trebuchet MS" pitchFamily="34" charset="-122"/>
                <a:cs typeface="Trebuchet MS" pitchFamily="34" charset="-120"/>
              </a:rPr>
              <a:t>6</a:t>
            </a:r>
            <a:endParaRPr lang="en-US" sz="2800" dirty="0"/>
          </a:p>
        </p:txBody>
      </p:sp>
      <p:sp>
        <p:nvSpPr>
          <p:cNvPr id="17" name="Text 15"/>
          <p:cNvSpPr/>
          <p:nvPr/>
        </p:nvSpPr>
        <p:spPr>
          <a:xfrm>
            <a:off x="5468112" y="1783080"/>
            <a:ext cx="1691640" cy="292608"/>
          </a:xfrm>
          <a:prstGeom prst="rect">
            <a:avLst/>
          </a:prstGeom>
          <a:noFill/>
          <a:ln/>
        </p:spPr>
        <p:txBody>
          <a:bodyPr wrap="square" lIns="0" tIns="0" rIns="0" bIns="0" rtlCol="0" anchor="ctr"/>
          <a:lstStyle/>
          <a:p>
            <a:pPr algn="ctr" indent="0" marL="0">
              <a:buNone/>
            </a:pPr>
            <a:r>
              <a:rPr lang="en-US" sz="1000" dirty="0">
                <a:solidFill>
                  <a:srgbClr val="C8E0F4"/>
                </a:solidFill>
                <a:latin typeface="Calibri" pitchFamily="34" charset="0"/>
                <a:ea typeface="Calibri" pitchFamily="34" charset="-122"/>
                <a:cs typeface="Calibri" pitchFamily="34" charset="-120"/>
              </a:rPr>
              <a:t>NHL Seasons</a:t>
            </a:r>
            <a:endParaRPr lang="en-US" sz="1000" dirty="0"/>
          </a:p>
        </p:txBody>
      </p:sp>
      <p:sp>
        <p:nvSpPr>
          <p:cNvPr id="18" name="Shape 16"/>
          <p:cNvSpPr/>
          <p:nvPr/>
        </p:nvSpPr>
        <p:spPr>
          <a:xfrm>
            <a:off x="7205472" y="1234440"/>
            <a:ext cx="1691640" cy="91440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9" name="Text 17"/>
          <p:cNvSpPr/>
          <p:nvPr/>
        </p:nvSpPr>
        <p:spPr>
          <a:xfrm>
            <a:off x="7205472" y="1271016"/>
            <a:ext cx="1691640" cy="502920"/>
          </a:xfrm>
          <a:prstGeom prst="rect">
            <a:avLst/>
          </a:prstGeom>
          <a:noFill/>
          <a:ln/>
        </p:spPr>
        <p:txBody>
          <a:bodyPr wrap="square" lIns="0" tIns="0" rIns="0" bIns="0" rtlCol="0" anchor="ctr"/>
          <a:lstStyle/>
          <a:p>
            <a:pPr algn="ctr" indent="0" marL="0">
              <a:buNone/>
            </a:pPr>
            <a:r>
              <a:rPr lang="en-US" sz="2800" b="1" dirty="0">
                <a:solidFill>
                  <a:srgbClr val="F4A723"/>
                </a:solidFill>
                <a:latin typeface="Trebuchet MS" pitchFamily="34" charset="0"/>
                <a:ea typeface="Trebuchet MS" pitchFamily="34" charset="-122"/>
                <a:cs typeface="Trebuchet MS" pitchFamily="34" charset="-120"/>
              </a:rPr>
              <a:t>~4M+</a:t>
            </a:r>
            <a:endParaRPr lang="en-US" sz="2800" dirty="0"/>
          </a:p>
        </p:txBody>
      </p:sp>
      <p:sp>
        <p:nvSpPr>
          <p:cNvPr id="20" name="Text 18"/>
          <p:cNvSpPr/>
          <p:nvPr/>
        </p:nvSpPr>
        <p:spPr>
          <a:xfrm>
            <a:off x="7205472" y="1783080"/>
            <a:ext cx="1691640" cy="292608"/>
          </a:xfrm>
          <a:prstGeom prst="rect">
            <a:avLst/>
          </a:prstGeom>
          <a:noFill/>
          <a:ln/>
        </p:spPr>
        <p:txBody>
          <a:bodyPr wrap="square" lIns="0" tIns="0" rIns="0" bIns="0" rtlCol="0" anchor="ctr"/>
          <a:lstStyle/>
          <a:p>
            <a:pPr algn="ctr" indent="0" marL="0">
              <a:buNone/>
            </a:pPr>
            <a:r>
              <a:rPr lang="en-US" sz="1000" dirty="0">
                <a:solidFill>
                  <a:srgbClr val="C8E0F4"/>
                </a:solidFill>
                <a:latin typeface="Calibri" pitchFamily="34" charset="0"/>
                <a:ea typeface="Calibri" pitchFamily="34" charset="-122"/>
                <a:cs typeface="Calibri" pitchFamily="34" charset="-120"/>
              </a:rPr>
              <a:t>Play Events</a:t>
            </a:r>
            <a:endParaRPr lang="en-US" sz="1000" dirty="0"/>
          </a:p>
        </p:txBody>
      </p:sp>
      <p:sp>
        <p:nvSpPr>
          <p:cNvPr id="21" name="Text 19"/>
          <p:cNvSpPr/>
          <p:nvPr/>
        </p:nvSpPr>
        <p:spPr>
          <a:xfrm>
            <a:off x="457200" y="2331720"/>
            <a:ext cx="8229600" cy="274320"/>
          </a:xfrm>
          <a:prstGeom prst="rect">
            <a:avLst/>
          </a:prstGeom>
          <a:noFill/>
          <a:ln/>
        </p:spPr>
        <p:txBody>
          <a:bodyPr wrap="square" lIns="0" tIns="0" rIns="0" bIns="0" rtlCol="0" anchor="ctr"/>
          <a:lstStyle/>
          <a:p>
            <a:pPr algn="ctr" indent="0" marL="0">
              <a:buNone/>
            </a:pPr>
            <a:r>
              <a:rPr lang="en-US" sz="1300" b="1" spc="100" kern="0" dirty="0">
                <a:solidFill>
                  <a:srgbClr val="F4A723"/>
                </a:solidFill>
                <a:latin typeface="Trebuchet MS" pitchFamily="34" charset="0"/>
                <a:ea typeface="Trebuchet MS" pitchFamily="34" charset="-122"/>
                <a:cs typeface="Trebuchet MS" pitchFamily="34" charset="-120"/>
              </a:rPr>
              <a:t>Medallion Architecture on Microsoft Fabric</a:t>
            </a:r>
            <a:endParaRPr lang="en-US" sz="1300" dirty="0"/>
          </a:p>
        </p:txBody>
      </p:sp>
      <p:sp>
        <p:nvSpPr>
          <p:cNvPr id="22" name="Shape 20"/>
          <p:cNvSpPr/>
          <p:nvPr/>
        </p:nvSpPr>
        <p:spPr>
          <a:xfrm>
            <a:off x="411480" y="2697480"/>
            <a:ext cx="1920240" cy="169164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411480" y="2697480"/>
            <a:ext cx="1920240" cy="73152"/>
          </a:xfrm>
          <a:prstGeom prst="rect">
            <a:avLst/>
          </a:prstGeom>
          <a:solidFill>
            <a:srgbClr val="9B5523"/>
          </a:solidFill>
          <a:ln w="12700">
            <a:solidFill>
              <a:srgbClr val="9B5523"/>
            </a:solidFill>
            <a:prstDash val="solid"/>
          </a:ln>
        </p:spPr>
      </p:sp>
      <p:sp>
        <p:nvSpPr>
          <p:cNvPr id="24" name="Text 22"/>
          <p:cNvSpPr/>
          <p:nvPr/>
        </p:nvSpPr>
        <p:spPr>
          <a:xfrm>
            <a:off x="411480" y="2816352"/>
            <a:ext cx="1920240" cy="347472"/>
          </a:xfrm>
          <a:prstGeom prst="rect">
            <a:avLst/>
          </a:prstGeom>
          <a:noFill/>
          <a:ln/>
        </p:spPr>
        <p:txBody>
          <a:bodyPr wrap="square" lIns="0" tIns="0" rIns="0" bIns="0" rtlCol="0" anchor="ctr"/>
          <a:lstStyle/>
          <a:p>
            <a:pPr algn="ctr" indent="0" marL="0">
              <a:buNone/>
            </a:pPr>
            <a:r>
              <a:rPr lang="en-US" sz="1300" b="1" spc="100" kern="0" dirty="0">
                <a:solidFill>
                  <a:srgbClr val="9B5523"/>
                </a:solidFill>
                <a:latin typeface="Trebuchet MS" pitchFamily="34" charset="0"/>
                <a:ea typeface="Trebuchet MS" pitchFamily="34" charset="-122"/>
                <a:cs typeface="Trebuchet MS" pitchFamily="34" charset="-120"/>
              </a:rPr>
              <a:t>BRONZE</a:t>
            </a:r>
            <a:endParaRPr lang="en-US" sz="1300" dirty="0"/>
          </a:p>
        </p:txBody>
      </p:sp>
      <p:sp>
        <p:nvSpPr>
          <p:cNvPr id="25" name="Text 23"/>
          <p:cNvSpPr/>
          <p:nvPr/>
        </p:nvSpPr>
        <p:spPr>
          <a:xfrm>
            <a:off x="411480" y="3218688"/>
            <a:ext cx="1920240" cy="1051560"/>
          </a:xfrm>
          <a:prstGeom prst="rect">
            <a:avLst/>
          </a:prstGeom>
          <a:noFill/>
          <a:ln/>
        </p:spPr>
        <p:txBody>
          <a:bodyPr wrap="square" lIns="50800" tIns="50800" rIns="50800" bIns="50800" rtlCol="0" anchor="ctr"/>
          <a:lstStyle/>
          <a:p>
            <a:pPr algn="ctr" indent="0" marL="0">
              <a:buNone/>
            </a:pPr>
            <a:r>
              <a:rPr lang="en-US" sz="1100" dirty="0">
                <a:solidFill>
                  <a:srgbClr val="C8E0F4"/>
                </a:solidFill>
                <a:latin typeface="Calibri" pitchFamily="34" charset="0"/>
                <a:ea typeface="Calibri" pitchFamily="34" charset="-122"/>
                <a:cs typeface="Calibri" pitchFamily="34" charset="-120"/>
              </a:rPr>
              <a:t>9 raw CSV tables</a:t>
            </a:r>
            <a:endParaRPr lang="en-US" sz="1100" dirty="0"/>
          </a:p>
          <a:p>
            <a:pPr algn="ctr" indent="0" marL="0">
              <a:buNone/>
            </a:pPr>
            <a:r>
              <a:rPr lang="en-US" sz="1100" dirty="0">
                <a:solidFill>
                  <a:srgbClr val="C8E0F4"/>
                </a:solidFill>
                <a:latin typeface="Calibri" pitchFamily="34" charset="0"/>
                <a:ea typeface="Calibri" pitchFamily="34" charset="-122"/>
                <a:cs typeface="Calibri" pitchFamily="34" charset="-120"/>
              </a:rPr>
              <a:t>OneLake Files/nhl_raw/</a:t>
            </a:r>
            <a:endParaRPr lang="en-US" sz="1100" dirty="0"/>
          </a:p>
        </p:txBody>
      </p:sp>
      <p:sp>
        <p:nvSpPr>
          <p:cNvPr id="26" name="Text 24"/>
          <p:cNvSpPr/>
          <p:nvPr/>
        </p:nvSpPr>
        <p:spPr>
          <a:xfrm>
            <a:off x="2350008" y="3291840"/>
            <a:ext cx="201168" cy="411480"/>
          </a:xfrm>
          <a:prstGeom prst="rect">
            <a:avLst/>
          </a:prstGeom>
          <a:noFill/>
          <a:ln/>
        </p:spPr>
        <p:txBody>
          <a:bodyPr wrap="square" lIns="0" tIns="0" rIns="0" bIns="0" rtlCol="0" anchor="ctr"/>
          <a:lstStyle/>
          <a:p>
            <a:pPr algn="ctr" indent="0" marL="0">
              <a:buNone/>
            </a:pPr>
            <a:r>
              <a:rPr lang="en-US" sz="2000" b="1" dirty="0">
                <a:solidFill>
                  <a:srgbClr val="F4A723"/>
                </a:solidFill>
                <a:latin typeface="Trebuchet MS" pitchFamily="34" charset="0"/>
                <a:ea typeface="Trebuchet MS" pitchFamily="34" charset="-122"/>
                <a:cs typeface="Trebuchet MS" pitchFamily="34" charset="-120"/>
              </a:rPr>
              <a:t>→</a:t>
            </a:r>
            <a:endParaRPr lang="en-US" sz="2000" dirty="0"/>
          </a:p>
        </p:txBody>
      </p:sp>
      <p:sp>
        <p:nvSpPr>
          <p:cNvPr id="27" name="Shape 25"/>
          <p:cNvSpPr/>
          <p:nvPr/>
        </p:nvSpPr>
        <p:spPr>
          <a:xfrm>
            <a:off x="2560320" y="2697480"/>
            <a:ext cx="1920240" cy="169164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28" name="Shape 26"/>
          <p:cNvSpPr/>
          <p:nvPr/>
        </p:nvSpPr>
        <p:spPr>
          <a:xfrm>
            <a:off x="2560320" y="2697480"/>
            <a:ext cx="1920240" cy="73152"/>
          </a:xfrm>
          <a:prstGeom prst="rect">
            <a:avLst/>
          </a:prstGeom>
          <a:solidFill>
            <a:srgbClr val="6B8599"/>
          </a:solidFill>
          <a:ln w="12700">
            <a:solidFill>
              <a:srgbClr val="6B8599"/>
            </a:solidFill>
            <a:prstDash val="solid"/>
          </a:ln>
        </p:spPr>
      </p:sp>
      <p:sp>
        <p:nvSpPr>
          <p:cNvPr id="29" name="Text 27"/>
          <p:cNvSpPr/>
          <p:nvPr/>
        </p:nvSpPr>
        <p:spPr>
          <a:xfrm>
            <a:off x="2560320" y="2816352"/>
            <a:ext cx="1920240" cy="347472"/>
          </a:xfrm>
          <a:prstGeom prst="rect">
            <a:avLst/>
          </a:prstGeom>
          <a:noFill/>
          <a:ln/>
        </p:spPr>
        <p:txBody>
          <a:bodyPr wrap="square" lIns="0" tIns="0" rIns="0" bIns="0" rtlCol="0" anchor="ctr"/>
          <a:lstStyle/>
          <a:p>
            <a:pPr algn="ctr" indent="0" marL="0">
              <a:buNone/>
            </a:pPr>
            <a:r>
              <a:rPr lang="en-US" sz="1300" b="1" spc="100" kern="0" dirty="0">
                <a:solidFill>
                  <a:srgbClr val="6B8599"/>
                </a:solidFill>
                <a:latin typeface="Trebuchet MS" pitchFamily="34" charset="0"/>
                <a:ea typeface="Trebuchet MS" pitchFamily="34" charset="-122"/>
                <a:cs typeface="Trebuchet MS" pitchFamily="34" charset="-120"/>
              </a:rPr>
              <a:t>SILVER</a:t>
            </a:r>
            <a:endParaRPr lang="en-US" sz="1300" dirty="0"/>
          </a:p>
        </p:txBody>
      </p:sp>
      <p:sp>
        <p:nvSpPr>
          <p:cNvPr id="30" name="Text 28"/>
          <p:cNvSpPr/>
          <p:nvPr/>
        </p:nvSpPr>
        <p:spPr>
          <a:xfrm>
            <a:off x="2560320" y="3218688"/>
            <a:ext cx="1920240" cy="1051560"/>
          </a:xfrm>
          <a:prstGeom prst="rect">
            <a:avLst/>
          </a:prstGeom>
          <a:noFill/>
          <a:ln/>
        </p:spPr>
        <p:txBody>
          <a:bodyPr wrap="square" lIns="50800" tIns="50800" rIns="50800" bIns="50800" rtlCol="0" anchor="ctr"/>
          <a:lstStyle/>
          <a:p>
            <a:pPr algn="ctr" indent="0" marL="0">
              <a:buNone/>
            </a:pPr>
            <a:r>
              <a:rPr lang="en-US" sz="1100" dirty="0">
                <a:solidFill>
                  <a:srgbClr val="C8E0F4"/>
                </a:solidFill>
                <a:latin typeface="Calibri" pitchFamily="34" charset="0"/>
                <a:ea typeface="Calibri" pitchFamily="34" charset="-122"/>
                <a:cs typeface="Calibri" pitchFamily="34" charset="-120"/>
              </a:rPr>
              <a:t>7 cleaned &amp;</a:t>
            </a:r>
            <a:endParaRPr lang="en-US" sz="1100" dirty="0"/>
          </a:p>
          <a:p>
            <a:pPr algn="ctr" indent="0" marL="0">
              <a:buNone/>
            </a:pPr>
            <a:r>
              <a:rPr lang="en-US" sz="1100" dirty="0">
                <a:solidFill>
                  <a:srgbClr val="C8E0F4"/>
                </a:solidFill>
                <a:latin typeface="Calibri" pitchFamily="34" charset="0"/>
                <a:ea typeface="Calibri" pitchFamily="34" charset="-122"/>
                <a:cs typeface="Calibri" pitchFamily="34" charset="-120"/>
              </a:rPr>
              <a:t>validated Delta tables</a:t>
            </a:r>
            <a:endParaRPr lang="en-US" sz="1100" dirty="0"/>
          </a:p>
        </p:txBody>
      </p:sp>
      <p:sp>
        <p:nvSpPr>
          <p:cNvPr id="31" name="Text 29"/>
          <p:cNvSpPr/>
          <p:nvPr/>
        </p:nvSpPr>
        <p:spPr>
          <a:xfrm>
            <a:off x="4498848" y="3291840"/>
            <a:ext cx="201168" cy="411480"/>
          </a:xfrm>
          <a:prstGeom prst="rect">
            <a:avLst/>
          </a:prstGeom>
          <a:noFill/>
          <a:ln/>
        </p:spPr>
        <p:txBody>
          <a:bodyPr wrap="square" lIns="0" tIns="0" rIns="0" bIns="0" rtlCol="0" anchor="ctr"/>
          <a:lstStyle/>
          <a:p>
            <a:pPr algn="ctr" indent="0" marL="0">
              <a:buNone/>
            </a:pPr>
            <a:r>
              <a:rPr lang="en-US" sz="2000" b="1" dirty="0">
                <a:solidFill>
                  <a:srgbClr val="F4A723"/>
                </a:solidFill>
                <a:latin typeface="Trebuchet MS" pitchFamily="34" charset="0"/>
                <a:ea typeface="Trebuchet MS" pitchFamily="34" charset="-122"/>
                <a:cs typeface="Trebuchet MS" pitchFamily="34" charset="-120"/>
              </a:rPr>
              <a:t>→</a:t>
            </a:r>
            <a:endParaRPr lang="en-US" sz="2000" dirty="0"/>
          </a:p>
        </p:txBody>
      </p:sp>
      <p:sp>
        <p:nvSpPr>
          <p:cNvPr id="32" name="Shape 30"/>
          <p:cNvSpPr/>
          <p:nvPr/>
        </p:nvSpPr>
        <p:spPr>
          <a:xfrm>
            <a:off x="4709160" y="2697480"/>
            <a:ext cx="1920240" cy="169164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33" name="Shape 31"/>
          <p:cNvSpPr/>
          <p:nvPr/>
        </p:nvSpPr>
        <p:spPr>
          <a:xfrm>
            <a:off x="4709160" y="2697480"/>
            <a:ext cx="1920240" cy="73152"/>
          </a:xfrm>
          <a:prstGeom prst="rect">
            <a:avLst/>
          </a:prstGeom>
          <a:solidFill>
            <a:srgbClr val="C49B1A"/>
          </a:solidFill>
          <a:ln w="12700">
            <a:solidFill>
              <a:srgbClr val="C49B1A"/>
            </a:solidFill>
            <a:prstDash val="solid"/>
          </a:ln>
        </p:spPr>
      </p:sp>
      <p:sp>
        <p:nvSpPr>
          <p:cNvPr id="34" name="Text 32"/>
          <p:cNvSpPr/>
          <p:nvPr/>
        </p:nvSpPr>
        <p:spPr>
          <a:xfrm>
            <a:off x="4709160" y="2816352"/>
            <a:ext cx="1920240" cy="347472"/>
          </a:xfrm>
          <a:prstGeom prst="rect">
            <a:avLst/>
          </a:prstGeom>
          <a:noFill/>
          <a:ln/>
        </p:spPr>
        <p:txBody>
          <a:bodyPr wrap="square" lIns="0" tIns="0" rIns="0" bIns="0" rtlCol="0" anchor="ctr"/>
          <a:lstStyle/>
          <a:p>
            <a:pPr algn="ctr" indent="0" marL="0">
              <a:buNone/>
            </a:pPr>
            <a:r>
              <a:rPr lang="en-US" sz="1300" b="1" spc="100" kern="0" dirty="0">
                <a:solidFill>
                  <a:srgbClr val="C49B1A"/>
                </a:solidFill>
                <a:latin typeface="Trebuchet MS" pitchFamily="34" charset="0"/>
                <a:ea typeface="Trebuchet MS" pitchFamily="34" charset="-122"/>
                <a:cs typeface="Trebuchet MS" pitchFamily="34" charset="-120"/>
              </a:rPr>
              <a:t>GOLD</a:t>
            </a:r>
            <a:endParaRPr lang="en-US" sz="1300" dirty="0"/>
          </a:p>
        </p:txBody>
      </p:sp>
      <p:sp>
        <p:nvSpPr>
          <p:cNvPr id="35" name="Text 33"/>
          <p:cNvSpPr/>
          <p:nvPr/>
        </p:nvSpPr>
        <p:spPr>
          <a:xfrm>
            <a:off x="4709160" y="3218688"/>
            <a:ext cx="1920240" cy="1051560"/>
          </a:xfrm>
          <a:prstGeom prst="rect">
            <a:avLst/>
          </a:prstGeom>
          <a:noFill/>
          <a:ln/>
        </p:spPr>
        <p:txBody>
          <a:bodyPr wrap="square" lIns="50800" tIns="50800" rIns="50800" bIns="50800" rtlCol="0" anchor="ctr"/>
          <a:lstStyle/>
          <a:p>
            <a:pPr algn="ctr" indent="0" marL="0">
              <a:buNone/>
            </a:pPr>
            <a:r>
              <a:rPr lang="en-US" sz="1100" dirty="0">
                <a:solidFill>
                  <a:srgbClr val="C8E0F4"/>
                </a:solidFill>
                <a:latin typeface="Calibri" pitchFamily="34" charset="0"/>
                <a:ea typeface="Calibri" pitchFamily="34" charset="-122"/>
                <a:cs typeface="Calibri" pitchFamily="34" charset="-120"/>
              </a:rPr>
              <a:t>3 dims + 3 facts</a:t>
            </a:r>
            <a:endParaRPr lang="en-US" sz="1100" dirty="0"/>
          </a:p>
          <a:p>
            <a:pPr algn="ctr" indent="0" marL="0">
              <a:buNone/>
            </a:pPr>
            <a:r>
              <a:rPr lang="en-US" sz="1100" dirty="0">
                <a:solidFill>
                  <a:srgbClr val="C8E0F4"/>
                </a:solidFill>
                <a:latin typeface="Calibri" pitchFamily="34" charset="0"/>
                <a:ea typeface="Calibri" pitchFamily="34" charset="-122"/>
                <a:cs typeface="Calibri" pitchFamily="34" charset="-120"/>
              </a:rPr>
              <a:t>+ 4 KPI views</a:t>
            </a:r>
            <a:endParaRPr lang="en-US" sz="1100" dirty="0"/>
          </a:p>
        </p:txBody>
      </p:sp>
      <p:sp>
        <p:nvSpPr>
          <p:cNvPr id="36" name="Text 34"/>
          <p:cNvSpPr/>
          <p:nvPr/>
        </p:nvSpPr>
        <p:spPr>
          <a:xfrm>
            <a:off x="6647688" y="3291840"/>
            <a:ext cx="201168" cy="411480"/>
          </a:xfrm>
          <a:prstGeom prst="rect">
            <a:avLst/>
          </a:prstGeom>
          <a:noFill/>
          <a:ln/>
        </p:spPr>
        <p:txBody>
          <a:bodyPr wrap="square" lIns="0" tIns="0" rIns="0" bIns="0" rtlCol="0" anchor="ctr"/>
          <a:lstStyle/>
          <a:p>
            <a:pPr algn="ctr" indent="0" marL="0">
              <a:buNone/>
            </a:pPr>
            <a:r>
              <a:rPr lang="en-US" sz="2000" b="1" dirty="0">
                <a:solidFill>
                  <a:srgbClr val="F4A723"/>
                </a:solidFill>
                <a:latin typeface="Trebuchet MS" pitchFamily="34" charset="0"/>
                <a:ea typeface="Trebuchet MS" pitchFamily="34" charset="-122"/>
                <a:cs typeface="Trebuchet MS" pitchFamily="34" charset="-120"/>
              </a:rPr>
              <a:t>→</a:t>
            </a:r>
            <a:endParaRPr lang="en-US" sz="2000" dirty="0"/>
          </a:p>
        </p:txBody>
      </p:sp>
      <p:sp>
        <p:nvSpPr>
          <p:cNvPr id="37" name="Shape 35"/>
          <p:cNvSpPr/>
          <p:nvPr/>
        </p:nvSpPr>
        <p:spPr>
          <a:xfrm>
            <a:off x="6858000" y="2697480"/>
            <a:ext cx="1920240" cy="169164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38" name="Shape 36"/>
          <p:cNvSpPr/>
          <p:nvPr/>
        </p:nvSpPr>
        <p:spPr>
          <a:xfrm>
            <a:off x="6858000" y="2697480"/>
            <a:ext cx="1920240" cy="73152"/>
          </a:xfrm>
          <a:prstGeom prst="rect">
            <a:avLst/>
          </a:prstGeom>
          <a:solidFill>
            <a:srgbClr val="0F8B8D"/>
          </a:solidFill>
          <a:ln w="12700">
            <a:solidFill>
              <a:srgbClr val="0F8B8D"/>
            </a:solidFill>
            <a:prstDash val="solid"/>
          </a:ln>
        </p:spPr>
      </p:sp>
      <p:sp>
        <p:nvSpPr>
          <p:cNvPr id="39" name="Text 37"/>
          <p:cNvSpPr/>
          <p:nvPr/>
        </p:nvSpPr>
        <p:spPr>
          <a:xfrm>
            <a:off x="6858000" y="2816352"/>
            <a:ext cx="1920240" cy="347472"/>
          </a:xfrm>
          <a:prstGeom prst="rect">
            <a:avLst/>
          </a:prstGeom>
          <a:noFill/>
          <a:ln/>
        </p:spPr>
        <p:txBody>
          <a:bodyPr wrap="square" lIns="0" tIns="0" rIns="0" bIns="0" rtlCol="0" anchor="ctr"/>
          <a:lstStyle/>
          <a:p>
            <a:pPr algn="ctr" indent="0" marL="0">
              <a:buNone/>
            </a:pPr>
            <a:r>
              <a:rPr lang="en-US" sz="1300" b="1" spc="100" kern="0" dirty="0">
                <a:solidFill>
                  <a:srgbClr val="0F8B8D"/>
                </a:solidFill>
                <a:latin typeface="Trebuchet MS" pitchFamily="34" charset="0"/>
                <a:ea typeface="Trebuchet MS" pitchFamily="34" charset="-122"/>
                <a:cs typeface="Trebuchet MS" pitchFamily="34" charset="-120"/>
              </a:rPr>
              <a:t>POWER BI</a:t>
            </a:r>
            <a:endParaRPr lang="en-US" sz="1300" dirty="0"/>
          </a:p>
        </p:txBody>
      </p:sp>
      <p:sp>
        <p:nvSpPr>
          <p:cNvPr id="40" name="Text 38"/>
          <p:cNvSpPr/>
          <p:nvPr/>
        </p:nvSpPr>
        <p:spPr>
          <a:xfrm>
            <a:off x="6858000" y="3218688"/>
            <a:ext cx="1920240" cy="1051560"/>
          </a:xfrm>
          <a:prstGeom prst="rect">
            <a:avLst/>
          </a:prstGeom>
          <a:noFill/>
          <a:ln/>
        </p:spPr>
        <p:txBody>
          <a:bodyPr wrap="square" lIns="50800" tIns="50800" rIns="50800" bIns="50800" rtlCol="0" anchor="ctr"/>
          <a:lstStyle/>
          <a:p>
            <a:pPr algn="ctr" indent="0" marL="0">
              <a:buNone/>
            </a:pPr>
            <a:r>
              <a:rPr lang="en-US" sz="1100" dirty="0">
                <a:solidFill>
                  <a:srgbClr val="C8E0F4"/>
                </a:solidFill>
                <a:latin typeface="Calibri" pitchFamily="34" charset="0"/>
                <a:ea typeface="Calibri" pitchFamily="34" charset="-122"/>
                <a:cs typeface="Calibri" pitchFamily="34" charset="-120"/>
              </a:rPr>
              <a:t>5-page DirectLake</a:t>
            </a:r>
            <a:endParaRPr lang="en-US" sz="1100" dirty="0"/>
          </a:p>
          <a:p>
            <a:pPr algn="ctr" indent="0" marL="0">
              <a:buNone/>
            </a:pPr>
            <a:r>
              <a:rPr lang="en-US" sz="1100" dirty="0">
                <a:solidFill>
                  <a:srgbClr val="C8E0F4"/>
                </a:solidFill>
                <a:latin typeface="Calibri" pitchFamily="34" charset="0"/>
                <a:ea typeface="Calibri" pitchFamily="34" charset="-122"/>
                <a:cs typeface="Calibri" pitchFamily="34" charset="-120"/>
              </a:rPr>
              <a:t>dashboard</a:t>
            </a:r>
            <a:endParaRPr lang="en-US" sz="1100" dirty="0"/>
          </a:p>
        </p:txBody>
      </p:sp>
      <p:sp>
        <p:nvSpPr>
          <p:cNvPr id="41" name="Text 39"/>
          <p:cNvSpPr/>
          <p:nvPr/>
        </p:nvSpPr>
        <p:spPr>
          <a:xfrm>
            <a:off x="457200" y="4535424"/>
            <a:ext cx="8229600" cy="256032"/>
          </a:xfrm>
          <a:prstGeom prst="rect">
            <a:avLst/>
          </a:prstGeom>
          <a:noFill/>
          <a:ln/>
        </p:spPr>
        <p:txBody>
          <a:bodyPr wrap="square" lIns="0" tIns="0" rIns="0" bIns="0" rtlCol="0" anchor="ctr"/>
          <a:lstStyle/>
          <a:p>
            <a:pPr algn="ctr" indent="0" marL="0">
              <a:buNone/>
            </a:pPr>
            <a:r>
              <a:rPr lang="en-US" sz="1100" i="1" dirty="0">
                <a:solidFill>
                  <a:srgbClr val="8FA8C0"/>
                </a:solidFill>
                <a:latin typeface="Calibri" pitchFamily="34" charset="0"/>
                <a:ea typeface="Calibri" pitchFamily="34" charset="-122"/>
                <a:cs typeface="Calibri" pitchFamily="34" charset="-120"/>
              </a:rPr>
              <a:t>RL_Notebook_Fixed.ipynb handles all three transformation layers in a single notebook run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1280160" cy="237744"/>
          </a:xfrm>
          <a:prstGeom prst="rect">
            <a:avLst/>
          </a:prstGeom>
          <a:solidFill>
            <a:srgbClr val="F4A723"/>
          </a:solidFill>
          <a:ln w="12700">
            <a:solidFill>
              <a:srgbClr val="F4A723"/>
            </a:solidFill>
            <a:prstDash val="solid"/>
          </a:ln>
          <a:effectLst>
            <a:outerShdw sx="100000" sy="100000" kx="0" ky="0" algn="bl" rotWithShape="0" blurRad="101600" dist="38100" dir="8100000">
              <a:srgbClr val="000000">
                <a:alpha val="18000"/>
              </a:srgbClr>
            </a:outerShdw>
          </a:effectLst>
        </p:spPr>
      </p:sp>
      <p:sp>
        <p:nvSpPr>
          <p:cNvPr id="3" name="Text 1"/>
          <p:cNvSpPr/>
          <p:nvPr/>
        </p:nvSpPr>
        <p:spPr>
          <a:xfrm>
            <a:off x="457200" y="256032"/>
            <a:ext cx="1280160" cy="237744"/>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03 — SCHEMA</a:t>
            </a:r>
            <a:endParaRPr lang="en-US" sz="900" dirty="0"/>
          </a:p>
        </p:txBody>
      </p:sp>
      <p:sp>
        <p:nvSpPr>
          <p:cNvPr id="4" name="Shape 2"/>
          <p:cNvSpPr/>
          <p:nvPr/>
        </p:nvSpPr>
        <p:spPr>
          <a:xfrm>
            <a:off x="457200" y="621792"/>
            <a:ext cx="50292" cy="475488"/>
          </a:xfrm>
          <a:prstGeom prst="rect">
            <a:avLst/>
          </a:prstGeom>
          <a:solidFill>
            <a:srgbClr val="F4A723"/>
          </a:solidFill>
          <a:ln w="12700">
            <a:solidFill>
              <a:srgbClr val="F4A723"/>
            </a:solidFill>
            <a:prstDash val="solid"/>
          </a:ln>
        </p:spPr>
      </p:sp>
      <p:sp>
        <p:nvSpPr>
          <p:cNvPr id="5" name="Text 3"/>
          <p:cNvSpPr/>
          <p:nvPr/>
        </p:nvSpPr>
        <p:spPr>
          <a:xfrm>
            <a:off x="621792" y="621792"/>
            <a:ext cx="822960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Trebuchet MS" pitchFamily="34" charset="0"/>
                <a:ea typeface="Trebuchet MS" pitchFamily="34" charset="-122"/>
                <a:cs typeface="Trebuchet MS" pitchFamily="34" charset="-120"/>
              </a:rPr>
              <a:t>Star Schema Design</a:t>
            </a:r>
            <a:endParaRPr lang="en-US" sz="2800" dirty="0"/>
          </a:p>
        </p:txBody>
      </p:sp>
      <p:sp>
        <p:nvSpPr>
          <p:cNvPr id="6" name="Shape 4"/>
          <p:cNvSpPr/>
          <p:nvPr/>
        </p:nvSpPr>
        <p:spPr>
          <a:xfrm>
            <a:off x="365760" y="1188720"/>
            <a:ext cx="2651760" cy="123444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65760" y="1188720"/>
            <a:ext cx="2651760" cy="64008"/>
          </a:xfrm>
          <a:prstGeom prst="rect">
            <a:avLst/>
          </a:prstGeom>
          <a:solidFill>
            <a:srgbClr val="0F8B8D"/>
          </a:solidFill>
          <a:ln w="12700">
            <a:solidFill>
              <a:srgbClr val="0F8B8D"/>
            </a:solidFill>
            <a:prstDash val="solid"/>
          </a:ln>
        </p:spPr>
      </p:sp>
      <p:sp>
        <p:nvSpPr>
          <p:cNvPr id="8" name="Text 6"/>
          <p:cNvSpPr/>
          <p:nvPr/>
        </p:nvSpPr>
        <p:spPr>
          <a:xfrm>
            <a:off x="457200" y="1261872"/>
            <a:ext cx="2468880" cy="292608"/>
          </a:xfrm>
          <a:prstGeom prst="rect">
            <a:avLst/>
          </a:prstGeom>
          <a:noFill/>
          <a:ln/>
        </p:spPr>
        <p:txBody>
          <a:bodyPr wrap="square" lIns="0" tIns="0" rIns="0" bIns="0"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DIM  dim_team</a:t>
            </a:r>
            <a:endParaRPr lang="en-US" sz="1200" dirty="0"/>
          </a:p>
        </p:txBody>
      </p:sp>
      <p:sp>
        <p:nvSpPr>
          <p:cNvPr id="9" name="Text 7"/>
          <p:cNvSpPr/>
          <p:nvPr/>
        </p:nvSpPr>
        <p:spPr>
          <a:xfrm>
            <a:off x="457200" y="1572768"/>
            <a:ext cx="2468880" cy="237744"/>
          </a:xfrm>
          <a:prstGeom prst="rect">
            <a:avLst/>
          </a:prstGeom>
          <a:noFill/>
          <a:ln/>
        </p:spPr>
        <p:txBody>
          <a:bodyPr wrap="square" lIns="0" tIns="0" rIns="0" bIns="0" rtlCol="0" anchor="ctr"/>
          <a:lstStyle/>
          <a:p>
            <a:pPr algn="l" indent="0" marL="0">
              <a:buNone/>
            </a:pPr>
            <a:r>
              <a:rPr lang="en-US" sz="1000" dirty="0">
                <a:solidFill>
                  <a:srgbClr val="F4A723"/>
                </a:solidFill>
                <a:latin typeface="Calibri" pitchFamily="34" charset="0"/>
                <a:ea typeface="Calibri" pitchFamily="34" charset="-122"/>
                <a:cs typeface="Calibri" pitchFamily="34" charset="-120"/>
              </a:rPr>
              <a:t>PK: team_id  |  Rows: ~32</a:t>
            </a:r>
            <a:endParaRPr lang="en-US" sz="1000" dirty="0"/>
          </a:p>
        </p:txBody>
      </p:sp>
      <p:sp>
        <p:nvSpPr>
          <p:cNvPr id="10" name="Text 8"/>
          <p:cNvSpPr/>
          <p:nvPr/>
        </p:nvSpPr>
        <p:spPr>
          <a:xfrm>
            <a:off x="457200" y="1828800"/>
            <a:ext cx="2468880" cy="502920"/>
          </a:xfrm>
          <a:prstGeom prst="rect">
            <a:avLst/>
          </a:prstGeom>
          <a:noFill/>
          <a:ln/>
        </p:spPr>
        <p:txBody>
          <a:bodyPr wrap="square" lIns="0" tIns="0" rIns="0" bIns="0" rtlCol="0" anchor="ctr"/>
          <a:lstStyle/>
          <a:p>
            <a:pPr algn="l" indent="0" marL="0">
              <a:buNone/>
            </a:pPr>
            <a:r>
              <a:rPr lang="en-US" sz="1000" dirty="0">
                <a:solidFill>
                  <a:srgbClr val="8FA8C0"/>
                </a:solidFill>
                <a:latin typeface="Calibri" pitchFamily="34" charset="0"/>
                <a:ea typeface="Calibri" pitchFamily="34" charset="-122"/>
                <a:cs typeface="Calibri" pitchFamily="34" charset="-120"/>
              </a:rPr>
              <a:t>team_name, abbreviation</a:t>
            </a:r>
            <a:endParaRPr lang="en-US" sz="1000" dirty="0"/>
          </a:p>
        </p:txBody>
      </p:sp>
      <p:sp>
        <p:nvSpPr>
          <p:cNvPr id="11" name="Shape 9"/>
          <p:cNvSpPr/>
          <p:nvPr/>
        </p:nvSpPr>
        <p:spPr>
          <a:xfrm>
            <a:off x="3246120" y="1188720"/>
            <a:ext cx="2651760" cy="123444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3246120" y="1188720"/>
            <a:ext cx="2651760" cy="64008"/>
          </a:xfrm>
          <a:prstGeom prst="rect">
            <a:avLst/>
          </a:prstGeom>
          <a:solidFill>
            <a:srgbClr val="0F8B8D"/>
          </a:solidFill>
          <a:ln w="12700">
            <a:solidFill>
              <a:srgbClr val="0F8B8D"/>
            </a:solidFill>
            <a:prstDash val="solid"/>
          </a:ln>
        </p:spPr>
      </p:sp>
      <p:sp>
        <p:nvSpPr>
          <p:cNvPr id="13" name="Text 11"/>
          <p:cNvSpPr/>
          <p:nvPr/>
        </p:nvSpPr>
        <p:spPr>
          <a:xfrm>
            <a:off x="3337560" y="1261872"/>
            <a:ext cx="2468880" cy="292608"/>
          </a:xfrm>
          <a:prstGeom prst="rect">
            <a:avLst/>
          </a:prstGeom>
          <a:noFill/>
          <a:ln/>
        </p:spPr>
        <p:txBody>
          <a:bodyPr wrap="square" lIns="0" tIns="0" rIns="0" bIns="0"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DIM  dim_player</a:t>
            </a:r>
            <a:endParaRPr lang="en-US" sz="1200" dirty="0"/>
          </a:p>
        </p:txBody>
      </p:sp>
      <p:sp>
        <p:nvSpPr>
          <p:cNvPr id="14" name="Text 12"/>
          <p:cNvSpPr/>
          <p:nvPr/>
        </p:nvSpPr>
        <p:spPr>
          <a:xfrm>
            <a:off x="3337560" y="1572768"/>
            <a:ext cx="2468880" cy="237744"/>
          </a:xfrm>
          <a:prstGeom prst="rect">
            <a:avLst/>
          </a:prstGeom>
          <a:noFill/>
          <a:ln/>
        </p:spPr>
        <p:txBody>
          <a:bodyPr wrap="square" lIns="0" tIns="0" rIns="0" bIns="0" rtlCol="0" anchor="ctr"/>
          <a:lstStyle/>
          <a:p>
            <a:pPr algn="l" indent="0" marL="0">
              <a:buNone/>
            </a:pPr>
            <a:r>
              <a:rPr lang="en-US" sz="1000" dirty="0">
                <a:solidFill>
                  <a:srgbClr val="F4A723"/>
                </a:solidFill>
                <a:latin typeface="Calibri" pitchFamily="34" charset="0"/>
                <a:ea typeface="Calibri" pitchFamily="34" charset="-122"/>
                <a:cs typeface="Calibri" pitchFamily="34" charset="-120"/>
              </a:rPr>
              <a:t>PK: player_id  |  Rows: ~7,000</a:t>
            </a:r>
            <a:endParaRPr lang="en-US" sz="1000" dirty="0"/>
          </a:p>
        </p:txBody>
      </p:sp>
      <p:sp>
        <p:nvSpPr>
          <p:cNvPr id="15" name="Text 13"/>
          <p:cNvSpPr/>
          <p:nvPr/>
        </p:nvSpPr>
        <p:spPr>
          <a:xfrm>
            <a:off x="3337560" y="1828800"/>
            <a:ext cx="2468880" cy="502920"/>
          </a:xfrm>
          <a:prstGeom prst="rect">
            <a:avLst/>
          </a:prstGeom>
          <a:noFill/>
          <a:ln/>
        </p:spPr>
        <p:txBody>
          <a:bodyPr wrap="square" lIns="0" tIns="0" rIns="0" bIns="0" rtlCol="0" anchor="ctr"/>
          <a:lstStyle/>
          <a:p>
            <a:pPr algn="l" indent="0" marL="0">
              <a:buNone/>
            </a:pPr>
            <a:r>
              <a:rPr lang="en-US" sz="1000" dirty="0">
                <a:solidFill>
                  <a:srgbClr val="8FA8C0"/>
                </a:solidFill>
                <a:latin typeface="Calibri" pitchFamily="34" charset="0"/>
                <a:ea typeface="Calibri" pitchFamily="34" charset="-122"/>
                <a:cs typeface="Calibri" pitchFamily="34" charset="-120"/>
              </a:rPr>
              <a:t>name, position, nationality</a:t>
            </a:r>
            <a:endParaRPr lang="en-US" sz="1000" dirty="0"/>
          </a:p>
        </p:txBody>
      </p:sp>
      <p:sp>
        <p:nvSpPr>
          <p:cNvPr id="16" name="Shape 14"/>
          <p:cNvSpPr/>
          <p:nvPr/>
        </p:nvSpPr>
        <p:spPr>
          <a:xfrm>
            <a:off x="6126480" y="1188720"/>
            <a:ext cx="2651760" cy="123444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6126480" y="1188720"/>
            <a:ext cx="2651760" cy="64008"/>
          </a:xfrm>
          <a:prstGeom prst="rect">
            <a:avLst/>
          </a:prstGeom>
          <a:solidFill>
            <a:srgbClr val="0F8B8D"/>
          </a:solidFill>
          <a:ln w="12700">
            <a:solidFill>
              <a:srgbClr val="0F8B8D"/>
            </a:solidFill>
            <a:prstDash val="solid"/>
          </a:ln>
        </p:spPr>
      </p:sp>
      <p:sp>
        <p:nvSpPr>
          <p:cNvPr id="18" name="Text 16"/>
          <p:cNvSpPr/>
          <p:nvPr/>
        </p:nvSpPr>
        <p:spPr>
          <a:xfrm>
            <a:off x="6217920" y="1261872"/>
            <a:ext cx="2468880" cy="292608"/>
          </a:xfrm>
          <a:prstGeom prst="rect">
            <a:avLst/>
          </a:prstGeom>
          <a:noFill/>
          <a:ln/>
        </p:spPr>
        <p:txBody>
          <a:bodyPr wrap="square" lIns="0" tIns="0" rIns="0" bIns="0"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DIM  dim_date</a:t>
            </a:r>
            <a:endParaRPr lang="en-US" sz="1200" dirty="0"/>
          </a:p>
        </p:txBody>
      </p:sp>
      <p:sp>
        <p:nvSpPr>
          <p:cNvPr id="19" name="Text 17"/>
          <p:cNvSpPr/>
          <p:nvPr/>
        </p:nvSpPr>
        <p:spPr>
          <a:xfrm>
            <a:off x="6217920" y="1572768"/>
            <a:ext cx="2468880" cy="237744"/>
          </a:xfrm>
          <a:prstGeom prst="rect">
            <a:avLst/>
          </a:prstGeom>
          <a:noFill/>
          <a:ln/>
        </p:spPr>
        <p:txBody>
          <a:bodyPr wrap="square" lIns="0" tIns="0" rIns="0" bIns="0" rtlCol="0" anchor="ctr"/>
          <a:lstStyle/>
          <a:p>
            <a:pPr algn="l" indent="0" marL="0">
              <a:buNone/>
            </a:pPr>
            <a:r>
              <a:rPr lang="en-US" sz="1000" dirty="0">
                <a:solidFill>
                  <a:srgbClr val="F4A723"/>
                </a:solidFill>
                <a:latin typeface="Calibri" pitchFamily="34" charset="0"/>
                <a:ea typeface="Calibri" pitchFamily="34" charset="-122"/>
                <a:cs typeface="Calibri" pitchFamily="34" charset="-120"/>
              </a:rPr>
              <a:t>PK: date_key  |  Rows: ~2,500</a:t>
            </a:r>
            <a:endParaRPr lang="en-US" sz="1000" dirty="0"/>
          </a:p>
        </p:txBody>
      </p:sp>
      <p:sp>
        <p:nvSpPr>
          <p:cNvPr id="20" name="Text 18"/>
          <p:cNvSpPr/>
          <p:nvPr/>
        </p:nvSpPr>
        <p:spPr>
          <a:xfrm>
            <a:off x="6217920" y="1828800"/>
            <a:ext cx="2468880" cy="502920"/>
          </a:xfrm>
          <a:prstGeom prst="rect">
            <a:avLst/>
          </a:prstGeom>
          <a:noFill/>
          <a:ln/>
        </p:spPr>
        <p:txBody>
          <a:bodyPr wrap="square" lIns="0" tIns="0" rIns="0" bIns="0" rtlCol="0" anchor="ctr"/>
          <a:lstStyle/>
          <a:p>
            <a:pPr algn="l" indent="0" marL="0">
              <a:buNone/>
            </a:pPr>
            <a:r>
              <a:rPr lang="en-US" sz="1000" dirty="0">
                <a:solidFill>
                  <a:srgbClr val="8FA8C0"/>
                </a:solidFill>
                <a:latin typeface="Calibri" pitchFamily="34" charset="0"/>
                <a:ea typeface="Calibri" pitchFamily="34" charset="-122"/>
                <a:cs typeface="Calibri" pitchFamily="34" charset="-120"/>
              </a:rPr>
              <a:t>season, month, day_of_week</a:t>
            </a:r>
            <a:endParaRPr lang="en-US" sz="1000" dirty="0"/>
          </a:p>
        </p:txBody>
      </p:sp>
      <p:sp>
        <p:nvSpPr>
          <p:cNvPr id="21" name="Shape 19"/>
          <p:cNvSpPr/>
          <p:nvPr/>
        </p:nvSpPr>
        <p:spPr>
          <a:xfrm>
            <a:off x="1682496" y="2423160"/>
            <a:ext cx="18288" cy="411480"/>
          </a:xfrm>
          <a:prstGeom prst="rect">
            <a:avLst/>
          </a:prstGeom>
          <a:solidFill>
            <a:srgbClr val="F4A723"/>
          </a:solidFill>
          <a:ln w="12700">
            <a:solidFill>
              <a:srgbClr val="F4A723"/>
            </a:solidFill>
            <a:prstDash val="solid"/>
          </a:ln>
        </p:spPr>
      </p:sp>
      <p:sp>
        <p:nvSpPr>
          <p:cNvPr id="22" name="Shape 20"/>
          <p:cNvSpPr/>
          <p:nvPr/>
        </p:nvSpPr>
        <p:spPr>
          <a:xfrm>
            <a:off x="1627632" y="2798064"/>
            <a:ext cx="128016" cy="128016"/>
          </a:xfrm>
          <a:prstGeom prst="ellipse">
            <a:avLst/>
          </a:prstGeom>
          <a:solidFill>
            <a:srgbClr val="F4A723"/>
          </a:solidFill>
          <a:ln w="12700">
            <a:solidFill>
              <a:srgbClr val="F4A723"/>
            </a:solidFill>
            <a:prstDash val="solid"/>
          </a:ln>
        </p:spPr>
      </p:sp>
      <p:sp>
        <p:nvSpPr>
          <p:cNvPr id="23" name="Shape 21"/>
          <p:cNvSpPr/>
          <p:nvPr/>
        </p:nvSpPr>
        <p:spPr>
          <a:xfrm>
            <a:off x="4562856" y="2423160"/>
            <a:ext cx="18288" cy="411480"/>
          </a:xfrm>
          <a:prstGeom prst="rect">
            <a:avLst/>
          </a:prstGeom>
          <a:solidFill>
            <a:srgbClr val="F4A723"/>
          </a:solidFill>
          <a:ln w="12700">
            <a:solidFill>
              <a:srgbClr val="F4A723"/>
            </a:solidFill>
            <a:prstDash val="solid"/>
          </a:ln>
        </p:spPr>
      </p:sp>
      <p:sp>
        <p:nvSpPr>
          <p:cNvPr id="24" name="Shape 22"/>
          <p:cNvSpPr/>
          <p:nvPr/>
        </p:nvSpPr>
        <p:spPr>
          <a:xfrm>
            <a:off x="4507992" y="2798064"/>
            <a:ext cx="128016" cy="128016"/>
          </a:xfrm>
          <a:prstGeom prst="ellipse">
            <a:avLst/>
          </a:prstGeom>
          <a:solidFill>
            <a:srgbClr val="F4A723"/>
          </a:solidFill>
          <a:ln w="12700">
            <a:solidFill>
              <a:srgbClr val="F4A723"/>
            </a:solidFill>
            <a:prstDash val="solid"/>
          </a:ln>
        </p:spPr>
      </p:sp>
      <p:sp>
        <p:nvSpPr>
          <p:cNvPr id="25" name="Shape 23"/>
          <p:cNvSpPr/>
          <p:nvPr/>
        </p:nvSpPr>
        <p:spPr>
          <a:xfrm>
            <a:off x="7443216" y="2423160"/>
            <a:ext cx="18288" cy="411480"/>
          </a:xfrm>
          <a:prstGeom prst="rect">
            <a:avLst/>
          </a:prstGeom>
          <a:solidFill>
            <a:srgbClr val="F4A723"/>
          </a:solidFill>
          <a:ln w="12700">
            <a:solidFill>
              <a:srgbClr val="F4A723"/>
            </a:solidFill>
            <a:prstDash val="solid"/>
          </a:ln>
        </p:spPr>
      </p:sp>
      <p:sp>
        <p:nvSpPr>
          <p:cNvPr id="26" name="Shape 24"/>
          <p:cNvSpPr/>
          <p:nvPr/>
        </p:nvSpPr>
        <p:spPr>
          <a:xfrm>
            <a:off x="7388352" y="2798064"/>
            <a:ext cx="128016" cy="128016"/>
          </a:xfrm>
          <a:prstGeom prst="ellipse">
            <a:avLst/>
          </a:prstGeom>
          <a:solidFill>
            <a:srgbClr val="F4A723"/>
          </a:solidFill>
          <a:ln w="12700">
            <a:solidFill>
              <a:srgbClr val="F4A723"/>
            </a:solidFill>
            <a:prstDash val="solid"/>
          </a:ln>
        </p:spPr>
      </p:sp>
      <p:sp>
        <p:nvSpPr>
          <p:cNvPr id="27" name="Shape 25"/>
          <p:cNvSpPr/>
          <p:nvPr/>
        </p:nvSpPr>
        <p:spPr>
          <a:xfrm>
            <a:off x="365760" y="2944368"/>
            <a:ext cx="2651760" cy="1719072"/>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28" name="Shape 26"/>
          <p:cNvSpPr/>
          <p:nvPr/>
        </p:nvSpPr>
        <p:spPr>
          <a:xfrm>
            <a:off x="365760" y="2944368"/>
            <a:ext cx="2651760" cy="64008"/>
          </a:xfrm>
          <a:prstGeom prst="rect">
            <a:avLst/>
          </a:prstGeom>
          <a:solidFill>
            <a:srgbClr val="F4A723"/>
          </a:solidFill>
          <a:ln w="12700">
            <a:solidFill>
              <a:srgbClr val="F4A723"/>
            </a:solidFill>
            <a:prstDash val="solid"/>
          </a:ln>
        </p:spPr>
      </p:sp>
      <p:sp>
        <p:nvSpPr>
          <p:cNvPr id="29" name="Text 27"/>
          <p:cNvSpPr/>
          <p:nvPr/>
        </p:nvSpPr>
        <p:spPr>
          <a:xfrm>
            <a:off x="457200" y="3017520"/>
            <a:ext cx="2468880" cy="292608"/>
          </a:xfrm>
          <a:prstGeom prst="rect">
            <a:avLst/>
          </a:prstGeom>
          <a:noFill/>
          <a:ln/>
        </p:spPr>
        <p:txBody>
          <a:bodyPr wrap="square" lIns="0" tIns="0" rIns="0" bIns="0" rtlCol="0" anchor="ctr"/>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FACT  fact_game_performance</a:t>
            </a:r>
            <a:endParaRPr lang="en-US" sz="1100" dirty="0"/>
          </a:p>
        </p:txBody>
      </p:sp>
      <p:sp>
        <p:nvSpPr>
          <p:cNvPr id="30" name="Text 28"/>
          <p:cNvSpPr/>
          <p:nvPr/>
        </p:nvSpPr>
        <p:spPr>
          <a:xfrm>
            <a:off x="457200" y="3337560"/>
            <a:ext cx="2468880" cy="237744"/>
          </a:xfrm>
          <a:prstGeom prst="rect">
            <a:avLst/>
          </a:prstGeom>
          <a:noFill/>
          <a:ln/>
        </p:spPr>
        <p:txBody>
          <a:bodyPr wrap="square" lIns="0" tIns="0" rIns="0" bIns="0" rtlCol="0" anchor="ctr"/>
          <a:lstStyle/>
          <a:p>
            <a:pPr algn="l" indent="0" marL="0">
              <a:buNone/>
            </a:pPr>
            <a:r>
              <a:rPr lang="en-US" sz="1000" dirty="0">
                <a:solidFill>
                  <a:srgbClr val="C8E0F4"/>
                </a:solidFill>
                <a:latin typeface="Calibri" pitchFamily="34" charset="0"/>
                <a:ea typeface="Calibri" pitchFamily="34" charset="-122"/>
                <a:cs typeface="Calibri" pitchFamily="34" charset="-120"/>
              </a:rPr>
              <a:t>Grain: Team × Game  |  Rows: ~47K</a:t>
            </a:r>
            <a:endParaRPr lang="en-US" sz="1000" dirty="0"/>
          </a:p>
        </p:txBody>
      </p:sp>
      <p:sp>
        <p:nvSpPr>
          <p:cNvPr id="31" name="Text 29"/>
          <p:cNvSpPr/>
          <p:nvPr/>
        </p:nvSpPr>
        <p:spPr>
          <a:xfrm>
            <a:off x="457200" y="3611880"/>
            <a:ext cx="2468880" cy="914400"/>
          </a:xfrm>
          <a:prstGeom prst="rect">
            <a:avLst/>
          </a:prstGeom>
          <a:noFill/>
          <a:ln/>
        </p:spPr>
        <p:txBody>
          <a:bodyPr wrap="square" lIns="0" tIns="0" rIns="0" bIns="0" rtlCol="0" anchor="ctr"/>
          <a:lstStyle/>
          <a:p>
            <a:pPr algn="l" indent="0" marL="0">
              <a:buNone/>
            </a:pPr>
            <a:r>
              <a:rPr lang="en-US" sz="1000" dirty="0">
                <a:solidFill>
                  <a:srgbClr val="8FA8C0"/>
                </a:solidFill>
                <a:latin typeface="Calibri" pitchFamily="34" charset="0"/>
                <a:ea typeface="Calibri" pitchFamily="34" charset="-122"/>
                <a:cs typeface="Calibri" pitchFamily="34" charset="-120"/>
              </a:rPr>
              <a:t>Goals, shots, won (bool), home/away</a:t>
            </a:r>
            <a:endParaRPr lang="en-US" sz="1000" dirty="0"/>
          </a:p>
        </p:txBody>
      </p:sp>
      <p:sp>
        <p:nvSpPr>
          <p:cNvPr id="32" name="Shape 30"/>
          <p:cNvSpPr/>
          <p:nvPr/>
        </p:nvSpPr>
        <p:spPr>
          <a:xfrm>
            <a:off x="3246120" y="2944368"/>
            <a:ext cx="2651760" cy="1719072"/>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33" name="Shape 31"/>
          <p:cNvSpPr/>
          <p:nvPr/>
        </p:nvSpPr>
        <p:spPr>
          <a:xfrm>
            <a:off x="3246120" y="2944368"/>
            <a:ext cx="2651760" cy="64008"/>
          </a:xfrm>
          <a:prstGeom prst="rect">
            <a:avLst/>
          </a:prstGeom>
          <a:solidFill>
            <a:srgbClr val="F4A723"/>
          </a:solidFill>
          <a:ln w="12700">
            <a:solidFill>
              <a:srgbClr val="F4A723"/>
            </a:solidFill>
            <a:prstDash val="solid"/>
          </a:ln>
        </p:spPr>
      </p:sp>
      <p:sp>
        <p:nvSpPr>
          <p:cNvPr id="34" name="Text 32"/>
          <p:cNvSpPr/>
          <p:nvPr/>
        </p:nvSpPr>
        <p:spPr>
          <a:xfrm>
            <a:off x="3337560" y="3017520"/>
            <a:ext cx="2468880" cy="292608"/>
          </a:xfrm>
          <a:prstGeom prst="rect">
            <a:avLst/>
          </a:prstGeom>
          <a:noFill/>
          <a:ln/>
        </p:spPr>
        <p:txBody>
          <a:bodyPr wrap="square" lIns="0" tIns="0" rIns="0" bIns="0" rtlCol="0" anchor="ctr"/>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FACT  fact_player_stats</a:t>
            </a:r>
            <a:endParaRPr lang="en-US" sz="1100" dirty="0"/>
          </a:p>
        </p:txBody>
      </p:sp>
      <p:sp>
        <p:nvSpPr>
          <p:cNvPr id="35" name="Text 33"/>
          <p:cNvSpPr/>
          <p:nvPr/>
        </p:nvSpPr>
        <p:spPr>
          <a:xfrm>
            <a:off x="3337560" y="3337560"/>
            <a:ext cx="2468880" cy="237744"/>
          </a:xfrm>
          <a:prstGeom prst="rect">
            <a:avLst/>
          </a:prstGeom>
          <a:noFill/>
          <a:ln/>
        </p:spPr>
        <p:txBody>
          <a:bodyPr wrap="square" lIns="0" tIns="0" rIns="0" bIns="0" rtlCol="0" anchor="ctr"/>
          <a:lstStyle/>
          <a:p>
            <a:pPr algn="l" indent="0" marL="0">
              <a:buNone/>
            </a:pPr>
            <a:r>
              <a:rPr lang="en-US" sz="1000" dirty="0">
                <a:solidFill>
                  <a:srgbClr val="C8E0F4"/>
                </a:solidFill>
                <a:latin typeface="Calibri" pitchFamily="34" charset="0"/>
                <a:ea typeface="Calibri" pitchFamily="34" charset="-122"/>
                <a:cs typeface="Calibri" pitchFamily="34" charset="-120"/>
              </a:rPr>
              <a:t>Grain: Player × Game  |  Rows: ~600K</a:t>
            </a:r>
            <a:endParaRPr lang="en-US" sz="1000" dirty="0"/>
          </a:p>
        </p:txBody>
      </p:sp>
      <p:sp>
        <p:nvSpPr>
          <p:cNvPr id="36" name="Text 34"/>
          <p:cNvSpPr/>
          <p:nvPr/>
        </p:nvSpPr>
        <p:spPr>
          <a:xfrm>
            <a:off x="3337560" y="3611880"/>
            <a:ext cx="2468880" cy="914400"/>
          </a:xfrm>
          <a:prstGeom prst="rect">
            <a:avLst/>
          </a:prstGeom>
          <a:noFill/>
          <a:ln/>
        </p:spPr>
        <p:txBody>
          <a:bodyPr wrap="square" lIns="0" tIns="0" rIns="0" bIns="0" rtlCol="0" anchor="ctr"/>
          <a:lstStyle/>
          <a:p>
            <a:pPr algn="l" indent="0" marL="0">
              <a:buNone/>
            </a:pPr>
            <a:r>
              <a:rPr lang="en-US" sz="1000" dirty="0">
                <a:solidFill>
                  <a:srgbClr val="8FA8C0"/>
                </a:solidFill>
                <a:latin typeface="Calibri" pitchFamily="34" charset="0"/>
                <a:ea typeface="Calibri" pitchFamily="34" charset="-122"/>
                <a:cs typeface="Calibri" pitchFamily="34" charset="-120"/>
              </a:rPr>
              <a:t>Goals, assists, shots, TOI</a:t>
            </a:r>
            <a:endParaRPr lang="en-US" sz="1000" dirty="0"/>
          </a:p>
        </p:txBody>
      </p:sp>
      <p:sp>
        <p:nvSpPr>
          <p:cNvPr id="37" name="Shape 35"/>
          <p:cNvSpPr/>
          <p:nvPr/>
        </p:nvSpPr>
        <p:spPr>
          <a:xfrm>
            <a:off x="6126480" y="2944368"/>
            <a:ext cx="2651760" cy="1719072"/>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38" name="Shape 36"/>
          <p:cNvSpPr/>
          <p:nvPr/>
        </p:nvSpPr>
        <p:spPr>
          <a:xfrm>
            <a:off x="6126480" y="2944368"/>
            <a:ext cx="2651760" cy="64008"/>
          </a:xfrm>
          <a:prstGeom prst="rect">
            <a:avLst/>
          </a:prstGeom>
          <a:solidFill>
            <a:srgbClr val="F4A723"/>
          </a:solidFill>
          <a:ln w="12700">
            <a:solidFill>
              <a:srgbClr val="F4A723"/>
            </a:solidFill>
            <a:prstDash val="solid"/>
          </a:ln>
        </p:spPr>
      </p:sp>
      <p:sp>
        <p:nvSpPr>
          <p:cNvPr id="39" name="Text 37"/>
          <p:cNvSpPr/>
          <p:nvPr/>
        </p:nvSpPr>
        <p:spPr>
          <a:xfrm>
            <a:off x="6217920" y="3017520"/>
            <a:ext cx="2468880" cy="292608"/>
          </a:xfrm>
          <a:prstGeom prst="rect">
            <a:avLst/>
          </a:prstGeom>
          <a:noFill/>
          <a:ln/>
        </p:spPr>
        <p:txBody>
          <a:bodyPr wrap="square" lIns="0" tIns="0" rIns="0" bIns="0" rtlCol="0" anchor="ctr"/>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FACT  fact_play_events</a:t>
            </a:r>
            <a:endParaRPr lang="en-US" sz="1100" dirty="0"/>
          </a:p>
        </p:txBody>
      </p:sp>
      <p:sp>
        <p:nvSpPr>
          <p:cNvPr id="40" name="Text 38"/>
          <p:cNvSpPr/>
          <p:nvPr/>
        </p:nvSpPr>
        <p:spPr>
          <a:xfrm>
            <a:off x="6217920" y="3337560"/>
            <a:ext cx="2468880" cy="237744"/>
          </a:xfrm>
          <a:prstGeom prst="rect">
            <a:avLst/>
          </a:prstGeom>
          <a:noFill/>
          <a:ln/>
        </p:spPr>
        <p:txBody>
          <a:bodyPr wrap="square" lIns="0" tIns="0" rIns="0" bIns="0" rtlCol="0" anchor="ctr"/>
          <a:lstStyle/>
          <a:p>
            <a:pPr algn="l" indent="0" marL="0">
              <a:buNone/>
            </a:pPr>
            <a:r>
              <a:rPr lang="en-US" sz="1000" dirty="0">
                <a:solidFill>
                  <a:srgbClr val="C8E0F4"/>
                </a:solidFill>
                <a:latin typeface="Calibri" pitchFamily="34" charset="0"/>
                <a:ea typeface="Calibri" pitchFamily="34" charset="-122"/>
                <a:cs typeface="Calibri" pitchFamily="34" charset="-120"/>
              </a:rPr>
              <a:t>Grain: One per play  |  Rows: ~2M+</a:t>
            </a:r>
            <a:endParaRPr lang="en-US" sz="1000" dirty="0"/>
          </a:p>
        </p:txBody>
      </p:sp>
      <p:sp>
        <p:nvSpPr>
          <p:cNvPr id="41" name="Text 39"/>
          <p:cNvSpPr/>
          <p:nvPr/>
        </p:nvSpPr>
        <p:spPr>
          <a:xfrm>
            <a:off x="6217920" y="3611880"/>
            <a:ext cx="2468880" cy="914400"/>
          </a:xfrm>
          <a:prstGeom prst="rect">
            <a:avLst/>
          </a:prstGeom>
          <a:noFill/>
          <a:ln/>
        </p:spPr>
        <p:txBody>
          <a:bodyPr wrap="square" lIns="0" tIns="0" rIns="0" bIns="0" rtlCol="0" anchor="ctr"/>
          <a:lstStyle/>
          <a:p>
            <a:pPr algn="l" indent="0" marL="0">
              <a:buNone/>
            </a:pPr>
            <a:r>
              <a:rPr lang="en-US" sz="1000" dirty="0">
                <a:solidFill>
                  <a:srgbClr val="8FA8C0"/>
                </a:solidFill>
                <a:latin typeface="Calibri" pitchFamily="34" charset="0"/>
                <a:ea typeface="Calibri" pitchFamily="34" charset="-122"/>
                <a:cs typeface="Calibri" pitchFamily="34" charset="-120"/>
              </a:rPr>
              <a:t>Event type, x/y coords, period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1367942" cy="237744"/>
          </a:xfrm>
          <a:prstGeom prst="rect">
            <a:avLst/>
          </a:prstGeom>
          <a:solidFill>
            <a:srgbClr val="F4A723"/>
          </a:solidFill>
          <a:ln w="12700">
            <a:solidFill>
              <a:srgbClr val="F4A723"/>
            </a:solidFill>
            <a:prstDash val="solid"/>
          </a:ln>
          <a:effectLst>
            <a:outerShdw sx="100000" sy="100000" kx="0" ky="0" algn="bl" rotWithShape="0" blurRad="101600" dist="38100" dir="8100000">
              <a:srgbClr val="000000">
                <a:alpha val="18000"/>
              </a:srgbClr>
            </a:outerShdw>
          </a:effectLst>
        </p:spPr>
      </p:sp>
      <p:sp>
        <p:nvSpPr>
          <p:cNvPr id="3" name="Text 1"/>
          <p:cNvSpPr/>
          <p:nvPr/>
        </p:nvSpPr>
        <p:spPr>
          <a:xfrm>
            <a:off x="457200" y="256032"/>
            <a:ext cx="1367942" cy="237744"/>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04 — PIPELINE</a:t>
            </a:r>
            <a:endParaRPr lang="en-US" sz="900" dirty="0"/>
          </a:p>
        </p:txBody>
      </p:sp>
      <p:sp>
        <p:nvSpPr>
          <p:cNvPr id="4" name="Shape 2"/>
          <p:cNvSpPr/>
          <p:nvPr/>
        </p:nvSpPr>
        <p:spPr>
          <a:xfrm>
            <a:off x="457200" y="621792"/>
            <a:ext cx="50292" cy="475488"/>
          </a:xfrm>
          <a:prstGeom prst="rect">
            <a:avLst/>
          </a:prstGeom>
          <a:solidFill>
            <a:srgbClr val="F4A723"/>
          </a:solidFill>
          <a:ln w="12700">
            <a:solidFill>
              <a:srgbClr val="F4A723"/>
            </a:solidFill>
            <a:prstDash val="solid"/>
          </a:ln>
        </p:spPr>
      </p:sp>
      <p:sp>
        <p:nvSpPr>
          <p:cNvPr id="5" name="Text 3"/>
          <p:cNvSpPr/>
          <p:nvPr/>
        </p:nvSpPr>
        <p:spPr>
          <a:xfrm>
            <a:off x="621792" y="621792"/>
            <a:ext cx="822960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Trebuchet MS" pitchFamily="34" charset="0"/>
                <a:ea typeface="Trebuchet MS" pitchFamily="34" charset="-122"/>
                <a:cs typeface="Trebuchet MS" pitchFamily="34" charset="-120"/>
              </a:rPr>
              <a:t>Data Pipeline — ETL/ELT on Microsoft Fabric</a:t>
            </a:r>
            <a:endParaRPr lang="en-US" sz="2800" dirty="0"/>
          </a:p>
        </p:txBody>
      </p:sp>
      <p:sp>
        <p:nvSpPr>
          <p:cNvPr id="6" name="Shape 4"/>
          <p:cNvSpPr/>
          <p:nvPr/>
        </p:nvSpPr>
        <p:spPr>
          <a:xfrm>
            <a:off x="384048" y="1344168"/>
            <a:ext cx="384048" cy="384048"/>
          </a:xfrm>
          <a:prstGeom prst="ellipse">
            <a:avLst/>
          </a:prstGeom>
          <a:solidFill>
            <a:srgbClr val="F4A723"/>
          </a:solidFill>
          <a:ln w="12700">
            <a:solidFill>
              <a:srgbClr val="F4A723"/>
            </a:solidFill>
            <a:prstDash val="solid"/>
          </a:ln>
        </p:spPr>
      </p:sp>
      <p:sp>
        <p:nvSpPr>
          <p:cNvPr id="7" name="Text 5"/>
          <p:cNvSpPr/>
          <p:nvPr/>
        </p:nvSpPr>
        <p:spPr>
          <a:xfrm>
            <a:off x="384048" y="1344168"/>
            <a:ext cx="384048" cy="384048"/>
          </a:xfrm>
          <a:prstGeom prst="rect">
            <a:avLst/>
          </a:prstGeom>
          <a:noFill/>
          <a:ln/>
        </p:spPr>
        <p:txBody>
          <a:bodyPr wrap="square" lIns="0" tIns="0" rIns="0" bIns="0" rtlCol="0" anchor="ctr"/>
          <a:lstStyle/>
          <a:p>
            <a:pPr algn="ctr" indent="0" marL="0">
              <a:buNone/>
            </a:pPr>
            <a:r>
              <a:rPr lang="en-US" sz="1400" b="1" dirty="0">
                <a:solidFill>
                  <a:srgbClr val="0D1B2A"/>
                </a:solidFill>
                <a:latin typeface="Trebuchet MS" pitchFamily="34" charset="0"/>
                <a:ea typeface="Trebuchet MS" pitchFamily="34" charset="-122"/>
                <a:cs typeface="Trebuchet MS" pitchFamily="34" charset="-120"/>
              </a:rPr>
              <a:t>1</a:t>
            </a:r>
            <a:endParaRPr lang="en-US" sz="1400" dirty="0"/>
          </a:p>
        </p:txBody>
      </p:sp>
      <p:sp>
        <p:nvSpPr>
          <p:cNvPr id="8" name="Shape 6"/>
          <p:cNvSpPr/>
          <p:nvPr/>
        </p:nvSpPr>
        <p:spPr>
          <a:xfrm>
            <a:off x="914400" y="1261872"/>
            <a:ext cx="7863840" cy="530352"/>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914400" y="1261872"/>
            <a:ext cx="45720" cy="530352"/>
          </a:xfrm>
          <a:prstGeom prst="rect">
            <a:avLst/>
          </a:prstGeom>
          <a:solidFill>
            <a:srgbClr val="F4A723"/>
          </a:solidFill>
          <a:ln w="12700">
            <a:solidFill>
              <a:srgbClr val="F4A723"/>
            </a:solidFill>
            <a:prstDash val="solid"/>
          </a:ln>
        </p:spPr>
      </p:sp>
      <p:sp>
        <p:nvSpPr>
          <p:cNvPr id="10" name="Text 8"/>
          <p:cNvSpPr/>
          <p:nvPr/>
        </p:nvSpPr>
        <p:spPr>
          <a:xfrm>
            <a:off x="1051560" y="1353312"/>
            <a:ext cx="1920240" cy="329184"/>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Upload Raw CSVs</a:t>
            </a:r>
            <a:endParaRPr lang="en-US" sz="1300" dirty="0"/>
          </a:p>
        </p:txBody>
      </p:sp>
      <p:sp>
        <p:nvSpPr>
          <p:cNvPr id="11" name="Text 9"/>
          <p:cNvSpPr/>
          <p:nvPr/>
        </p:nvSpPr>
        <p:spPr>
          <a:xfrm>
            <a:off x="3108960" y="1353312"/>
            <a:ext cx="3017520" cy="329184"/>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Lakehouse File Upload</a:t>
            </a:r>
            <a:endParaRPr lang="en-US" sz="1100" dirty="0"/>
          </a:p>
        </p:txBody>
      </p:sp>
      <p:sp>
        <p:nvSpPr>
          <p:cNvPr id="12" name="Text 10"/>
          <p:cNvSpPr/>
          <p:nvPr/>
        </p:nvSpPr>
        <p:spPr>
          <a:xfrm>
            <a:off x="6217920" y="1353312"/>
            <a:ext cx="2468880" cy="329184"/>
          </a:xfrm>
          <a:prstGeom prst="rect">
            <a:avLst/>
          </a:prstGeom>
          <a:noFill/>
          <a:ln/>
        </p:spPr>
        <p:txBody>
          <a:bodyPr wrap="square" lIns="0" tIns="0" rIns="0" bIns="0" rtlCol="0" anchor="ctr"/>
          <a:lstStyle/>
          <a:p>
            <a:pPr algn="r" indent="0" marL="0">
              <a:buNone/>
            </a:pPr>
            <a:r>
              <a:rPr lang="en-US" sz="1100" dirty="0">
                <a:solidFill>
                  <a:srgbClr val="F4A723"/>
                </a:solidFill>
                <a:latin typeface="Calibri" pitchFamily="34" charset="0"/>
                <a:ea typeface="Calibri" pitchFamily="34" charset="-122"/>
                <a:cs typeface="Calibri" pitchFamily="34" charset="-120"/>
              </a:rPr>
              <a:t>→ Bronze: Files/nhl_raw/ (9 CSVs)</a:t>
            </a:r>
            <a:endParaRPr lang="en-US" sz="1100" dirty="0"/>
          </a:p>
        </p:txBody>
      </p:sp>
      <p:sp>
        <p:nvSpPr>
          <p:cNvPr id="13" name="Shape 11"/>
          <p:cNvSpPr/>
          <p:nvPr/>
        </p:nvSpPr>
        <p:spPr>
          <a:xfrm>
            <a:off x="384048" y="2048256"/>
            <a:ext cx="384048" cy="384048"/>
          </a:xfrm>
          <a:prstGeom prst="ellipse">
            <a:avLst/>
          </a:prstGeom>
          <a:solidFill>
            <a:srgbClr val="F4A723"/>
          </a:solidFill>
          <a:ln w="12700">
            <a:solidFill>
              <a:srgbClr val="F4A723"/>
            </a:solidFill>
            <a:prstDash val="solid"/>
          </a:ln>
        </p:spPr>
      </p:sp>
      <p:sp>
        <p:nvSpPr>
          <p:cNvPr id="14" name="Text 12"/>
          <p:cNvSpPr/>
          <p:nvPr/>
        </p:nvSpPr>
        <p:spPr>
          <a:xfrm>
            <a:off x="384048" y="2048256"/>
            <a:ext cx="384048" cy="384048"/>
          </a:xfrm>
          <a:prstGeom prst="rect">
            <a:avLst/>
          </a:prstGeom>
          <a:noFill/>
          <a:ln/>
        </p:spPr>
        <p:txBody>
          <a:bodyPr wrap="square" lIns="0" tIns="0" rIns="0" bIns="0" rtlCol="0" anchor="ctr"/>
          <a:lstStyle/>
          <a:p>
            <a:pPr algn="ctr" indent="0" marL="0">
              <a:buNone/>
            </a:pPr>
            <a:r>
              <a:rPr lang="en-US" sz="1400" b="1" dirty="0">
                <a:solidFill>
                  <a:srgbClr val="0D1B2A"/>
                </a:solidFill>
                <a:latin typeface="Trebuchet MS" pitchFamily="34" charset="0"/>
                <a:ea typeface="Trebuchet MS" pitchFamily="34" charset="-122"/>
                <a:cs typeface="Trebuchet MS" pitchFamily="34" charset="-120"/>
              </a:rPr>
              <a:t>2</a:t>
            </a:r>
            <a:endParaRPr lang="en-US" sz="1400" dirty="0"/>
          </a:p>
        </p:txBody>
      </p:sp>
      <p:sp>
        <p:nvSpPr>
          <p:cNvPr id="15" name="Shape 13"/>
          <p:cNvSpPr/>
          <p:nvPr/>
        </p:nvSpPr>
        <p:spPr>
          <a:xfrm>
            <a:off x="914400" y="1965960"/>
            <a:ext cx="7863840" cy="530352"/>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914400" y="1965960"/>
            <a:ext cx="45720" cy="530352"/>
          </a:xfrm>
          <a:prstGeom prst="rect">
            <a:avLst/>
          </a:prstGeom>
          <a:solidFill>
            <a:srgbClr val="F4A723"/>
          </a:solidFill>
          <a:ln w="12700">
            <a:solidFill>
              <a:srgbClr val="F4A723"/>
            </a:solidFill>
            <a:prstDash val="solid"/>
          </a:ln>
        </p:spPr>
      </p:sp>
      <p:sp>
        <p:nvSpPr>
          <p:cNvPr id="17" name="Text 15"/>
          <p:cNvSpPr/>
          <p:nvPr/>
        </p:nvSpPr>
        <p:spPr>
          <a:xfrm>
            <a:off x="1051560" y="2057400"/>
            <a:ext cx="1920240" cy="329184"/>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Bronze → Silver</a:t>
            </a:r>
            <a:endParaRPr lang="en-US" sz="1300" dirty="0"/>
          </a:p>
        </p:txBody>
      </p:sp>
      <p:sp>
        <p:nvSpPr>
          <p:cNvPr id="18" name="Text 16"/>
          <p:cNvSpPr/>
          <p:nvPr/>
        </p:nvSpPr>
        <p:spPr>
          <a:xfrm>
            <a:off x="3108960" y="2057400"/>
            <a:ext cx="3017520" cy="329184"/>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RL_Notebook_Fixed (PySpark)</a:t>
            </a:r>
            <a:endParaRPr lang="en-US" sz="1100" dirty="0"/>
          </a:p>
        </p:txBody>
      </p:sp>
      <p:sp>
        <p:nvSpPr>
          <p:cNvPr id="19" name="Text 17"/>
          <p:cNvSpPr/>
          <p:nvPr/>
        </p:nvSpPr>
        <p:spPr>
          <a:xfrm>
            <a:off x="6217920" y="2057400"/>
            <a:ext cx="2468880" cy="329184"/>
          </a:xfrm>
          <a:prstGeom prst="rect">
            <a:avLst/>
          </a:prstGeom>
          <a:noFill/>
          <a:ln/>
        </p:spPr>
        <p:txBody>
          <a:bodyPr wrap="square" lIns="0" tIns="0" rIns="0" bIns="0" rtlCol="0" anchor="ctr"/>
          <a:lstStyle/>
          <a:p>
            <a:pPr algn="r" indent="0" marL="0">
              <a:buNone/>
            </a:pPr>
            <a:r>
              <a:rPr lang="en-US" sz="1100" dirty="0">
                <a:solidFill>
                  <a:srgbClr val="F4A723"/>
                </a:solidFill>
                <a:latin typeface="Calibri" pitchFamily="34" charset="0"/>
                <a:ea typeface="Calibri" pitchFamily="34" charset="-122"/>
                <a:cs typeface="Calibri" pitchFamily="34" charset="-120"/>
              </a:rPr>
              <a:t>→ 7 Silver Delta tables</a:t>
            </a:r>
            <a:endParaRPr lang="en-US" sz="1100" dirty="0"/>
          </a:p>
        </p:txBody>
      </p:sp>
      <p:sp>
        <p:nvSpPr>
          <p:cNvPr id="20" name="Shape 18"/>
          <p:cNvSpPr/>
          <p:nvPr/>
        </p:nvSpPr>
        <p:spPr>
          <a:xfrm>
            <a:off x="384048" y="2752344"/>
            <a:ext cx="384048" cy="384048"/>
          </a:xfrm>
          <a:prstGeom prst="ellipse">
            <a:avLst/>
          </a:prstGeom>
          <a:solidFill>
            <a:srgbClr val="F4A723"/>
          </a:solidFill>
          <a:ln w="12700">
            <a:solidFill>
              <a:srgbClr val="F4A723"/>
            </a:solidFill>
            <a:prstDash val="solid"/>
          </a:ln>
        </p:spPr>
      </p:sp>
      <p:sp>
        <p:nvSpPr>
          <p:cNvPr id="21" name="Text 19"/>
          <p:cNvSpPr/>
          <p:nvPr/>
        </p:nvSpPr>
        <p:spPr>
          <a:xfrm>
            <a:off x="384048" y="2752344"/>
            <a:ext cx="384048" cy="384048"/>
          </a:xfrm>
          <a:prstGeom prst="rect">
            <a:avLst/>
          </a:prstGeom>
          <a:noFill/>
          <a:ln/>
        </p:spPr>
        <p:txBody>
          <a:bodyPr wrap="square" lIns="0" tIns="0" rIns="0" bIns="0" rtlCol="0" anchor="ctr"/>
          <a:lstStyle/>
          <a:p>
            <a:pPr algn="ctr" indent="0" marL="0">
              <a:buNone/>
            </a:pPr>
            <a:r>
              <a:rPr lang="en-US" sz="1400" b="1" dirty="0">
                <a:solidFill>
                  <a:srgbClr val="0D1B2A"/>
                </a:solidFill>
                <a:latin typeface="Trebuchet MS" pitchFamily="34" charset="0"/>
                <a:ea typeface="Trebuchet MS" pitchFamily="34" charset="-122"/>
                <a:cs typeface="Trebuchet MS" pitchFamily="34" charset="-120"/>
              </a:rPr>
              <a:t>3</a:t>
            </a:r>
            <a:endParaRPr lang="en-US" sz="1400" dirty="0"/>
          </a:p>
        </p:txBody>
      </p:sp>
      <p:sp>
        <p:nvSpPr>
          <p:cNvPr id="22" name="Shape 20"/>
          <p:cNvSpPr/>
          <p:nvPr/>
        </p:nvSpPr>
        <p:spPr>
          <a:xfrm>
            <a:off x="914400" y="2670048"/>
            <a:ext cx="7863840" cy="530352"/>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914400" y="2670048"/>
            <a:ext cx="45720" cy="530352"/>
          </a:xfrm>
          <a:prstGeom prst="rect">
            <a:avLst/>
          </a:prstGeom>
          <a:solidFill>
            <a:srgbClr val="F4A723"/>
          </a:solidFill>
          <a:ln w="12700">
            <a:solidFill>
              <a:srgbClr val="F4A723"/>
            </a:solidFill>
            <a:prstDash val="solid"/>
          </a:ln>
        </p:spPr>
      </p:sp>
      <p:sp>
        <p:nvSpPr>
          <p:cNvPr id="24" name="Text 22"/>
          <p:cNvSpPr/>
          <p:nvPr/>
        </p:nvSpPr>
        <p:spPr>
          <a:xfrm>
            <a:off x="1051560" y="2761488"/>
            <a:ext cx="1920240" cy="329184"/>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Silver → Gold</a:t>
            </a:r>
            <a:endParaRPr lang="en-US" sz="1300" dirty="0"/>
          </a:p>
        </p:txBody>
      </p:sp>
      <p:sp>
        <p:nvSpPr>
          <p:cNvPr id="25" name="Text 23"/>
          <p:cNvSpPr/>
          <p:nvPr/>
        </p:nvSpPr>
        <p:spPr>
          <a:xfrm>
            <a:off x="3108960" y="2761488"/>
            <a:ext cx="3017520" cy="329184"/>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RL_Notebook_Fixed (PySpark)</a:t>
            </a:r>
            <a:endParaRPr lang="en-US" sz="1100" dirty="0"/>
          </a:p>
        </p:txBody>
      </p:sp>
      <p:sp>
        <p:nvSpPr>
          <p:cNvPr id="26" name="Text 24"/>
          <p:cNvSpPr/>
          <p:nvPr/>
        </p:nvSpPr>
        <p:spPr>
          <a:xfrm>
            <a:off x="6217920" y="2761488"/>
            <a:ext cx="2468880" cy="329184"/>
          </a:xfrm>
          <a:prstGeom prst="rect">
            <a:avLst/>
          </a:prstGeom>
          <a:noFill/>
          <a:ln/>
        </p:spPr>
        <p:txBody>
          <a:bodyPr wrap="square" lIns="0" tIns="0" rIns="0" bIns="0" rtlCol="0" anchor="ctr"/>
          <a:lstStyle/>
          <a:p>
            <a:pPr algn="r" indent="0" marL="0">
              <a:buNone/>
            </a:pPr>
            <a:r>
              <a:rPr lang="en-US" sz="1100" dirty="0">
                <a:solidFill>
                  <a:srgbClr val="F4A723"/>
                </a:solidFill>
                <a:latin typeface="Calibri" pitchFamily="34" charset="0"/>
                <a:ea typeface="Calibri" pitchFamily="34" charset="-122"/>
                <a:cs typeface="Calibri" pitchFamily="34" charset="-120"/>
              </a:rPr>
              <a:t>→ 11 Gold Delta tables (dims + facts + KPIs)</a:t>
            </a:r>
            <a:endParaRPr lang="en-US" sz="1100" dirty="0"/>
          </a:p>
        </p:txBody>
      </p:sp>
      <p:sp>
        <p:nvSpPr>
          <p:cNvPr id="27" name="Shape 25"/>
          <p:cNvSpPr/>
          <p:nvPr/>
        </p:nvSpPr>
        <p:spPr>
          <a:xfrm>
            <a:off x="384048" y="3456432"/>
            <a:ext cx="384048" cy="384048"/>
          </a:xfrm>
          <a:prstGeom prst="ellipse">
            <a:avLst/>
          </a:prstGeom>
          <a:solidFill>
            <a:srgbClr val="F4A723"/>
          </a:solidFill>
          <a:ln w="12700">
            <a:solidFill>
              <a:srgbClr val="F4A723"/>
            </a:solidFill>
            <a:prstDash val="solid"/>
          </a:ln>
        </p:spPr>
      </p:sp>
      <p:sp>
        <p:nvSpPr>
          <p:cNvPr id="28" name="Text 26"/>
          <p:cNvSpPr/>
          <p:nvPr/>
        </p:nvSpPr>
        <p:spPr>
          <a:xfrm>
            <a:off x="384048" y="3456432"/>
            <a:ext cx="384048" cy="384048"/>
          </a:xfrm>
          <a:prstGeom prst="rect">
            <a:avLst/>
          </a:prstGeom>
          <a:noFill/>
          <a:ln/>
        </p:spPr>
        <p:txBody>
          <a:bodyPr wrap="square" lIns="0" tIns="0" rIns="0" bIns="0" rtlCol="0" anchor="ctr"/>
          <a:lstStyle/>
          <a:p>
            <a:pPr algn="ctr" indent="0" marL="0">
              <a:buNone/>
            </a:pPr>
            <a:r>
              <a:rPr lang="en-US" sz="1400" b="1" dirty="0">
                <a:solidFill>
                  <a:srgbClr val="0D1B2A"/>
                </a:solidFill>
                <a:latin typeface="Trebuchet MS" pitchFamily="34" charset="0"/>
                <a:ea typeface="Trebuchet MS" pitchFamily="34" charset="-122"/>
                <a:cs typeface="Trebuchet MS" pitchFamily="34" charset="-120"/>
              </a:rPr>
              <a:t>4</a:t>
            </a:r>
            <a:endParaRPr lang="en-US" sz="1400" dirty="0"/>
          </a:p>
        </p:txBody>
      </p:sp>
      <p:sp>
        <p:nvSpPr>
          <p:cNvPr id="29" name="Shape 27"/>
          <p:cNvSpPr/>
          <p:nvPr/>
        </p:nvSpPr>
        <p:spPr>
          <a:xfrm>
            <a:off x="914400" y="3374136"/>
            <a:ext cx="7863840" cy="530352"/>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30" name="Shape 28"/>
          <p:cNvSpPr/>
          <p:nvPr/>
        </p:nvSpPr>
        <p:spPr>
          <a:xfrm>
            <a:off x="914400" y="3374136"/>
            <a:ext cx="45720" cy="530352"/>
          </a:xfrm>
          <a:prstGeom prst="rect">
            <a:avLst/>
          </a:prstGeom>
          <a:solidFill>
            <a:srgbClr val="F4A723"/>
          </a:solidFill>
          <a:ln w="12700">
            <a:solidFill>
              <a:srgbClr val="F4A723"/>
            </a:solidFill>
            <a:prstDash val="solid"/>
          </a:ln>
        </p:spPr>
      </p:sp>
      <p:sp>
        <p:nvSpPr>
          <p:cNvPr id="31" name="Text 29"/>
          <p:cNvSpPr/>
          <p:nvPr/>
        </p:nvSpPr>
        <p:spPr>
          <a:xfrm>
            <a:off x="1051560" y="3465576"/>
            <a:ext cx="1920240" cy="329184"/>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Validate</a:t>
            </a:r>
            <a:endParaRPr lang="en-US" sz="1300" dirty="0"/>
          </a:p>
        </p:txBody>
      </p:sp>
      <p:sp>
        <p:nvSpPr>
          <p:cNvPr id="32" name="Text 30"/>
          <p:cNvSpPr/>
          <p:nvPr/>
        </p:nvSpPr>
        <p:spPr>
          <a:xfrm>
            <a:off x="3108960" y="3465576"/>
            <a:ext cx="3017520" cy="329184"/>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Notebook 03 (PySpark)</a:t>
            </a:r>
            <a:endParaRPr lang="en-US" sz="1100" dirty="0"/>
          </a:p>
        </p:txBody>
      </p:sp>
      <p:sp>
        <p:nvSpPr>
          <p:cNvPr id="33" name="Text 31"/>
          <p:cNvSpPr/>
          <p:nvPr/>
        </p:nvSpPr>
        <p:spPr>
          <a:xfrm>
            <a:off x="6217920" y="3465576"/>
            <a:ext cx="2468880" cy="329184"/>
          </a:xfrm>
          <a:prstGeom prst="rect">
            <a:avLst/>
          </a:prstGeom>
          <a:noFill/>
          <a:ln/>
        </p:spPr>
        <p:txBody>
          <a:bodyPr wrap="square" lIns="0" tIns="0" rIns="0" bIns="0" rtlCol="0" anchor="ctr"/>
          <a:lstStyle/>
          <a:p>
            <a:pPr algn="r" indent="0" marL="0">
              <a:buNone/>
            </a:pPr>
            <a:r>
              <a:rPr lang="en-US" sz="1100" dirty="0">
                <a:solidFill>
                  <a:srgbClr val="F4A723"/>
                </a:solidFill>
                <a:latin typeface="Calibri" pitchFamily="34" charset="0"/>
                <a:ea typeface="Calibri" pitchFamily="34" charset="-122"/>
                <a:cs typeface="Calibri" pitchFamily="34" charset="-120"/>
              </a:rPr>
              <a:t>→ 25+ automated test results</a:t>
            </a:r>
            <a:endParaRPr lang="en-US" sz="1100" dirty="0"/>
          </a:p>
        </p:txBody>
      </p:sp>
      <p:sp>
        <p:nvSpPr>
          <p:cNvPr id="34" name="Shape 32"/>
          <p:cNvSpPr/>
          <p:nvPr/>
        </p:nvSpPr>
        <p:spPr>
          <a:xfrm>
            <a:off x="384048" y="4160520"/>
            <a:ext cx="384048" cy="384048"/>
          </a:xfrm>
          <a:prstGeom prst="ellipse">
            <a:avLst/>
          </a:prstGeom>
          <a:solidFill>
            <a:srgbClr val="F4A723"/>
          </a:solidFill>
          <a:ln w="12700">
            <a:solidFill>
              <a:srgbClr val="F4A723"/>
            </a:solidFill>
            <a:prstDash val="solid"/>
          </a:ln>
        </p:spPr>
      </p:sp>
      <p:sp>
        <p:nvSpPr>
          <p:cNvPr id="35" name="Text 33"/>
          <p:cNvSpPr/>
          <p:nvPr/>
        </p:nvSpPr>
        <p:spPr>
          <a:xfrm>
            <a:off x="384048" y="4160520"/>
            <a:ext cx="384048" cy="384048"/>
          </a:xfrm>
          <a:prstGeom prst="rect">
            <a:avLst/>
          </a:prstGeom>
          <a:noFill/>
          <a:ln/>
        </p:spPr>
        <p:txBody>
          <a:bodyPr wrap="square" lIns="0" tIns="0" rIns="0" bIns="0" rtlCol="0" anchor="ctr"/>
          <a:lstStyle/>
          <a:p>
            <a:pPr algn="ctr" indent="0" marL="0">
              <a:buNone/>
            </a:pPr>
            <a:r>
              <a:rPr lang="en-US" sz="1400" b="1" dirty="0">
                <a:solidFill>
                  <a:srgbClr val="0D1B2A"/>
                </a:solidFill>
                <a:latin typeface="Trebuchet MS" pitchFamily="34" charset="0"/>
                <a:ea typeface="Trebuchet MS" pitchFamily="34" charset="-122"/>
                <a:cs typeface="Trebuchet MS" pitchFamily="34" charset="-120"/>
              </a:rPr>
              <a:t>5</a:t>
            </a:r>
            <a:endParaRPr lang="en-US" sz="1400" dirty="0"/>
          </a:p>
        </p:txBody>
      </p:sp>
      <p:sp>
        <p:nvSpPr>
          <p:cNvPr id="36" name="Shape 34"/>
          <p:cNvSpPr/>
          <p:nvPr/>
        </p:nvSpPr>
        <p:spPr>
          <a:xfrm>
            <a:off x="914400" y="4078224"/>
            <a:ext cx="7863840" cy="530352"/>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37" name="Shape 35"/>
          <p:cNvSpPr/>
          <p:nvPr/>
        </p:nvSpPr>
        <p:spPr>
          <a:xfrm>
            <a:off x="914400" y="4078224"/>
            <a:ext cx="45720" cy="530352"/>
          </a:xfrm>
          <a:prstGeom prst="rect">
            <a:avLst/>
          </a:prstGeom>
          <a:solidFill>
            <a:srgbClr val="F4A723"/>
          </a:solidFill>
          <a:ln w="12700">
            <a:solidFill>
              <a:srgbClr val="F4A723"/>
            </a:solidFill>
            <a:prstDash val="solid"/>
          </a:ln>
        </p:spPr>
      </p:sp>
      <p:sp>
        <p:nvSpPr>
          <p:cNvPr id="38" name="Text 36"/>
          <p:cNvSpPr/>
          <p:nvPr/>
        </p:nvSpPr>
        <p:spPr>
          <a:xfrm>
            <a:off x="1051560" y="4169664"/>
            <a:ext cx="1920240" cy="329184"/>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Visualise</a:t>
            </a:r>
            <a:endParaRPr lang="en-US" sz="1300" dirty="0"/>
          </a:p>
        </p:txBody>
      </p:sp>
      <p:sp>
        <p:nvSpPr>
          <p:cNvPr id="39" name="Text 37"/>
          <p:cNvSpPr/>
          <p:nvPr/>
        </p:nvSpPr>
        <p:spPr>
          <a:xfrm>
            <a:off x="3108960" y="4169664"/>
            <a:ext cx="3017520" cy="329184"/>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Power BI DirectLake</a:t>
            </a:r>
            <a:endParaRPr lang="en-US" sz="1100" dirty="0"/>
          </a:p>
        </p:txBody>
      </p:sp>
      <p:sp>
        <p:nvSpPr>
          <p:cNvPr id="40" name="Text 38"/>
          <p:cNvSpPr/>
          <p:nvPr/>
        </p:nvSpPr>
        <p:spPr>
          <a:xfrm>
            <a:off x="6217920" y="4169664"/>
            <a:ext cx="2468880" cy="329184"/>
          </a:xfrm>
          <a:prstGeom prst="rect">
            <a:avLst/>
          </a:prstGeom>
          <a:noFill/>
          <a:ln/>
        </p:spPr>
        <p:txBody>
          <a:bodyPr wrap="square" lIns="0" tIns="0" rIns="0" bIns="0" rtlCol="0" anchor="ctr"/>
          <a:lstStyle/>
          <a:p>
            <a:pPr algn="r" indent="0" marL="0">
              <a:buNone/>
            </a:pPr>
            <a:r>
              <a:rPr lang="en-US" sz="1100" dirty="0">
                <a:solidFill>
                  <a:srgbClr val="F4A723"/>
                </a:solidFill>
                <a:latin typeface="Calibri" pitchFamily="34" charset="0"/>
                <a:ea typeface="Calibri" pitchFamily="34" charset="-122"/>
                <a:cs typeface="Calibri" pitchFamily="34" charset="-120"/>
              </a:rPr>
              <a:t>→ 5-page interactive dashboard</a:t>
            </a:r>
            <a:endParaRPr lang="en-US" sz="1100" dirty="0"/>
          </a:p>
        </p:txBody>
      </p:sp>
      <p:sp>
        <p:nvSpPr>
          <p:cNvPr id="41" name="Text 39"/>
          <p:cNvSpPr/>
          <p:nvPr/>
        </p:nvSpPr>
        <p:spPr>
          <a:xfrm>
            <a:off x="457200" y="4828032"/>
            <a:ext cx="8229600" cy="237744"/>
          </a:xfrm>
          <a:prstGeom prst="rect">
            <a:avLst/>
          </a:prstGeom>
          <a:noFill/>
          <a:ln/>
        </p:spPr>
        <p:txBody>
          <a:bodyPr wrap="square" lIns="0" tIns="0" rIns="0" bIns="0" rtlCol="0" anchor="ctr"/>
          <a:lstStyle/>
          <a:p>
            <a:pPr algn="ctr" indent="0" marL="0">
              <a:buNone/>
            </a:pPr>
            <a:r>
              <a:rPr lang="en-US" sz="1000" i="1" dirty="0">
                <a:solidFill>
                  <a:srgbClr val="8FA8C0"/>
                </a:solidFill>
                <a:latin typeface="Calibri" pitchFamily="34" charset="0"/>
                <a:ea typeface="Calibri" pitchFamily="34" charset="-122"/>
                <a:cs typeface="Calibri" pitchFamily="34" charset="-120"/>
              </a:rPr>
              <a:t>Silver transformations: null handling · deduplication · type casting · derived columns (shot_pct, faceoff_win_pct, save_pct)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1280160" cy="237744"/>
          </a:xfrm>
          <a:prstGeom prst="rect">
            <a:avLst/>
          </a:prstGeom>
          <a:solidFill>
            <a:srgbClr val="F4A723"/>
          </a:solidFill>
          <a:ln w="12700">
            <a:solidFill>
              <a:srgbClr val="F4A723"/>
            </a:solidFill>
            <a:prstDash val="solid"/>
          </a:ln>
          <a:effectLst>
            <a:outerShdw sx="100000" sy="100000" kx="0" ky="0" algn="bl" rotWithShape="0" blurRad="101600" dist="38100" dir="8100000">
              <a:srgbClr val="000000">
                <a:alpha val="18000"/>
              </a:srgbClr>
            </a:outerShdw>
          </a:effectLst>
        </p:spPr>
      </p:sp>
      <p:sp>
        <p:nvSpPr>
          <p:cNvPr id="3" name="Text 1"/>
          <p:cNvSpPr/>
          <p:nvPr/>
        </p:nvSpPr>
        <p:spPr>
          <a:xfrm>
            <a:off x="457200" y="256032"/>
            <a:ext cx="1280160" cy="237744"/>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05 — EDA</a:t>
            </a:r>
            <a:endParaRPr lang="en-US" sz="900" dirty="0"/>
          </a:p>
        </p:txBody>
      </p:sp>
      <p:sp>
        <p:nvSpPr>
          <p:cNvPr id="4" name="Shape 2"/>
          <p:cNvSpPr/>
          <p:nvPr/>
        </p:nvSpPr>
        <p:spPr>
          <a:xfrm>
            <a:off x="457200" y="621792"/>
            <a:ext cx="50292" cy="475488"/>
          </a:xfrm>
          <a:prstGeom prst="rect">
            <a:avLst/>
          </a:prstGeom>
          <a:solidFill>
            <a:srgbClr val="F4A723"/>
          </a:solidFill>
          <a:ln w="12700">
            <a:solidFill>
              <a:srgbClr val="F4A723"/>
            </a:solidFill>
            <a:prstDash val="solid"/>
          </a:ln>
        </p:spPr>
      </p:sp>
      <p:sp>
        <p:nvSpPr>
          <p:cNvPr id="5" name="Text 3"/>
          <p:cNvSpPr/>
          <p:nvPr/>
        </p:nvSpPr>
        <p:spPr>
          <a:xfrm>
            <a:off x="621792" y="621792"/>
            <a:ext cx="822960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Trebuchet MS" pitchFamily="34" charset="0"/>
                <a:ea typeface="Trebuchet MS" pitchFamily="34" charset="-122"/>
                <a:cs typeface="Trebuchet MS" pitchFamily="34" charset="-120"/>
              </a:rPr>
              <a:t>EDA &amp; Key Findings</a:t>
            </a:r>
            <a:endParaRPr lang="en-US" sz="2800" dirty="0"/>
          </a:p>
        </p:txBody>
      </p:sp>
      <p:sp>
        <p:nvSpPr>
          <p:cNvPr id="6" name="Shape 4"/>
          <p:cNvSpPr/>
          <p:nvPr/>
        </p:nvSpPr>
        <p:spPr>
          <a:xfrm>
            <a:off x="365760" y="1234440"/>
            <a:ext cx="4069080" cy="987552"/>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65760" y="1234440"/>
            <a:ext cx="64008" cy="987552"/>
          </a:xfrm>
          <a:prstGeom prst="rect">
            <a:avLst/>
          </a:prstGeom>
          <a:solidFill>
            <a:srgbClr val="F4A723"/>
          </a:solidFill>
          <a:ln w="12700">
            <a:solidFill>
              <a:srgbClr val="F4A723"/>
            </a:solidFill>
            <a:prstDash val="solid"/>
          </a:ln>
        </p:spPr>
      </p:sp>
      <p:sp>
        <p:nvSpPr>
          <p:cNvPr id="8" name="Text 6"/>
          <p:cNvSpPr/>
          <p:nvPr/>
        </p:nvSpPr>
        <p:spPr>
          <a:xfrm>
            <a:off x="475488" y="1234440"/>
            <a:ext cx="658368" cy="98755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9" name="Shape 7"/>
          <p:cNvSpPr/>
          <p:nvPr/>
        </p:nvSpPr>
        <p:spPr>
          <a:xfrm>
            <a:off x="1143000" y="1371600"/>
            <a:ext cx="36576" cy="713232"/>
          </a:xfrm>
          <a:prstGeom prst="rect">
            <a:avLst/>
          </a:prstGeom>
          <a:solidFill>
            <a:srgbClr val="1A2E45"/>
          </a:solidFill>
          <a:ln w="6350">
            <a:solidFill>
              <a:srgbClr val="2A4A6A"/>
            </a:solidFill>
            <a:prstDash val="solid"/>
          </a:ln>
        </p:spPr>
      </p:sp>
      <p:sp>
        <p:nvSpPr>
          <p:cNvPr id="10" name="Text 8"/>
          <p:cNvSpPr/>
          <p:nvPr/>
        </p:nvSpPr>
        <p:spPr>
          <a:xfrm>
            <a:off x="1298448" y="1325880"/>
            <a:ext cx="3044952" cy="292608"/>
          </a:xfrm>
          <a:prstGeom prst="rect">
            <a:avLst/>
          </a:prstGeom>
          <a:noFill/>
          <a:ln/>
        </p:spPr>
        <p:txBody>
          <a:bodyPr wrap="square" lIns="0" tIns="0" rIns="0" bIns="0" rtlCol="0" anchor="ctr"/>
          <a:lstStyle/>
          <a:p>
            <a:pPr algn="l" indent="0" marL="0">
              <a:buNone/>
            </a:pPr>
            <a:r>
              <a:rPr lang="en-US" sz="1200" b="1" dirty="0">
                <a:solidFill>
                  <a:srgbClr val="F4A723"/>
                </a:solidFill>
                <a:latin typeface="Trebuchet MS" pitchFamily="34" charset="0"/>
                <a:ea typeface="Trebuchet MS" pitchFamily="34" charset="-122"/>
                <a:cs typeface="Trebuchet MS" pitchFamily="34" charset="-120"/>
              </a:rPr>
              <a:t>Home Ice Advantage?</a:t>
            </a:r>
            <a:endParaRPr lang="en-US" sz="1200" dirty="0"/>
          </a:p>
        </p:txBody>
      </p:sp>
      <p:sp>
        <p:nvSpPr>
          <p:cNvPr id="11" name="Text 9"/>
          <p:cNvSpPr/>
          <p:nvPr/>
        </p:nvSpPr>
        <p:spPr>
          <a:xfrm>
            <a:off x="1298448" y="1655064"/>
            <a:ext cx="3044952" cy="475488"/>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Home teams win 54–57% of regular season games</a:t>
            </a:r>
            <a:endParaRPr lang="en-US" sz="1100" dirty="0"/>
          </a:p>
        </p:txBody>
      </p:sp>
      <p:sp>
        <p:nvSpPr>
          <p:cNvPr id="12" name="Shape 10"/>
          <p:cNvSpPr/>
          <p:nvPr/>
        </p:nvSpPr>
        <p:spPr>
          <a:xfrm>
            <a:off x="4892040" y="1234440"/>
            <a:ext cx="4069080" cy="987552"/>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4892040" y="1234440"/>
            <a:ext cx="64008" cy="987552"/>
          </a:xfrm>
          <a:prstGeom prst="rect">
            <a:avLst/>
          </a:prstGeom>
          <a:solidFill>
            <a:srgbClr val="F4A723"/>
          </a:solidFill>
          <a:ln w="12700">
            <a:solidFill>
              <a:srgbClr val="F4A723"/>
            </a:solidFill>
            <a:prstDash val="solid"/>
          </a:ln>
        </p:spPr>
      </p:sp>
      <p:sp>
        <p:nvSpPr>
          <p:cNvPr id="14" name="Text 12"/>
          <p:cNvSpPr/>
          <p:nvPr/>
        </p:nvSpPr>
        <p:spPr>
          <a:xfrm>
            <a:off x="5001768" y="1234440"/>
            <a:ext cx="658368" cy="98755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Shape 13"/>
          <p:cNvSpPr/>
          <p:nvPr/>
        </p:nvSpPr>
        <p:spPr>
          <a:xfrm>
            <a:off x="5669280" y="1371600"/>
            <a:ext cx="36576" cy="713232"/>
          </a:xfrm>
          <a:prstGeom prst="rect">
            <a:avLst/>
          </a:prstGeom>
          <a:solidFill>
            <a:srgbClr val="1A2E45"/>
          </a:solidFill>
          <a:ln w="6350">
            <a:solidFill>
              <a:srgbClr val="2A4A6A"/>
            </a:solidFill>
            <a:prstDash val="solid"/>
          </a:ln>
        </p:spPr>
      </p:sp>
      <p:sp>
        <p:nvSpPr>
          <p:cNvPr id="16" name="Text 14"/>
          <p:cNvSpPr/>
          <p:nvPr/>
        </p:nvSpPr>
        <p:spPr>
          <a:xfrm>
            <a:off x="5824728" y="1325880"/>
            <a:ext cx="3044952" cy="292608"/>
          </a:xfrm>
          <a:prstGeom prst="rect">
            <a:avLst/>
          </a:prstGeom>
          <a:noFill/>
          <a:ln/>
        </p:spPr>
        <p:txBody>
          <a:bodyPr wrap="square" lIns="0" tIns="0" rIns="0" bIns="0" rtlCol="0" anchor="ctr"/>
          <a:lstStyle/>
          <a:p>
            <a:pPr algn="l" indent="0" marL="0">
              <a:buNone/>
            </a:pPr>
            <a:r>
              <a:rPr lang="en-US" sz="1200" b="1" dirty="0">
                <a:solidFill>
                  <a:srgbClr val="F4A723"/>
                </a:solidFill>
                <a:latin typeface="Trebuchet MS" pitchFamily="34" charset="0"/>
                <a:ea typeface="Trebuchet MS" pitchFamily="34" charset="-122"/>
                <a:cs typeface="Trebuchet MS" pitchFamily="34" charset="-120"/>
              </a:rPr>
              <a:t>What Drives Wins?</a:t>
            </a:r>
            <a:endParaRPr lang="en-US" sz="1200" dirty="0"/>
          </a:p>
        </p:txBody>
      </p:sp>
      <p:sp>
        <p:nvSpPr>
          <p:cNvPr id="17" name="Text 15"/>
          <p:cNvSpPr/>
          <p:nvPr/>
        </p:nvSpPr>
        <p:spPr>
          <a:xfrm>
            <a:off x="5824728" y="1655064"/>
            <a:ext cx="3044952" cy="475488"/>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Shot volume, faceoff win% &amp; power play efficiency</a:t>
            </a:r>
            <a:endParaRPr lang="en-US" sz="1100" dirty="0"/>
          </a:p>
        </p:txBody>
      </p:sp>
      <p:sp>
        <p:nvSpPr>
          <p:cNvPr id="18" name="Shape 16"/>
          <p:cNvSpPr/>
          <p:nvPr/>
        </p:nvSpPr>
        <p:spPr>
          <a:xfrm>
            <a:off x="365760" y="2386584"/>
            <a:ext cx="4069080" cy="987552"/>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365760" y="2386584"/>
            <a:ext cx="64008" cy="987552"/>
          </a:xfrm>
          <a:prstGeom prst="rect">
            <a:avLst/>
          </a:prstGeom>
          <a:solidFill>
            <a:srgbClr val="F4A723"/>
          </a:solidFill>
          <a:ln w="12700">
            <a:solidFill>
              <a:srgbClr val="F4A723"/>
            </a:solidFill>
            <a:prstDash val="solid"/>
          </a:ln>
        </p:spPr>
      </p:sp>
      <p:sp>
        <p:nvSpPr>
          <p:cNvPr id="20" name="Text 18"/>
          <p:cNvSpPr/>
          <p:nvPr/>
        </p:nvSpPr>
        <p:spPr>
          <a:xfrm>
            <a:off x="475488" y="2386584"/>
            <a:ext cx="658368" cy="98755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Shape 19"/>
          <p:cNvSpPr/>
          <p:nvPr/>
        </p:nvSpPr>
        <p:spPr>
          <a:xfrm>
            <a:off x="1143000" y="2523744"/>
            <a:ext cx="36576" cy="713232"/>
          </a:xfrm>
          <a:prstGeom prst="rect">
            <a:avLst/>
          </a:prstGeom>
          <a:solidFill>
            <a:srgbClr val="1A2E45"/>
          </a:solidFill>
          <a:ln w="6350">
            <a:solidFill>
              <a:srgbClr val="2A4A6A"/>
            </a:solidFill>
            <a:prstDash val="solid"/>
          </a:ln>
        </p:spPr>
      </p:sp>
      <p:sp>
        <p:nvSpPr>
          <p:cNvPr id="22" name="Text 20"/>
          <p:cNvSpPr/>
          <p:nvPr/>
        </p:nvSpPr>
        <p:spPr>
          <a:xfrm>
            <a:off x="1298448" y="2478024"/>
            <a:ext cx="3044952" cy="292608"/>
          </a:xfrm>
          <a:prstGeom prst="rect">
            <a:avLst/>
          </a:prstGeom>
          <a:noFill/>
          <a:ln/>
        </p:spPr>
        <p:txBody>
          <a:bodyPr wrap="square" lIns="0" tIns="0" rIns="0" bIns="0" rtlCol="0" anchor="ctr"/>
          <a:lstStyle/>
          <a:p>
            <a:pPr algn="l" indent="0" marL="0">
              <a:buNone/>
            </a:pPr>
            <a:r>
              <a:rPr lang="en-US" sz="1200" b="1" dirty="0">
                <a:solidFill>
                  <a:srgbClr val="F4A723"/>
                </a:solidFill>
                <a:latin typeface="Trebuchet MS" pitchFamily="34" charset="0"/>
                <a:ea typeface="Trebuchet MS" pitchFamily="34" charset="-122"/>
                <a:cs typeface="Trebuchet MS" pitchFamily="34" charset="-120"/>
              </a:rPr>
              <a:t>Top Scoring Teams?</a:t>
            </a:r>
            <a:endParaRPr lang="en-US" sz="1200" dirty="0"/>
          </a:p>
        </p:txBody>
      </p:sp>
      <p:sp>
        <p:nvSpPr>
          <p:cNvPr id="23" name="Text 21"/>
          <p:cNvSpPr/>
          <p:nvPr/>
        </p:nvSpPr>
        <p:spPr>
          <a:xfrm>
            <a:off x="1298448" y="2807208"/>
            <a:ext cx="3044952" cy="475488"/>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Best teams: 3.0+ goals/game, &gt;10% shot conversion</a:t>
            </a:r>
            <a:endParaRPr lang="en-US" sz="1100" dirty="0"/>
          </a:p>
        </p:txBody>
      </p:sp>
      <p:sp>
        <p:nvSpPr>
          <p:cNvPr id="24" name="Shape 22"/>
          <p:cNvSpPr/>
          <p:nvPr/>
        </p:nvSpPr>
        <p:spPr>
          <a:xfrm>
            <a:off x="4892040" y="2386584"/>
            <a:ext cx="4069080" cy="987552"/>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4892040" y="2386584"/>
            <a:ext cx="64008" cy="987552"/>
          </a:xfrm>
          <a:prstGeom prst="rect">
            <a:avLst/>
          </a:prstGeom>
          <a:solidFill>
            <a:srgbClr val="F4A723"/>
          </a:solidFill>
          <a:ln w="12700">
            <a:solidFill>
              <a:srgbClr val="F4A723"/>
            </a:solidFill>
            <a:prstDash val="solid"/>
          </a:ln>
        </p:spPr>
      </p:sp>
      <p:sp>
        <p:nvSpPr>
          <p:cNvPr id="26" name="Text 24"/>
          <p:cNvSpPr/>
          <p:nvPr/>
        </p:nvSpPr>
        <p:spPr>
          <a:xfrm>
            <a:off x="5001768" y="2386584"/>
            <a:ext cx="658368" cy="98755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7" name="Shape 25"/>
          <p:cNvSpPr/>
          <p:nvPr/>
        </p:nvSpPr>
        <p:spPr>
          <a:xfrm>
            <a:off x="5669280" y="2523744"/>
            <a:ext cx="36576" cy="713232"/>
          </a:xfrm>
          <a:prstGeom prst="rect">
            <a:avLst/>
          </a:prstGeom>
          <a:solidFill>
            <a:srgbClr val="1A2E45"/>
          </a:solidFill>
          <a:ln w="6350">
            <a:solidFill>
              <a:srgbClr val="2A4A6A"/>
            </a:solidFill>
            <a:prstDash val="solid"/>
          </a:ln>
        </p:spPr>
      </p:sp>
      <p:sp>
        <p:nvSpPr>
          <p:cNvPr id="28" name="Text 26"/>
          <p:cNvSpPr/>
          <p:nvPr/>
        </p:nvSpPr>
        <p:spPr>
          <a:xfrm>
            <a:off x="5824728" y="2478024"/>
            <a:ext cx="3044952" cy="292608"/>
          </a:xfrm>
          <a:prstGeom prst="rect">
            <a:avLst/>
          </a:prstGeom>
          <a:noFill/>
          <a:ln/>
        </p:spPr>
        <p:txBody>
          <a:bodyPr wrap="square" lIns="0" tIns="0" rIns="0" bIns="0" rtlCol="0" anchor="ctr"/>
          <a:lstStyle/>
          <a:p>
            <a:pPr algn="l" indent="0" marL="0">
              <a:buNone/>
            </a:pPr>
            <a:r>
              <a:rPr lang="en-US" sz="1200" b="1" dirty="0">
                <a:solidFill>
                  <a:srgbClr val="F4A723"/>
                </a:solidFill>
                <a:latin typeface="Trebuchet MS" pitchFamily="34" charset="0"/>
                <a:ea typeface="Trebuchet MS" pitchFamily="34" charset="-122"/>
                <a:cs typeface="Trebuchet MS" pitchFamily="34" charset="-120"/>
              </a:rPr>
              <a:t>Best Period for Goals?</a:t>
            </a:r>
            <a:endParaRPr lang="en-US" sz="1200" dirty="0"/>
          </a:p>
        </p:txBody>
      </p:sp>
      <p:sp>
        <p:nvSpPr>
          <p:cNvPr id="29" name="Text 27"/>
          <p:cNvSpPr/>
          <p:nvPr/>
        </p:nvSpPr>
        <p:spPr>
          <a:xfrm>
            <a:off x="5824728" y="2807208"/>
            <a:ext cx="3044952" cy="475488"/>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2nd period produces the most goals across all seasons</a:t>
            </a:r>
            <a:endParaRPr lang="en-US" sz="1100" dirty="0"/>
          </a:p>
        </p:txBody>
      </p:sp>
      <p:sp>
        <p:nvSpPr>
          <p:cNvPr id="30" name="Shape 28"/>
          <p:cNvSpPr/>
          <p:nvPr/>
        </p:nvSpPr>
        <p:spPr>
          <a:xfrm>
            <a:off x="365760" y="3538728"/>
            <a:ext cx="4069080" cy="987552"/>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31" name="Shape 29"/>
          <p:cNvSpPr/>
          <p:nvPr/>
        </p:nvSpPr>
        <p:spPr>
          <a:xfrm>
            <a:off x="365760" y="3538728"/>
            <a:ext cx="64008" cy="987552"/>
          </a:xfrm>
          <a:prstGeom prst="rect">
            <a:avLst/>
          </a:prstGeom>
          <a:solidFill>
            <a:srgbClr val="F4A723"/>
          </a:solidFill>
          <a:ln w="12700">
            <a:solidFill>
              <a:srgbClr val="F4A723"/>
            </a:solidFill>
            <a:prstDash val="solid"/>
          </a:ln>
        </p:spPr>
      </p:sp>
      <p:sp>
        <p:nvSpPr>
          <p:cNvPr id="32" name="Text 30"/>
          <p:cNvSpPr/>
          <p:nvPr/>
        </p:nvSpPr>
        <p:spPr>
          <a:xfrm>
            <a:off x="475488" y="3538728"/>
            <a:ext cx="658368" cy="98755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3" name="Shape 31"/>
          <p:cNvSpPr/>
          <p:nvPr/>
        </p:nvSpPr>
        <p:spPr>
          <a:xfrm>
            <a:off x="1143000" y="3675888"/>
            <a:ext cx="36576" cy="713232"/>
          </a:xfrm>
          <a:prstGeom prst="rect">
            <a:avLst/>
          </a:prstGeom>
          <a:solidFill>
            <a:srgbClr val="1A2E45"/>
          </a:solidFill>
          <a:ln w="6350">
            <a:solidFill>
              <a:srgbClr val="2A4A6A"/>
            </a:solidFill>
            <a:prstDash val="solid"/>
          </a:ln>
        </p:spPr>
      </p:sp>
      <p:sp>
        <p:nvSpPr>
          <p:cNvPr id="34" name="Text 32"/>
          <p:cNvSpPr/>
          <p:nvPr/>
        </p:nvSpPr>
        <p:spPr>
          <a:xfrm>
            <a:off x="1298448" y="3630168"/>
            <a:ext cx="3044952" cy="292608"/>
          </a:xfrm>
          <a:prstGeom prst="rect">
            <a:avLst/>
          </a:prstGeom>
          <a:noFill/>
          <a:ln/>
        </p:spPr>
        <p:txBody>
          <a:bodyPr wrap="square" lIns="0" tIns="0" rIns="0" bIns="0" rtlCol="0" anchor="ctr"/>
          <a:lstStyle/>
          <a:p>
            <a:pPr algn="l" indent="0" marL="0">
              <a:buNone/>
            </a:pPr>
            <a:r>
              <a:rPr lang="en-US" sz="1200" b="1" dirty="0">
                <a:solidFill>
                  <a:srgbClr val="F4A723"/>
                </a:solidFill>
                <a:latin typeface="Trebuchet MS" pitchFamily="34" charset="0"/>
                <a:ea typeface="Trebuchet MS" pitchFamily="34" charset="-122"/>
                <a:cs typeface="Trebuchet MS" pitchFamily="34" charset="-120"/>
              </a:rPr>
              <a:t>Elite Goalies?</a:t>
            </a:r>
            <a:endParaRPr lang="en-US" sz="1200" dirty="0"/>
          </a:p>
        </p:txBody>
      </p:sp>
      <p:sp>
        <p:nvSpPr>
          <p:cNvPr id="35" name="Text 33"/>
          <p:cNvSpPr/>
          <p:nvPr/>
        </p:nvSpPr>
        <p:spPr>
          <a:xfrm>
            <a:off x="1298448" y="3959352"/>
            <a:ext cx="3044952" cy="475488"/>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Elite save% above 0.920; league median is ~0.910</a:t>
            </a:r>
            <a:endParaRPr lang="en-US" sz="1100" dirty="0"/>
          </a:p>
        </p:txBody>
      </p:sp>
      <p:sp>
        <p:nvSpPr>
          <p:cNvPr id="36" name="Shape 34"/>
          <p:cNvSpPr/>
          <p:nvPr/>
        </p:nvSpPr>
        <p:spPr>
          <a:xfrm>
            <a:off x="4892040" y="3538728"/>
            <a:ext cx="4069080" cy="987552"/>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37" name="Shape 35"/>
          <p:cNvSpPr/>
          <p:nvPr/>
        </p:nvSpPr>
        <p:spPr>
          <a:xfrm>
            <a:off x="4892040" y="3538728"/>
            <a:ext cx="64008" cy="987552"/>
          </a:xfrm>
          <a:prstGeom prst="rect">
            <a:avLst/>
          </a:prstGeom>
          <a:solidFill>
            <a:srgbClr val="F4A723"/>
          </a:solidFill>
          <a:ln w="12700">
            <a:solidFill>
              <a:srgbClr val="F4A723"/>
            </a:solidFill>
            <a:prstDash val="solid"/>
          </a:ln>
        </p:spPr>
      </p:sp>
      <p:sp>
        <p:nvSpPr>
          <p:cNvPr id="38" name="Text 36"/>
          <p:cNvSpPr/>
          <p:nvPr/>
        </p:nvSpPr>
        <p:spPr>
          <a:xfrm>
            <a:off x="5001768" y="3538728"/>
            <a:ext cx="658368" cy="98755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9" name="Shape 37"/>
          <p:cNvSpPr/>
          <p:nvPr/>
        </p:nvSpPr>
        <p:spPr>
          <a:xfrm>
            <a:off x="5669280" y="3675888"/>
            <a:ext cx="36576" cy="713232"/>
          </a:xfrm>
          <a:prstGeom prst="rect">
            <a:avLst/>
          </a:prstGeom>
          <a:solidFill>
            <a:srgbClr val="1A2E45"/>
          </a:solidFill>
          <a:ln w="6350">
            <a:solidFill>
              <a:srgbClr val="2A4A6A"/>
            </a:solidFill>
            <a:prstDash val="solid"/>
          </a:ln>
        </p:spPr>
      </p:sp>
      <p:sp>
        <p:nvSpPr>
          <p:cNvPr id="40" name="Text 38"/>
          <p:cNvSpPr/>
          <p:nvPr/>
        </p:nvSpPr>
        <p:spPr>
          <a:xfrm>
            <a:off x="5824728" y="3630168"/>
            <a:ext cx="3044952" cy="292608"/>
          </a:xfrm>
          <a:prstGeom prst="rect">
            <a:avLst/>
          </a:prstGeom>
          <a:noFill/>
          <a:ln/>
        </p:spPr>
        <p:txBody>
          <a:bodyPr wrap="square" lIns="0" tIns="0" rIns="0" bIns="0" rtlCol="0" anchor="ctr"/>
          <a:lstStyle/>
          <a:p>
            <a:pPr algn="l" indent="0" marL="0">
              <a:buNone/>
            </a:pPr>
            <a:r>
              <a:rPr lang="en-US" sz="1200" b="1" dirty="0">
                <a:solidFill>
                  <a:srgbClr val="F4A723"/>
                </a:solidFill>
                <a:latin typeface="Trebuchet MS" pitchFamily="34" charset="0"/>
                <a:ea typeface="Trebuchet MS" pitchFamily="34" charset="-122"/>
                <a:cs typeface="Trebuchet MS" pitchFamily="34" charset="-120"/>
              </a:rPr>
              <a:t>Where Are Goals Scored?</a:t>
            </a:r>
            <a:endParaRPr lang="en-US" sz="1200" dirty="0"/>
          </a:p>
        </p:txBody>
      </p:sp>
      <p:sp>
        <p:nvSpPr>
          <p:cNvPr id="41" name="Text 39"/>
          <p:cNvSpPr/>
          <p:nvPr/>
        </p:nvSpPr>
        <p:spPr>
          <a:xfrm>
            <a:off x="5824728" y="3959352"/>
            <a:ext cx="3044952" cy="475488"/>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70%+ of goals from within 30ft of net (slot area)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1452067" cy="237744"/>
          </a:xfrm>
          <a:prstGeom prst="rect">
            <a:avLst/>
          </a:prstGeom>
          <a:solidFill>
            <a:srgbClr val="F4A723"/>
          </a:solidFill>
          <a:ln w="12700">
            <a:solidFill>
              <a:srgbClr val="F4A723"/>
            </a:solidFill>
            <a:prstDash val="solid"/>
          </a:ln>
          <a:effectLst>
            <a:outerShdw sx="100000" sy="100000" kx="0" ky="0" algn="bl" rotWithShape="0" blurRad="101600" dist="38100" dir="8100000">
              <a:srgbClr val="000000">
                <a:alpha val="18000"/>
              </a:srgbClr>
            </a:outerShdw>
          </a:effectLst>
        </p:spPr>
      </p:sp>
      <p:sp>
        <p:nvSpPr>
          <p:cNvPr id="3" name="Text 1"/>
          <p:cNvSpPr/>
          <p:nvPr/>
        </p:nvSpPr>
        <p:spPr>
          <a:xfrm>
            <a:off x="457200" y="256032"/>
            <a:ext cx="1452067" cy="237744"/>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06 — DASHBOARD</a:t>
            </a:r>
            <a:endParaRPr lang="en-US" sz="900" dirty="0"/>
          </a:p>
        </p:txBody>
      </p:sp>
      <p:sp>
        <p:nvSpPr>
          <p:cNvPr id="4" name="Shape 2"/>
          <p:cNvSpPr/>
          <p:nvPr/>
        </p:nvSpPr>
        <p:spPr>
          <a:xfrm>
            <a:off x="457200" y="621792"/>
            <a:ext cx="50292" cy="475488"/>
          </a:xfrm>
          <a:prstGeom prst="rect">
            <a:avLst/>
          </a:prstGeom>
          <a:solidFill>
            <a:srgbClr val="F4A723"/>
          </a:solidFill>
          <a:ln w="12700">
            <a:solidFill>
              <a:srgbClr val="F4A723"/>
            </a:solidFill>
            <a:prstDash val="solid"/>
          </a:ln>
        </p:spPr>
      </p:sp>
      <p:sp>
        <p:nvSpPr>
          <p:cNvPr id="5" name="Text 3"/>
          <p:cNvSpPr/>
          <p:nvPr/>
        </p:nvSpPr>
        <p:spPr>
          <a:xfrm>
            <a:off x="621792" y="621792"/>
            <a:ext cx="822960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Trebuchet MS" pitchFamily="34" charset="0"/>
                <a:ea typeface="Trebuchet MS" pitchFamily="34" charset="-122"/>
                <a:cs typeface="Trebuchet MS" pitchFamily="34" charset="-120"/>
              </a:rPr>
              <a:t>Power BI Dashboard — 6 Pages</a:t>
            </a:r>
            <a:endParaRPr lang="en-US" sz="2800" dirty="0"/>
          </a:p>
        </p:txBody>
      </p:sp>
      <p:sp>
        <p:nvSpPr>
          <p:cNvPr id="6" name="Shape 4"/>
          <p:cNvSpPr/>
          <p:nvPr/>
        </p:nvSpPr>
        <p:spPr>
          <a:xfrm>
            <a:off x="365760" y="1170432"/>
            <a:ext cx="8412480" cy="50292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65760" y="1170432"/>
            <a:ext cx="502920" cy="502920"/>
          </a:xfrm>
          <a:prstGeom prst="rect">
            <a:avLst/>
          </a:prstGeom>
          <a:solidFill>
            <a:srgbClr val="F4A723"/>
          </a:solidFill>
          <a:ln w="12700">
            <a:solidFill>
              <a:srgbClr val="F4A723"/>
            </a:solidFill>
            <a:prstDash val="solid"/>
          </a:ln>
        </p:spPr>
      </p:sp>
      <p:sp>
        <p:nvSpPr>
          <p:cNvPr id="8" name="Text 6"/>
          <p:cNvSpPr/>
          <p:nvPr/>
        </p:nvSpPr>
        <p:spPr>
          <a:xfrm>
            <a:off x="365760" y="1170432"/>
            <a:ext cx="502920" cy="502920"/>
          </a:xfrm>
          <a:prstGeom prst="rect">
            <a:avLst/>
          </a:prstGeom>
          <a:noFill/>
          <a:ln/>
        </p:spPr>
        <p:txBody>
          <a:bodyPr wrap="square" lIns="0" tIns="0" rIns="0" bIns="0" rtlCol="0" anchor="ctr"/>
          <a:lstStyle/>
          <a:p>
            <a:pPr algn="ctr" indent="0" marL="0">
              <a:buNone/>
            </a:pPr>
            <a:r>
              <a:rPr lang="en-US" sz="1300" b="1" dirty="0">
                <a:solidFill>
                  <a:srgbClr val="0D1B2A"/>
                </a:solidFill>
                <a:latin typeface="Trebuchet MS" pitchFamily="34" charset="0"/>
                <a:ea typeface="Trebuchet MS" pitchFamily="34" charset="-122"/>
                <a:cs typeface="Trebuchet MS" pitchFamily="34" charset="-120"/>
              </a:rPr>
              <a:t>P1</a:t>
            </a:r>
            <a:endParaRPr lang="en-US" sz="1300" dirty="0"/>
          </a:p>
        </p:txBody>
      </p:sp>
      <p:sp>
        <p:nvSpPr>
          <p:cNvPr id="9" name="Text 7"/>
          <p:cNvSpPr/>
          <p:nvPr/>
        </p:nvSpPr>
        <p:spPr>
          <a:xfrm>
            <a:off x="1005840" y="1243584"/>
            <a:ext cx="2103120"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Executive Summary</a:t>
            </a:r>
            <a:endParaRPr lang="en-US" sz="1200" dirty="0"/>
          </a:p>
        </p:txBody>
      </p:sp>
      <p:sp>
        <p:nvSpPr>
          <p:cNvPr id="10" name="Shape 8"/>
          <p:cNvSpPr/>
          <p:nvPr/>
        </p:nvSpPr>
        <p:spPr>
          <a:xfrm>
            <a:off x="3200400" y="1243584"/>
            <a:ext cx="36576" cy="347472"/>
          </a:xfrm>
          <a:prstGeom prst="rect">
            <a:avLst/>
          </a:prstGeom>
          <a:solidFill>
            <a:srgbClr val="2A4A6A"/>
          </a:solidFill>
          <a:ln w="12700">
            <a:solidFill>
              <a:srgbClr val="2A4A6A"/>
            </a:solidFill>
            <a:prstDash val="solid"/>
          </a:ln>
        </p:spPr>
      </p:sp>
      <p:sp>
        <p:nvSpPr>
          <p:cNvPr id="11" name="Text 9"/>
          <p:cNvSpPr/>
          <p:nvPr/>
        </p:nvSpPr>
        <p:spPr>
          <a:xfrm>
            <a:off x="3337560" y="1243584"/>
            <a:ext cx="3154680" cy="347472"/>
          </a:xfrm>
          <a:prstGeom prst="rect">
            <a:avLst/>
          </a:prstGeom>
          <a:noFill/>
          <a:ln/>
        </p:spPr>
        <p:txBody>
          <a:bodyPr wrap="square" lIns="0" tIns="0" rIns="0" bIns="0" rtlCol="0" anchor="ctr"/>
          <a:lstStyle/>
          <a:p>
            <a:pPr algn="l" indent="0" marL="0">
              <a:buNone/>
            </a:pPr>
            <a:r>
              <a:rPr lang="en-US" sz="1000" dirty="0">
                <a:solidFill>
                  <a:srgbClr val="C8E0F4"/>
                </a:solidFill>
                <a:latin typeface="Calibri" pitchFamily="34" charset="0"/>
                <a:ea typeface="Calibri" pitchFamily="34" charset="-122"/>
                <a:cs typeface="Calibri" pitchFamily="34" charset="-120"/>
              </a:rPr>
              <a:t>KPI cards, goals trend, win rate by team</a:t>
            </a:r>
            <a:endParaRPr lang="en-US" sz="1000" dirty="0"/>
          </a:p>
        </p:txBody>
      </p:sp>
      <p:sp>
        <p:nvSpPr>
          <p:cNvPr id="12" name="Shape 10"/>
          <p:cNvSpPr/>
          <p:nvPr/>
        </p:nvSpPr>
        <p:spPr>
          <a:xfrm>
            <a:off x="6583680" y="1243584"/>
            <a:ext cx="36576" cy="347472"/>
          </a:xfrm>
          <a:prstGeom prst="rect">
            <a:avLst/>
          </a:prstGeom>
          <a:solidFill>
            <a:srgbClr val="2A4A6A"/>
          </a:solidFill>
          <a:ln w="12700">
            <a:solidFill>
              <a:srgbClr val="2A4A6A"/>
            </a:solidFill>
            <a:prstDash val="solid"/>
          </a:ln>
        </p:spPr>
      </p:sp>
      <p:sp>
        <p:nvSpPr>
          <p:cNvPr id="13" name="Text 11"/>
          <p:cNvSpPr/>
          <p:nvPr/>
        </p:nvSpPr>
        <p:spPr>
          <a:xfrm>
            <a:off x="6693408" y="1243584"/>
            <a:ext cx="2011680" cy="347472"/>
          </a:xfrm>
          <a:prstGeom prst="rect">
            <a:avLst/>
          </a:prstGeom>
          <a:noFill/>
          <a:ln/>
        </p:spPr>
        <p:txBody>
          <a:bodyPr wrap="square" lIns="0" tIns="0" rIns="0" bIns="0" rtlCol="0" anchor="ctr"/>
          <a:lstStyle/>
          <a:p>
            <a:pPr algn="l" indent="0" marL="0">
              <a:buNone/>
            </a:pPr>
            <a:r>
              <a:rPr lang="en-US" sz="900" i="1" dirty="0">
                <a:solidFill>
                  <a:srgbClr val="8FA8C0"/>
                </a:solidFill>
                <a:latin typeface="Calibri" pitchFamily="34" charset="0"/>
                <a:ea typeface="Calibri" pitchFamily="34" charset="-122"/>
                <a:cs typeface="Calibri" pitchFamily="34" charset="-120"/>
              </a:rPr>
              <a:t>"How is the league performing?"</a:t>
            </a:r>
            <a:endParaRPr lang="en-US" sz="900" dirty="0"/>
          </a:p>
        </p:txBody>
      </p:sp>
      <p:sp>
        <p:nvSpPr>
          <p:cNvPr id="14" name="Shape 12"/>
          <p:cNvSpPr/>
          <p:nvPr/>
        </p:nvSpPr>
        <p:spPr>
          <a:xfrm>
            <a:off x="365760" y="1737360"/>
            <a:ext cx="8412480" cy="50292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365760" y="1737360"/>
            <a:ext cx="502920" cy="502920"/>
          </a:xfrm>
          <a:prstGeom prst="rect">
            <a:avLst/>
          </a:prstGeom>
          <a:solidFill>
            <a:srgbClr val="F4A723"/>
          </a:solidFill>
          <a:ln w="12700">
            <a:solidFill>
              <a:srgbClr val="F4A723"/>
            </a:solidFill>
            <a:prstDash val="solid"/>
          </a:ln>
        </p:spPr>
      </p:sp>
      <p:sp>
        <p:nvSpPr>
          <p:cNvPr id="16" name="Text 14"/>
          <p:cNvSpPr/>
          <p:nvPr/>
        </p:nvSpPr>
        <p:spPr>
          <a:xfrm>
            <a:off x="365760" y="1737360"/>
            <a:ext cx="502920" cy="502920"/>
          </a:xfrm>
          <a:prstGeom prst="rect">
            <a:avLst/>
          </a:prstGeom>
          <a:noFill/>
          <a:ln/>
        </p:spPr>
        <p:txBody>
          <a:bodyPr wrap="square" lIns="0" tIns="0" rIns="0" bIns="0" rtlCol="0" anchor="ctr"/>
          <a:lstStyle/>
          <a:p>
            <a:pPr algn="ctr" indent="0" marL="0">
              <a:buNone/>
            </a:pPr>
            <a:r>
              <a:rPr lang="en-US" sz="1300" b="1" dirty="0">
                <a:solidFill>
                  <a:srgbClr val="0D1B2A"/>
                </a:solidFill>
                <a:latin typeface="Trebuchet MS" pitchFamily="34" charset="0"/>
                <a:ea typeface="Trebuchet MS" pitchFamily="34" charset="-122"/>
                <a:cs typeface="Trebuchet MS" pitchFamily="34" charset="-120"/>
              </a:rPr>
              <a:t>P2</a:t>
            </a:r>
            <a:endParaRPr lang="en-US" sz="1300" dirty="0"/>
          </a:p>
        </p:txBody>
      </p:sp>
      <p:sp>
        <p:nvSpPr>
          <p:cNvPr id="17" name="Text 15"/>
          <p:cNvSpPr/>
          <p:nvPr/>
        </p:nvSpPr>
        <p:spPr>
          <a:xfrm>
            <a:off x="1005840" y="1810512"/>
            <a:ext cx="2103120"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Team Performance</a:t>
            </a:r>
            <a:endParaRPr lang="en-US" sz="1200" dirty="0"/>
          </a:p>
        </p:txBody>
      </p:sp>
      <p:sp>
        <p:nvSpPr>
          <p:cNvPr id="18" name="Shape 16"/>
          <p:cNvSpPr/>
          <p:nvPr/>
        </p:nvSpPr>
        <p:spPr>
          <a:xfrm>
            <a:off x="3200400" y="1810512"/>
            <a:ext cx="36576" cy="347472"/>
          </a:xfrm>
          <a:prstGeom prst="rect">
            <a:avLst/>
          </a:prstGeom>
          <a:solidFill>
            <a:srgbClr val="2A4A6A"/>
          </a:solidFill>
          <a:ln w="12700">
            <a:solidFill>
              <a:srgbClr val="2A4A6A"/>
            </a:solidFill>
            <a:prstDash val="solid"/>
          </a:ln>
        </p:spPr>
      </p:sp>
      <p:sp>
        <p:nvSpPr>
          <p:cNvPr id="19" name="Text 17"/>
          <p:cNvSpPr/>
          <p:nvPr/>
        </p:nvSpPr>
        <p:spPr>
          <a:xfrm>
            <a:off x="3337560" y="1810512"/>
            <a:ext cx="3154680" cy="347472"/>
          </a:xfrm>
          <a:prstGeom prst="rect">
            <a:avLst/>
          </a:prstGeom>
          <a:noFill/>
          <a:ln/>
        </p:spPr>
        <p:txBody>
          <a:bodyPr wrap="square" lIns="0" tIns="0" rIns="0" bIns="0" rtlCol="0" anchor="ctr"/>
          <a:lstStyle/>
          <a:p>
            <a:pPr algn="l" indent="0" marL="0">
              <a:buNone/>
            </a:pPr>
            <a:r>
              <a:rPr lang="en-US" sz="1000" dirty="0">
                <a:solidFill>
                  <a:srgbClr val="C8E0F4"/>
                </a:solidFill>
                <a:latin typeface="Calibri" pitchFamily="34" charset="0"/>
                <a:ea typeface="Calibri" pitchFamily="34" charset="-122"/>
                <a:cs typeface="Calibri" pitchFamily="34" charset="-120"/>
              </a:rPr>
              <a:t>Standings, shot% vs win%, PP% ranking</a:t>
            </a:r>
            <a:endParaRPr lang="en-US" sz="1000" dirty="0"/>
          </a:p>
        </p:txBody>
      </p:sp>
      <p:sp>
        <p:nvSpPr>
          <p:cNvPr id="20" name="Shape 18"/>
          <p:cNvSpPr/>
          <p:nvPr/>
        </p:nvSpPr>
        <p:spPr>
          <a:xfrm>
            <a:off x="6583680" y="1810512"/>
            <a:ext cx="36576" cy="347472"/>
          </a:xfrm>
          <a:prstGeom prst="rect">
            <a:avLst/>
          </a:prstGeom>
          <a:solidFill>
            <a:srgbClr val="2A4A6A"/>
          </a:solidFill>
          <a:ln w="12700">
            <a:solidFill>
              <a:srgbClr val="2A4A6A"/>
            </a:solidFill>
            <a:prstDash val="solid"/>
          </a:ln>
        </p:spPr>
      </p:sp>
      <p:sp>
        <p:nvSpPr>
          <p:cNvPr id="21" name="Text 19"/>
          <p:cNvSpPr/>
          <p:nvPr/>
        </p:nvSpPr>
        <p:spPr>
          <a:xfrm>
            <a:off x="6693408" y="1810512"/>
            <a:ext cx="2011680" cy="347472"/>
          </a:xfrm>
          <a:prstGeom prst="rect">
            <a:avLst/>
          </a:prstGeom>
          <a:noFill/>
          <a:ln/>
        </p:spPr>
        <p:txBody>
          <a:bodyPr wrap="square" lIns="0" tIns="0" rIns="0" bIns="0" rtlCol="0" anchor="ctr"/>
          <a:lstStyle/>
          <a:p>
            <a:pPr algn="l" indent="0" marL="0">
              <a:buNone/>
            </a:pPr>
            <a:r>
              <a:rPr lang="en-US" sz="900" i="1" dirty="0">
                <a:solidFill>
                  <a:srgbClr val="8FA8C0"/>
                </a:solidFill>
                <a:latin typeface="Calibri" pitchFamily="34" charset="0"/>
                <a:ea typeface="Calibri" pitchFamily="34" charset="-122"/>
                <a:cs typeface="Calibri" pitchFamily="34" charset="-120"/>
              </a:rPr>
              <a:t>"Which teams are most efficient?"</a:t>
            </a:r>
            <a:endParaRPr lang="en-US" sz="900" dirty="0"/>
          </a:p>
        </p:txBody>
      </p:sp>
      <p:sp>
        <p:nvSpPr>
          <p:cNvPr id="22" name="Shape 20"/>
          <p:cNvSpPr/>
          <p:nvPr/>
        </p:nvSpPr>
        <p:spPr>
          <a:xfrm>
            <a:off x="365760" y="2304288"/>
            <a:ext cx="8412480" cy="50292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365760" y="2304288"/>
            <a:ext cx="502920" cy="502920"/>
          </a:xfrm>
          <a:prstGeom prst="rect">
            <a:avLst/>
          </a:prstGeom>
          <a:solidFill>
            <a:srgbClr val="F4A723"/>
          </a:solidFill>
          <a:ln w="12700">
            <a:solidFill>
              <a:srgbClr val="F4A723"/>
            </a:solidFill>
            <a:prstDash val="solid"/>
          </a:ln>
        </p:spPr>
      </p:sp>
      <p:sp>
        <p:nvSpPr>
          <p:cNvPr id="24" name="Text 22"/>
          <p:cNvSpPr/>
          <p:nvPr/>
        </p:nvSpPr>
        <p:spPr>
          <a:xfrm>
            <a:off x="365760" y="2304288"/>
            <a:ext cx="502920" cy="502920"/>
          </a:xfrm>
          <a:prstGeom prst="rect">
            <a:avLst/>
          </a:prstGeom>
          <a:noFill/>
          <a:ln/>
        </p:spPr>
        <p:txBody>
          <a:bodyPr wrap="square" lIns="0" tIns="0" rIns="0" bIns="0" rtlCol="0" anchor="ctr"/>
          <a:lstStyle/>
          <a:p>
            <a:pPr algn="ctr" indent="0" marL="0">
              <a:buNone/>
            </a:pPr>
            <a:r>
              <a:rPr lang="en-US" sz="1300" b="1" dirty="0">
                <a:solidFill>
                  <a:srgbClr val="0D1B2A"/>
                </a:solidFill>
                <a:latin typeface="Trebuchet MS" pitchFamily="34" charset="0"/>
                <a:ea typeface="Trebuchet MS" pitchFamily="34" charset="-122"/>
                <a:cs typeface="Trebuchet MS" pitchFamily="34" charset="-120"/>
              </a:rPr>
              <a:t>P3</a:t>
            </a:r>
            <a:endParaRPr lang="en-US" sz="1300" dirty="0"/>
          </a:p>
        </p:txBody>
      </p:sp>
      <p:sp>
        <p:nvSpPr>
          <p:cNvPr id="25" name="Text 23"/>
          <p:cNvSpPr/>
          <p:nvPr/>
        </p:nvSpPr>
        <p:spPr>
          <a:xfrm>
            <a:off x="1005840" y="2377440"/>
            <a:ext cx="2103120"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Player Analytics</a:t>
            </a:r>
            <a:endParaRPr lang="en-US" sz="1200" dirty="0"/>
          </a:p>
        </p:txBody>
      </p:sp>
      <p:sp>
        <p:nvSpPr>
          <p:cNvPr id="26" name="Shape 24"/>
          <p:cNvSpPr/>
          <p:nvPr/>
        </p:nvSpPr>
        <p:spPr>
          <a:xfrm>
            <a:off x="3200400" y="2377440"/>
            <a:ext cx="36576" cy="347472"/>
          </a:xfrm>
          <a:prstGeom prst="rect">
            <a:avLst/>
          </a:prstGeom>
          <a:solidFill>
            <a:srgbClr val="2A4A6A"/>
          </a:solidFill>
          <a:ln w="12700">
            <a:solidFill>
              <a:srgbClr val="2A4A6A"/>
            </a:solidFill>
            <a:prstDash val="solid"/>
          </a:ln>
        </p:spPr>
      </p:sp>
      <p:sp>
        <p:nvSpPr>
          <p:cNvPr id="27" name="Text 25"/>
          <p:cNvSpPr/>
          <p:nvPr/>
        </p:nvSpPr>
        <p:spPr>
          <a:xfrm>
            <a:off x="3337560" y="2377440"/>
            <a:ext cx="3154680" cy="347472"/>
          </a:xfrm>
          <a:prstGeom prst="rect">
            <a:avLst/>
          </a:prstGeom>
          <a:noFill/>
          <a:ln/>
        </p:spPr>
        <p:txBody>
          <a:bodyPr wrap="square" lIns="0" tIns="0" rIns="0" bIns="0" rtlCol="0" anchor="ctr"/>
          <a:lstStyle/>
          <a:p>
            <a:pPr algn="l" indent="0" marL="0">
              <a:buNone/>
            </a:pPr>
            <a:r>
              <a:rPr lang="en-US" sz="1000" dirty="0">
                <a:solidFill>
                  <a:srgbClr val="C8E0F4"/>
                </a:solidFill>
                <a:latin typeface="Calibri" pitchFamily="34" charset="0"/>
                <a:ea typeface="Calibri" pitchFamily="34" charset="-122"/>
                <a:cs typeface="Calibri" pitchFamily="34" charset="-120"/>
              </a:rPr>
              <a:t>Top scorers, shooting%, goalie save%</a:t>
            </a:r>
            <a:endParaRPr lang="en-US" sz="1000" dirty="0"/>
          </a:p>
        </p:txBody>
      </p:sp>
      <p:sp>
        <p:nvSpPr>
          <p:cNvPr id="28" name="Shape 26"/>
          <p:cNvSpPr/>
          <p:nvPr/>
        </p:nvSpPr>
        <p:spPr>
          <a:xfrm>
            <a:off x="6583680" y="2377440"/>
            <a:ext cx="36576" cy="347472"/>
          </a:xfrm>
          <a:prstGeom prst="rect">
            <a:avLst/>
          </a:prstGeom>
          <a:solidFill>
            <a:srgbClr val="2A4A6A"/>
          </a:solidFill>
          <a:ln w="12700">
            <a:solidFill>
              <a:srgbClr val="2A4A6A"/>
            </a:solidFill>
            <a:prstDash val="solid"/>
          </a:ln>
        </p:spPr>
      </p:sp>
      <p:sp>
        <p:nvSpPr>
          <p:cNvPr id="29" name="Text 27"/>
          <p:cNvSpPr/>
          <p:nvPr/>
        </p:nvSpPr>
        <p:spPr>
          <a:xfrm>
            <a:off x="6693408" y="2377440"/>
            <a:ext cx="2011680" cy="347472"/>
          </a:xfrm>
          <a:prstGeom prst="rect">
            <a:avLst/>
          </a:prstGeom>
          <a:noFill/>
          <a:ln/>
        </p:spPr>
        <p:txBody>
          <a:bodyPr wrap="square" lIns="0" tIns="0" rIns="0" bIns="0" rtlCol="0" anchor="ctr"/>
          <a:lstStyle/>
          <a:p>
            <a:pPr algn="l" indent="0" marL="0">
              <a:buNone/>
            </a:pPr>
            <a:r>
              <a:rPr lang="en-US" sz="900" i="1" dirty="0">
                <a:solidFill>
                  <a:srgbClr val="8FA8C0"/>
                </a:solidFill>
                <a:latin typeface="Calibri" pitchFamily="34" charset="0"/>
                <a:ea typeface="Calibri" pitchFamily="34" charset="-122"/>
                <a:cs typeface="Calibri" pitchFamily="34" charset="-120"/>
              </a:rPr>
              <a:t>"Who are the top performers?"</a:t>
            </a:r>
            <a:endParaRPr lang="en-US" sz="900" dirty="0"/>
          </a:p>
        </p:txBody>
      </p:sp>
      <p:sp>
        <p:nvSpPr>
          <p:cNvPr id="30" name="Shape 28"/>
          <p:cNvSpPr/>
          <p:nvPr/>
        </p:nvSpPr>
        <p:spPr>
          <a:xfrm>
            <a:off x="365760" y="2871216"/>
            <a:ext cx="8412480" cy="50292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31" name="Shape 29"/>
          <p:cNvSpPr/>
          <p:nvPr/>
        </p:nvSpPr>
        <p:spPr>
          <a:xfrm>
            <a:off x="365760" y="2871216"/>
            <a:ext cx="502920" cy="502920"/>
          </a:xfrm>
          <a:prstGeom prst="rect">
            <a:avLst/>
          </a:prstGeom>
          <a:solidFill>
            <a:srgbClr val="F4A723"/>
          </a:solidFill>
          <a:ln w="12700">
            <a:solidFill>
              <a:srgbClr val="F4A723"/>
            </a:solidFill>
            <a:prstDash val="solid"/>
          </a:ln>
        </p:spPr>
      </p:sp>
      <p:sp>
        <p:nvSpPr>
          <p:cNvPr id="32" name="Text 30"/>
          <p:cNvSpPr/>
          <p:nvPr/>
        </p:nvSpPr>
        <p:spPr>
          <a:xfrm>
            <a:off x="365760" y="2871216"/>
            <a:ext cx="502920" cy="502920"/>
          </a:xfrm>
          <a:prstGeom prst="rect">
            <a:avLst/>
          </a:prstGeom>
          <a:noFill/>
          <a:ln/>
        </p:spPr>
        <p:txBody>
          <a:bodyPr wrap="square" lIns="0" tIns="0" rIns="0" bIns="0" rtlCol="0" anchor="ctr"/>
          <a:lstStyle/>
          <a:p>
            <a:pPr algn="ctr" indent="0" marL="0">
              <a:buNone/>
            </a:pPr>
            <a:r>
              <a:rPr lang="en-US" sz="1300" b="1" dirty="0">
                <a:solidFill>
                  <a:srgbClr val="0D1B2A"/>
                </a:solidFill>
                <a:latin typeface="Trebuchet MS" pitchFamily="34" charset="0"/>
                <a:ea typeface="Trebuchet MS" pitchFamily="34" charset="-122"/>
                <a:cs typeface="Trebuchet MS" pitchFamily="34" charset="-120"/>
              </a:rPr>
              <a:t>P4</a:t>
            </a:r>
            <a:endParaRPr lang="en-US" sz="1300" dirty="0"/>
          </a:p>
        </p:txBody>
      </p:sp>
      <p:sp>
        <p:nvSpPr>
          <p:cNvPr id="33" name="Text 31"/>
          <p:cNvSpPr/>
          <p:nvPr/>
        </p:nvSpPr>
        <p:spPr>
          <a:xfrm>
            <a:off x="1005840" y="2944368"/>
            <a:ext cx="2103120"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Play-by-Play</a:t>
            </a:r>
            <a:endParaRPr lang="en-US" sz="1200" dirty="0"/>
          </a:p>
        </p:txBody>
      </p:sp>
      <p:sp>
        <p:nvSpPr>
          <p:cNvPr id="34" name="Shape 32"/>
          <p:cNvSpPr/>
          <p:nvPr/>
        </p:nvSpPr>
        <p:spPr>
          <a:xfrm>
            <a:off x="3200400" y="2944368"/>
            <a:ext cx="36576" cy="347472"/>
          </a:xfrm>
          <a:prstGeom prst="rect">
            <a:avLst/>
          </a:prstGeom>
          <a:solidFill>
            <a:srgbClr val="2A4A6A"/>
          </a:solidFill>
          <a:ln w="12700">
            <a:solidFill>
              <a:srgbClr val="2A4A6A"/>
            </a:solidFill>
            <a:prstDash val="solid"/>
          </a:ln>
        </p:spPr>
      </p:sp>
      <p:sp>
        <p:nvSpPr>
          <p:cNvPr id="35" name="Text 33"/>
          <p:cNvSpPr/>
          <p:nvPr/>
        </p:nvSpPr>
        <p:spPr>
          <a:xfrm>
            <a:off x="3337560" y="2944368"/>
            <a:ext cx="3154680" cy="347472"/>
          </a:xfrm>
          <a:prstGeom prst="rect">
            <a:avLst/>
          </a:prstGeom>
          <a:noFill/>
          <a:ln/>
        </p:spPr>
        <p:txBody>
          <a:bodyPr wrap="square" lIns="0" tIns="0" rIns="0" bIns="0" rtlCol="0" anchor="ctr"/>
          <a:lstStyle/>
          <a:p>
            <a:pPr algn="l" indent="0" marL="0">
              <a:buNone/>
            </a:pPr>
            <a:r>
              <a:rPr lang="en-US" sz="1000" dirty="0">
                <a:solidFill>
                  <a:srgbClr val="C8E0F4"/>
                </a:solidFill>
                <a:latin typeface="Calibri" pitchFamily="34" charset="0"/>
                <a:ea typeface="Calibri" pitchFamily="34" charset="-122"/>
                <a:cs typeface="Calibri" pitchFamily="34" charset="-120"/>
              </a:rPr>
              <a:t>Shot heatmap, goals by period, event distribution</a:t>
            </a:r>
            <a:endParaRPr lang="en-US" sz="1000" dirty="0"/>
          </a:p>
        </p:txBody>
      </p:sp>
      <p:sp>
        <p:nvSpPr>
          <p:cNvPr id="36" name="Shape 34"/>
          <p:cNvSpPr/>
          <p:nvPr/>
        </p:nvSpPr>
        <p:spPr>
          <a:xfrm>
            <a:off x="6583680" y="2944368"/>
            <a:ext cx="36576" cy="347472"/>
          </a:xfrm>
          <a:prstGeom prst="rect">
            <a:avLst/>
          </a:prstGeom>
          <a:solidFill>
            <a:srgbClr val="2A4A6A"/>
          </a:solidFill>
          <a:ln w="12700">
            <a:solidFill>
              <a:srgbClr val="2A4A6A"/>
            </a:solidFill>
            <a:prstDash val="solid"/>
          </a:ln>
        </p:spPr>
      </p:sp>
      <p:sp>
        <p:nvSpPr>
          <p:cNvPr id="37" name="Text 35"/>
          <p:cNvSpPr/>
          <p:nvPr/>
        </p:nvSpPr>
        <p:spPr>
          <a:xfrm>
            <a:off x="6693408" y="2944368"/>
            <a:ext cx="2011680" cy="347472"/>
          </a:xfrm>
          <a:prstGeom prst="rect">
            <a:avLst/>
          </a:prstGeom>
          <a:noFill/>
          <a:ln/>
        </p:spPr>
        <p:txBody>
          <a:bodyPr wrap="square" lIns="0" tIns="0" rIns="0" bIns="0" rtlCol="0" anchor="ctr"/>
          <a:lstStyle/>
          <a:p>
            <a:pPr algn="l" indent="0" marL="0">
              <a:buNone/>
            </a:pPr>
            <a:r>
              <a:rPr lang="en-US" sz="900" i="1" dirty="0">
                <a:solidFill>
                  <a:srgbClr val="8FA8C0"/>
                </a:solidFill>
                <a:latin typeface="Calibri" pitchFamily="34" charset="0"/>
                <a:ea typeface="Calibri" pitchFamily="34" charset="-122"/>
                <a:cs typeface="Calibri" pitchFamily="34" charset="-120"/>
              </a:rPr>
              <a:t>"Where &amp; when do goals happen?"</a:t>
            </a:r>
            <a:endParaRPr lang="en-US" sz="900" dirty="0"/>
          </a:p>
        </p:txBody>
      </p:sp>
      <p:sp>
        <p:nvSpPr>
          <p:cNvPr id="38" name="Shape 36"/>
          <p:cNvSpPr/>
          <p:nvPr/>
        </p:nvSpPr>
        <p:spPr>
          <a:xfrm>
            <a:off x="365760" y="3438144"/>
            <a:ext cx="8412480" cy="50292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39" name="Shape 37"/>
          <p:cNvSpPr/>
          <p:nvPr/>
        </p:nvSpPr>
        <p:spPr>
          <a:xfrm>
            <a:off x="365760" y="3438144"/>
            <a:ext cx="502920" cy="502920"/>
          </a:xfrm>
          <a:prstGeom prst="rect">
            <a:avLst/>
          </a:prstGeom>
          <a:solidFill>
            <a:srgbClr val="F4A723"/>
          </a:solidFill>
          <a:ln w="12700">
            <a:solidFill>
              <a:srgbClr val="F4A723"/>
            </a:solidFill>
            <a:prstDash val="solid"/>
          </a:ln>
        </p:spPr>
      </p:sp>
      <p:sp>
        <p:nvSpPr>
          <p:cNvPr id="40" name="Text 38"/>
          <p:cNvSpPr/>
          <p:nvPr/>
        </p:nvSpPr>
        <p:spPr>
          <a:xfrm>
            <a:off x="365760" y="3438144"/>
            <a:ext cx="502920" cy="502920"/>
          </a:xfrm>
          <a:prstGeom prst="rect">
            <a:avLst/>
          </a:prstGeom>
          <a:noFill/>
          <a:ln/>
        </p:spPr>
        <p:txBody>
          <a:bodyPr wrap="square" lIns="0" tIns="0" rIns="0" bIns="0" rtlCol="0" anchor="ctr"/>
          <a:lstStyle/>
          <a:p>
            <a:pPr algn="ctr" indent="0" marL="0">
              <a:buNone/>
            </a:pPr>
            <a:r>
              <a:rPr lang="en-US" sz="1300" b="1" dirty="0">
                <a:solidFill>
                  <a:srgbClr val="0D1B2A"/>
                </a:solidFill>
                <a:latin typeface="Trebuchet MS" pitchFamily="34" charset="0"/>
                <a:ea typeface="Trebuchet MS" pitchFamily="34" charset="-122"/>
                <a:cs typeface="Trebuchet MS" pitchFamily="34" charset="-120"/>
              </a:rPr>
              <a:t>P5</a:t>
            </a:r>
            <a:endParaRPr lang="en-US" sz="1300" dirty="0"/>
          </a:p>
        </p:txBody>
      </p:sp>
      <p:sp>
        <p:nvSpPr>
          <p:cNvPr id="41" name="Text 39"/>
          <p:cNvSpPr/>
          <p:nvPr/>
        </p:nvSpPr>
        <p:spPr>
          <a:xfrm>
            <a:off x="1005840" y="3511296"/>
            <a:ext cx="2103120"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Home vs Away</a:t>
            </a:r>
            <a:endParaRPr lang="en-US" sz="1200" dirty="0"/>
          </a:p>
        </p:txBody>
      </p:sp>
      <p:sp>
        <p:nvSpPr>
          <p:cNvPr id="42" name="Shape 40"/>
          <p:cNvSpPr/>
          <p:nvPr/>
        </p:nvSpPr>
        <p:spPr>
          <a:xfrm>
            <a:off x="3200400" y="3511296"/>
            <a:ext cx="36576" cy="347472"/>
          </a:xfrm>
          <a:prstGeom prst="rect">
            <a:avLst/>
          </a:prstGeom>
          <a:solidFill>
            <a:srgbClr val="2A4A6A"/>
          </a:solidFill>
          <a:ln w="12700">
            <a:solidFill>
              <a:srgbClr val="2A4A6A"/>
            </a:solidFill>
            <a:prstDash val="solid"/>
          </a:ln>
        </p:spPr>
      </p:sp>
      <p:sp>
        <p:nvSpPr>
          <p:cNvPr id="43" name="Text 41"/>
          <p:cNvSpPr/>
          <p:nvPr/>
        </p:nvSpPr>
        <p:spPr>
          <a:xfrm>
            <a:off x="3337560" y="3511296"/>
            <a:ext cx="3154680" cy="347472"/>
          </a:xfrm>
          <a:prstGeom prst="rect">
            <a:avLst/>
          </a:prstGeom>
          <a:noFill/>
          <a:ln/>
        </p:spPr>
        <p:txBody>
          <a:bodyPr wrap="square" lIns="0" tIns="0" rIns="0" bIns="0" rtlCol="0" anchor="ctr"/>
          <a:lstStyle/>
          <a:p>
            <a:pPr algn="l" indent="0" marL="0">
              <a:buNone/>
            </a:pPr>
            <a:r>
              <a:rPr lang="en-US" sz="1000" dirty="0">
                <a:solidFill>
                  <a:srgbClr val="C8E0F4"/>
                </a:solidFill>
                <a:latin typeface="Calibri" pitchFamily="34" charset="0"/>
                <a:ea typeface="Calibri" pitchFamily="34" charset="-122"/>
                <a:cs typeface="Calibri" pitchFamily="34" charset="-120"/>
              </a:rPr>
              <a:t>Win% trend, goals comparison across 6 seasons</a:t>
            </a:r>
            <a:endParaRPr lang="en-US" sz="1000" dirty="0"/>
          </a:p>
        </p:txBody>
      </p:sp>
      <p:sp>
        <p:nvSpPr>
          <p:cNvPr id="44" name="Shape 42"/>
          <p:cNvSpPr/>
          <p:nvPr/>
        </p:nvSpPr>
        <p:spPr>
          <a:xfrm>
            <a:off x="6583680" y="3511296"/>
            <a:ext cx="36576" cy="347472"/>
          </a:xfrm>
          <a:prstGeom prst="rect">
            <a:avLst/>
          </a:prstGeom>
          <a:solidFill>
            <a:srgbClr val="2A4A6A"/>
          </a:solidFill>
          <a:ln w="12700">
            <a:solidFill>
              <a:srgbClr val="2A4A6A"/>
            </a:solidFill>
            <a:prstDash val="solid"/>
          </a:ln>
        </p:spPr>
      </p:sp>
      <p:sp>
        <p:nvSpPr>
          <p:cNvPr id="45" name="Text 43"/>
          <p:cNvSpPr/>
          <p:nvPr/>
        </p:nvSpPr>
        <p:spPr>
          <a:xfrm>
            <a:off x="6693408" y="3511296"/>
            <a:ext cx="2011680" cy="347472"/>
          </a:xfrm>
          <a:prstGeom prst="rect">
            <a:avLst/>
          </a:prstGeom>
          <a:noFill/>
          <a:ln/>
        </p:spPr>
        <p:txBody>
          <a:bodyPr wrap="square" lIns="0" tIns="0" rIns="0" bIns="0" rtlCol="0" anchor="ctr"/>
          <a:lstStyle/>
          <a:p>
            <a:pPr algn="l" indent="0" marL="0">
              <a:buNone/>
            </a:pPr>
            <a:r>
              <a:rPr lang="en-US" sz="900" i="1" dirty="0">
                <a:solidFill>
                  <a:srgbClr val="8FA8C0"/>
                </a:solidFill>
                <a:latin typeface="Calibri" pitchFamily="34" charset="0"/>
                <a:ea typeface="Calibri" pitchFamily="34" charset="-122"/>
                <a:cs typeface="Calibri" pitchFamily="34" charset="-120"/>
              </a:rPr>
              <a:t>"How big is home ice advantage?"</a:t>
            </a:r>
            <a:endParaRPr lang="en-US" sz="900" dirty="0"/>
          </a:p>
        </p:txBody>
      </p:sp>
      <p:sp>
        <p:nvSpPr>
          <p:cNvPr id="46" name="Shape 44"/>
          <p:cNvSpPr/>
          <p:nvPr/>
        </p:nvSpPr>
        <p:spPr>
          <a:xfrm>
            <a:off x="365760" y="4005072"/>
            <a:ext cx="8412480" cy="50292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47" name="Shape 45"/>
          <p:cNvSpPr/>
          <p:nvPr/>
        </p:nvSpPr>
        <p:spPr>
          <a:xfrm>
            <a:off x="365760" y="4005072"/>
            <a:ext cx="502920" cy="502920"/>
          </a:xfrm>
          <a:prstGeom prst="rect">
            <a:avLst/>
          </a:prstGeom>
          <a:solidFill>
            <a:srgbClr val="F4A723"/>
          </a:solidFill>
          <a:ln w="12700">
            <a:solidFill>
              <a:srgbClr val="F4A723"/>
            </a:solidFill>
            <a:prstDash val="solid"/>
          </a:ln>
        </p:spPr>
      </p:sp>
      <p:sp>
        <p:nvSpPr>
          <p:cNvPr id="48" name="Text 46"/>
          <p:cNvSpPr/>
          <p:nvPr/>
        </p:nvSpPr>
        <p:spPr>
          <a:xfrm>
            <a:off x="365760" y="4005072"/>
            <a:ext cx="502920" cy="502920"/>
          </a:xfrm>
          <a:prstGeom prst="rect">
            <a:avLst/>
          </a:prstGeom>
          <a:noFill/>
          <a:ln/>
        </p:spPr>
        <p:txBody>
          <a:bodyPr wrap="square" lIns="0" tIns="0" rIns="0" bIns="0" rtlCol="0" anchor="ctr"/>
          <a:lstStyle/>
          <a:p>
            <a:pPr algn="ctr" indent="0" marL="0">
              <a:buNone/>
            </a:pPr>
            <a:r>
              <a:rPr lang="en-US" sz="1300" b="1" dirty="0">
                <a:solidFill>
                  <a:srgbClr val="0D1B2A"/>
                </a:solidFill>
                <a:latin typeface="Trebuchet MS" pitchFamily="34" charset="0"/>
                <a:ea typeface="Trebuchet MS" pitchFamily="34" charset="-122"/>
                <a:cs typeface="Trebuchet MS" pitchFamily="34" charset="-120"/>
              </a:rPr>
              <a:t>P6</a:t>
            </a:r>
            <a:endParaRPr lang="en-US" sz="1300" dirty="0"/>
          </a:p>
        </p:txBody>
      </p:sp>
      <p:sp>
        <p:nvSpPr>
          <p:cNvPr id="49" name="Text 47"/>
          <p:cNvSpPr/>
          <p:nvPr/>
        </p:nvSpPr>
        <p:spPr>
          <a:xfrm>
            <a:off x="1005840" y="4078224"/>
            <a:ext cx="2103120"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Dream Team</a:t>
            </a:r>
            <a:endParaRPr lang="en-US" sz="1200" dirty="0"/>
          </a:p>
        </p:txBody>
      </p:sp>
      <p:sp>
        <p:nvSpPr>
          <p:cNvPr id="50" name="Shape 48"/>
          <p:cNvSpPr/>
          <p:nvPr/>
        </p:nvSpPr>
        <p:spPr>
          <a:xfrm>
            <a:off x="3200400" y="4078224"/>
            <a:ext cx="36576" cy="347472"/>
          </a:xfrm>
          <a:prstGeom prst="rect">
            <a:avLst/>
          </a:prstGeom>
          <a:solidFill>
            <a:srgbClr val="2A4A6A"/>
          </a:solidFill>
          <a:ln w="12700">
            <a:solidFill>
              <a:srgbClr val="2A4A6A"/>
            </a:solidFill>
            <a:prstDash val="solid"/>
          </a:ln>
        </p:spPr>
      </p:sp>
      <p:sp>
        <p:nvSpPr>
          <p:cNvPr id="51" name="Text 49"/>
          <p:cNvSpPr/>
          <p:nvPr/>
        </p:nvSpPr>
        <p:spPr>
          <a:xfrm>
            <a:off x="3337560" y="4078224"/>
            <a:ext cx="3154680" cy="347472"/>
          </a:xfrm>
          <a:prstGeom prst="rect">
            <a:avLst/>
          </a:prstGeom>
          <a:noFill/>
          <a:ln/>
        </p:spPr>
        <p:txBody>
          <a:bodyPr wrap="square" lIns="0" tIns="0" rIns="0" bIns="0" rtlCol="0" anchor="ctr"/>
          <a:lstStyle/>
          <a:p>
            <a:pPr algn="l" indent="0" marL="0">
              <a:buNone/>
            </a:pPr>
            <a:r>
              <a:rPr lang="en-US" sz="1000" dirty="0">
                <a:solidFill>
                  <a:srgbClr val="C8E0F4"/>
                </a:solidFill>
                <a:latin typeface="Calibri" pitchFamily="34" charset="0"/>
                <a:ea typeface="Calibri" pitchFamily="34" charset="-122"/>
                <a:cs typeface="Calibri" pitchFamily="34" charset="-120"/>
              </a:rPr>
              <a:t>Fantasy roster: Top 1 C/LW/RW + Top-4 D + elite Goalies (season slicer)</a:t>
            </a:r>
            <a:endParaRPr lang="en-US" sz="1000" dirty="0"/>
          </a:p>
        </p:txBody>
      </p:sp>
      <p:sp>
        <p:nvSpPr>
          <p:cNvPr id="52" name="Shape 50"/>
          <p:cNvSpPr/>
          <p:nvPr/>
        </p:nvSpPr>
        <p:spPr>
          <a:xfrm>
            <a:off x="6583680" y="4078224"/>
            <a:ext cx="36576" cy="347472"/>
          </a:xfrm>
          <a:prstGeom prst="rect">
            <a:avLst/>
          </a:prstGeom>
          <a:solidFill>
            <a:srgbClr val="2A4A6A"/>
          </a:solidFill>
          <a:ln w="12700">
            <a:solidFill>
              <a:srgbClr val="2A4A6A"/>
            </a:solidFill>
            <a:prstDash val="solid"/>
          </a:ln>
        </p:spPr>
      </p:sp>
      <p:sp>
        <p:nvSpPr>
          <p:cNvPr id="53" name="Text 51"/>
          <p:cNvSpPr/>
          <p:nvPr/>
        </p:nvSpPr>
        <p:spPr>
          <a:xfrm>
            <a:off x="6693408" y="4078224"/>
            <a:ext cx="2011680" cy="347472"/>
          </a:xfrm>
          <a:prstGeom prst="rect">
            <a:avLst/>
          </a:prstGeom>
          <a:noFill/>
          <a:ln/>
        </p:spPr>
        <p:txBody>
          <a:bodyPr wrap="square" lIns="0" tIns="0" rIns="0" bIns="0" rtlCol="0" anchor="ctr"/>
          <a:lstStyle/>
          <a:p>
            <a:pPr algn="l" indent="0" marL="0">
              <a:buNone/>
            </a:pPr>
            <a:r>
              <a:rPr lang="en-US" sz="900" i="1" dirty="0">
                <a:solidFill>
                  <a:srgbClr val="8FA8C0"/>
                </a:solidFill>
                <a:latin typeface="Calibri" pitchFamily="34" charset="0"/>
                <a:ea typeface="Calibri" pitchFamily="34" charset="-122"/>
                <a:cs typeface="Calibri" pitchFamily="34" charset="-120"/>
              </a:rPr>
              <a:t>"Who makes your ultimate lineup?"</a:t>
            </a:r>
            <a:endParaRPr lang="en-US" sz="900" dirty="0"/>
          </a:p>
        </p:txBody>
      </p:sp>
      <p:sp>
        <p:nvSpPr>
          <p:cNvPr id="54" name="Text 52"/>
          <p:cNvSpPr/>
          <p:nvPr/>
        </p:nvSpPr>
        <p:spPr>
          <a:xfrm>
            <a:off x="365760" y="4828032"/>
            <a:ext cx="8412480" cy="237744"/>
          </a:xfrm>
          <a:prstGeom prst="rect">
            <a:avLst/>
          </a:prstGeom>
          <a:noFill/>
          <a:ln/>
        </p:spPr>
        <p:txBody>
          <a:bodyPr wrap="square" lIns="0" tIns="0" rIns="0" bIns="0" rtlCol="0" anchor="ctr"/>
          <a:lstStyle/>
          <a:p>
            <a:pPr algn="ctr" indent="0" marL="0">
              <a:buNone/>
            </a:pPr>
            <a:r>
              <a:rPr lang="en-US" sz="1100" i="1" dirty="0">
                <a:solidFill>
                  <a:srgbClr val="8FA8C0"/>
                </a:solidFill>
                <a:latin typeface="Calibri" pitchFamily="34" charset="0"/>
                <a:ea typeface="Calibri" pitchFamily="34" charset="-122"/>
                <a:cs typeface="Calibri" pitchFamily="34" charset="-120"/>
              </a:rPr>
              <a:t>DirectLake + Gold Star Schema  ·  Focused DAX + measures  ·  Slicers: Season / Team / Game Type / Position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1283818" cy="237744"/>
          </a:xfrm>
          <a:prstGeom prst="rect">
            <a:avLst/>
          </a:prstGeom>
          <a:solidFill>
            <a:srgbClr val="F4A723"/>
          </a:solidFill>
          <a:ln w="12700">
            <a:solidFill>
              <a:srgbClr val="F4A723"/>
            </a:solidFill>
            <a:prstDash val="solid"/>
          </a:ln>
          <a:effectLst>
            <a:outerShdw sx="100000" sy="100000" kx="0" ky="0" algn="bl" rotWithShape="0" blurRad="101600" dist="38100" dir="8100000">
              <a:srgbClr val="000000">
                <a:alpha val="18000"/>
              </a:srgbClr>
            </a:outerShdw>
          </a:effectLst>
        </p:spPr>
      </p:sp>
      <p:sp>
        <p:nvSpPr>
          <p:cNvPr id="3" name="Text 1"/>
          <p:cNvSpPr/>
          <p:nvPr/>
        </p:nvSpPr>
        <p:spPr>
          <a:xfrm>
            <a:off x="457200" y="256032"/>
            <a:ext cx="1283818" cy="237744"/>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07 — TESTING</a:t>
            </a:r>
            <a:endParaRPr lang="en-US" sz="900" dirty="0"/>
          </a:p>
        </p:txBody>
      </p:sp>
      <p:sp>
        <p:nvSpPr>
          <p:cNvPr id="4" name="Shape 2"/>
          <p:cNvSpPr/>
          <p:nvPr/>
        </p:nvSpPr>
        <p:spPr>
          <a:xfrm>
            <a:off x="457200" y="621792"/>
            <a:ext cx="50292" cy="475488"/>
          </a:xfrm>
          <a:prstGeom prst="rect">
            <a:avLst/>
          </a:prstGeom>
          <a:solidFill>
            <a:srgbClr val="F4A723"/>
          </a:solidFill>
          <a:ln w="12700">
            <a:solidFill>
              <a:srgbClr val="F4A723"/>
            </a:solidFill>
            <a:prstDash val="solid"/>
          </a:ln>
        </p:spPr>
      </p:sp>
      <p:sp>
        <p:nvSpPr>
          <p:cNvPr id="5" name="Text 3"/>
          <p:cNvSpPr/>
          <p:nvPr/>
        </p:nvSpPr>
        <p:spPr>
          <a:xfrm>
            <a:off x="621792" y="621792"/>
            <a:ext cx="822960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Trebuchet MS" pitchFamily="34" charset="0"/>
                <a:ea typeface="Trebuchet MS" pitchFamily="34" charset="-122"/>
                <a:cs typeface="Trebuchet MS" pitchFamily="34" charset="-120"/>
              </a:rPr>
              <a:t>Testing &amp; Validation</a:t>
            </a:r>
            <a:endParaRPr lang="en-US" sz="2800" dirty="0"/>
          </a:p>
        </p:txBody>
      </p:sp>
      <p:sp>
        <p:nvSpPr>
          <p:cNvPr id="6" name="Shape 4"/>
          <p:cNvSpPr/>
          <p:nvPr/>
        </p:nvSpPr>
        <p:spPr>
          <a:xfrm>
            <a:off x="1097280" y="1188720"/>
            <a:ext cx="1691640" cy="91440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7" name="Text 5"/>
          <p:cNvSpPr/>
          <p:nvPr/>
        </p:nvSpPr>
        <p:spPr>
          <a:xfrm>
            <a:off x="1097280" y="1225296"/>
            <a:ext cx="1691640" cy="502920"/>
          </a:xfrm>
          <a:prstGeom prst="rect">
            <a:avLst/>
          </a:prstGeom>
          <a:noFill/>
          <a:ln/>
        </p:spPr>
        <p:txBody>
          <a:bodyPr wrap="square" lIns="0" tIns="0" rIns="0" bIns="0" rtlCol="0" anchor="ctr"/>
          <a:lstStyle/>
          <a:p>
            <a:pPr algn="ctr" indent="0" marL="0">
              <a:buNone/>
            </a:pPr>
            <a:r>
              <a:rPr lang="en-US" sz="2800" b="1" dirty="0">
                <a:solidFill>
                  <a:srgbClr val="F4A723"/>
                </a:solidFill>
                <a:latin typeface="Trebuchet MS" pitchFamily="34" charset="0"/>
                <a:ea typeface="Trebuchet MS" pitchFamily="34" charset="-122"/>
                <a:cs typeface="Trebuchet MS" pitchFamily="34" charset="-120"/>
              </a:rPr>
              <a:t>25+</a:t>
            </a:r>
            <a:endParaRPr lang="en-US" sz="2800" dirty="0"/>
          </a:p>
        </p:txBody>
      </p:sp>
      <p:sp>
        <p:nvSpPr>
          <p:cNvPr id="8" name="Text 6"/>
          <p:cNvSpPr/>
          <p:nvPr/>
        </p:nvSpPr>
        <p:spPr>
          <a:xfrm>
            <a:off x="1097280" y="1737360"/>
            <a:ext cx="1691640" cy="292608"/>
          </a:xfrm>
          <a:prstGeom prst="rect">
            <a:avLst/>
          </a:prstGeom>
          <a:noFill/>
          <a:ln/>
        </p:spPr>
        <p:txBody>
          <a:bodyPr wrap="square" lIns="0" tIns="0" rIns="0" bIns="0" rtlCol="0" anchor="ctr"/>
          <a:lstStyle/>
          <a:p>
            <a:pPr algn="ctr" indent="0" marL="0">
              <a:buNone/>
            </a:pPr>
            <a:r>
              <a:rPr lang="en-US" sz="1000" dirty="0">
                <a:solidFill>
                  <a:srgbClr val="C8E0F4"/>
                </a:solidFill>
                <a:latin typeface="Calibri" pitchFamily="34" charset="0"/>
                <a:ea typeface="Calibri" pitchFamily="34" charset="-122"/>
                <a:cs typeface="Calibri" pitchFamily="34" charset="-120"/>
              </a:rPr>
              <a:t>Automated Tests</a:t>
            </a:r>
            <a:endParaRPr lang="en-US" sz="1000" dirty="0"/>
          </a:p>
        </p:txBody>
      </p:sp>
      <p:sp>
        <p:nvSpPr>
          <p:cNvPr id="9" name="Shape 7"/>
          <p:cNvSpPr/>
          <p:nvPr/>
        </p:nvSpPr>
        <p:spPr>
          <a:xfrm>
            <a:off x="3730752" y="1188720"/>
            <a:ext cx="1691640" cy="91440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0" name="Text 8"/>
          <p:cNvSpPr/>
          <p:nvPr/>
        </p:nvSpPr>
        <p:spPr>
          <a:xfrm>
            <a:off x="3730752" y="1225296"/>
            <a:ext cx="1691640" cy="502920"/>
          </a:xfrm>
          <a:prstGeom prst="rect">
            <a:avLst/>
          </a:prstGeom>
          <a:noFill/>
          <a:ln/>
        </p:spPr>
        <p:txBody>
          <a:bodyPr wrap="square" lIns="0" tIns="0" rIns="0" bIns="0" rtlCol="0" anchor="ctr"/>
          <a:lstStyle/>
          <a:p>
            <a:pPr algn="ctr" indent="0" marL="0">
              <a:buNone/>
            </a:pPr>
            <a:r>
              <a:rPr lang="en-US" sz="2800" b="1" dirty="0">
                <a:solidFill>
                  <a:srgbClr val="F4A723"/>
                </a:solidFill>
                <a:latin typeface="Trebuchet MS" pitchFamily="34" charset="0"/>
                <a:ea typeface="Trebuchet MS" pitchFamily="34" charset="-122"/>
                <a:cs typeface="Trebuchet MS" pitchFamily="34" charset="-120"/>
              </a:rPr>
              <a:t>100%</a:t>
            </a:r>
            <a:endParaRPr lang="en-US" sz="2800" dirty="0"/>
          </a:p>
        </p:txBody>
      </p:sp>
      <p:sp>
        <p:nvSpPr>
          <p:cNvPr id="11" name="Text 9"/>
          <p:cNvSpPr/>
          <p:nvPr/>
        </p:nvSpPr>
        <p:spPr>
          <a:xfrm>
            <a:off x="3730752" y="1737360"/>
            <a:ext cx="1691640" cy="292608"/>
          </a:xfrm>
          <a:prstGeom prst="rect">
            <a:avLst/>
          </a:prstGeom>
          <a:noFill/>
          <a:ln/>
        </p:spPr>
        <p:txBody>
          <a:bodyPr wrap="square" lIns="0" tIns="0" rIns="0" bIns="0" rtlCol="0" anchor="ctr"/>
          <a:lstStyle/>
          <a:p>
            <a:pPr algn="ctr" indent="0" marL="0">
              <a:buNone/>
            </a:pPr>
            <a:r>
              <a:rPr lang="en-US" sz="1000" dirty="0">
                <a:solidFill>
                  <a:srgbClr val="C8E0F4"/>
                </a:solidFill>
                <a:latin typeface="Calibri" pitchFamily="34" charset="0"/>
                <a:ea typeface="Calibri" pitchFamily="34" charset="-122"/>
                <a:cs typeface="Calibri" pitchFamily="34" charset="-120"/>
              </a:rPr>
              <a:t>Pass Rate</a:t>
            </a:r>
            <a:endParaRPr lang="en-US" sz="1000" dirty="0"/>
          </a:p>
        </p:txBody>
      </p:sp>
      <p:sp>
        <p:nvSpPr>
          <p:cNvPr id="12" name="Shape 10"/>
          <p:cNvSpPr/>
          <p:nvPr/>
        </p:nvSpPr>
        <p:spPr>
          <a:xfrm>
            <a:off x="6355080" y="1188720"/>
            <a:ext cx="1691640" cy="91440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3" name="Text 11"/>
          <p:cNvSpPr/>
          <p:nvPr/>
        </p:nvSpPr>
        <p:spPr>
          <a:xfrm>
            <a:off x="6355080" y="1225296"/>
            <a:ext cx="1691640" cy="502920"/>
          </a:xfrm>
          <a:prstGeom prst="rect">
            <a:avLst/>
          </a:prstGeom>
          <a:noFill/>
          <a:ln/>
        </p:spPr>
        <p:txBody>
          <a:bodyPr wrap="square" lIns="0" tIns="0" rIns="0" bIns="0" rtlCol="0" anchor="ctr"/>
          <a:lstStyle/>
          <a:p>
            <a:pPr algn="ctr" indent="0" marL="0">
              <a:buNone/>
            </a:pPr>
            <a:r>
              <a:rPr lang="en-US" sz="2800" b="1" dirty="0">
                <a:solidFill>
                  <a:srgbClr val="F4A723"/>
                </a:solidFill>
                <a:latin typeface="Trebuchet MS" pitchFamily="34" charset="0"/>
                <a:ea typeface="Trebuchet MS" pitchFamily="34" charset="-122"/>
                <a:cs typeface="Trebuchet MS" pitchFamily="34" charset="-120"/>
              </a:rPr>
              <a:t>5</a:t>
            </a:r>
            <a:endParaRPr lang="en-US" sz="2800" dirty="0"/>
          </a:p>
        </p:txBody>
      </p:sp>
      <p:sp>
        <p:nvSpPr>
          <p:cNvPr id="14" name="Text 12"/>
          <p:cNvSpPr/>
          <p:nvPr/>
        </p:nvSpPr>
        <p:spPr>
          <a:xfrm>
            <a:off x="6355080" y="1737360"/>
            <a:ext cx="1691640" cy="292608"/>
          </a:xfrm>
          <a:prstGeom prst="rect">
            <a:avLst/>
          </a:prstGeom>
          <a:noFill/>
          <a:ln/>
        </p:spPr>
        <p:txBody>
          <a:bodyPr wrap="square" lIns="0" tIns="0" rIns="0" bIns="0" rtlCol="0" anchor="ctr"/>
          <a:lstStyle/>
          <a:p>
            <a:pPr algn="ctr" indent="0" marL="0">
              <a:buNone/>
            </a:pPr>
            <a:r>
              <a:rPr lang="en-US" sz="1000" dirty="0">
                <a:solidFill>
                  <a:srgbClr val="C8E0F4"/>
                </a:solidFill>
                <a:latin typeface="Calibri" pitchFamily="34" charset="0"/>
                <a:ea typeface="Calibri" pitchFamily="34" charset="-122"/>
                <a:cs typeface="Calibri" pitchFamily="34" charset="-120"/>
              </a:rPr>
              <a:t>Test Categories</a:t>
            </a:r>
            <a:endParaRPr lang="en-US" sz="1000" dirty="0"/>
          </a:p>
        </p:txBody>
      </p:sp>
      <p:sp>
        <p:nvSpPr>
          <p:cNvPr id="15" name="Shape 13"/>
          <p:cNvSpPr/>
          <p:nvPr/>
        </p:nvSpPr>
        <p:spPr>
          <a:xfrm>
            <a:off x="365760" y="2395728"/>
            <a:ext cx="8412480" cy="429768"/>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502920" y="2487168"/>
            <a:ext cx="246888" cy="246888"/>
          </a:xfrm>
          <a:prstGeom prst="ellipse">
            <a:avLst/>
          </a:prstGeom>
          <a:solidFill>
            <a:srgbClr val="2E7D52"/>
          </a:solidFill>
          <a:ln w="12700">
            <a:solidFill>
              <a:srgbClr val="2E7D52"/>
            </a:solidFill>
            <a:prstDash val="solid"/>
          </a:ln>
        </p:spPr>
      </p:sp>
      <p:sp>
        <p:nvSpPr>
          <p:cNvPr id="17" name="Text 15"/>
          <p:cNvSpPr/>
          <p:nvPr/>
        </p:nvSpPr>
        <p:spPr>
          <a:xfrm>
            <a:off x="502920" y="2487168"/>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8" name="Text 16"/>
          <p:cNvSpPr/>
          <p:nvPr/>
        </p:nvSpPr>
        <p:spPr>
          <a:xfrm>
            <a:off x="868680" y="2459736"/>
            <a:ext cx="1920240" cy="292608"/>
          </a:xfrm>
          <a:prstGeom prst="rect">
            <a:avLst/>
          </a:prstGeom>
          <a:noFill/>
          <a:ln/>
        </p:spPr>
        <p:txBody>
          <a:bodyPr wrap="square" lIns="0" tIns="0" rIns="0" bIns="0" rtlCol="0" anchor="ctr"/>
          <a:lstStyle/>
          <a:p>
            <a:pPr algn="l" indent="0" marL="0">
              <a:buNone/>
            </a:pPr>
            <a:r>
              <a:rPr lang="en-US" sz="1200" b="1" dirty="0">
                <a:solidFill>
                  <a:srgbClr val="F4A723"/>
                </a:solidFill>
                <a:latin typeface="Trebuchet MS" pitchFamily="34" charset="0"/>
                <a:ea typeface="Trebuchet MS" pitchFamily="34" charset="-122"/>
                <a:cs typeface="Trebuchet MS" pitchFamily="34" charset="-120"/>
              </a:rPr>
              <a:t>Row Count</a:t>
            </a:r>
            <a:endParaRPr lang="en-US" sz="1200" dirty="0"/>
          </a:p>
        </p:txBody>
      </p:sp>
      <p:sp>
        <p:nvSpPr>
          <p:cNvPr id="19" name="Shape 17"/>
          <p:cNvSpPr/>
          <p:nvPr/>
        </p:nvSpPr>
        <p:spPr>
          <a:xfrm>
            <a:off x="2834640" y="2487168"/>
            <a:ext cx="36576" cy="246888"/>
          </a:xfrm>
          <a:prstGeom prst="rect">
            <a:avLst/>
          </a:prstGeom>
          <a:solidFill>
            <a:srgbClr val="2A4A6A"/>
          </a:solidFill>
          <a:ln w="12700">
            <a:solidFill>
              <a:srgbClr val="2A4A6A"/>
            </a:solidFill>
            <a:prstDash val="solid"/>
          </a:ln>
        </p:spPr>
      </p:sp>
      <p:sp>
        <p:nvSpPr>
          <p:cNvPr id="20" name="Text 18"/>
          <p:cNvSpPr/>
          <p:nvPr/>
        </p:nvSpPr>
        <p:spPr>
          <a:xfrm>
            <a:off x="2944368" y="2459736"/>
            <a:ext cx="5669280" cy="292608"/>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fact_game rows ≈ 2× silver_game; counts within 5% tolerance</a:t>
            </a:r>
            <a:endParaRPr lang="en-US" sz="1100" dirty="0"/>
          </a:p>
        </p:txBody>
      </p:sp>
      <p:sp>
        <p:nvSpPr>
          <p:cNvPr id="21" name="Shape 19"/>
          <p:cNvSpPr/>
          <p:nvPr/>
        </p:nvSpPr>
        <p:spPr>
          <a:xfrm>
            <a:off x="365760" y="2898648"/>
            <a:ext cx="8412480" cy="429768"/>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22" name="Shape 20"/>
          <p:cNvSpPr/>
          <p:nvPr/>
        </p:nvSpPr>
        <p:spPr>
          <a:xfrm>
            <a:off x="502920" y="2990088"/>
            <a:ext cx="246888" cy="246888"/>
          </a:xfrm>
          <a:prstGeom prst="ellipse">
            <a:avLst/>
          </a:prstGeom>
          <a:solidFill>
            <a:srgbClr val="2E7D52"/>
          </a:solidFill>
          <a:ln w="12700">
            <a:solidFill>
              <a:srgbClr val="2E7D52"/>
            </a:solidFill>
            <a:prstDash val="solid"/>
          </a:ln>
        </p:spPr>
      </p:sp>
      <p:sp>
        <p:nvSpPr>
          <p:cNvPr id="23" name="Text 21"/>
          <p:cNvSpPr/>
          <p:nvPr/>
        </p:nvSpPr>
        <p:spPr>
          <a:xfrm>
            <a:off x="502920" y="2990088"/>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4" name="Text 22"/>
          <p:cNvSpPr/>
          <p:nvPr/>
        </p:nvSpPr>
        <p:spPr>
          <a:xfrm>
            <a:off x="868680" y="2962656"/>
            <a:ext cx="1920240" cy="292608"/>
          </a:xfrm>
          <a:prstGeom prst="rect">
            <a:avLst/>
          </a:prstGeom>
          <a:noFill/>
          <a:ln/>
        </p:spPr>
        <p:txBody>
          <a:bodyPr wrap="square" lIns="0" tIns="0" rIns="0" bIns="0" rtlCol="0" anchor="ctr"/>
          <a:lstStyle/>
          <a:p>
            <a:pPr algn="l" indent="0" marL="0">
              <a:buNone/>
            </a:pPr>
            <a:r>
              <a:rPr lang="en-US" sz="1200" b="1" dirty="0">
                <a:solidFill>
                  <a:srgbClr val="F4A723"/>
                </a:solidFill>
                <a:latin typeface="Trebuchet MS" pitchFamily="34" charset="0"/>
                <a:ea typeface="Trebuchet MS" pitchFamily="34" charset="-122"/>
                <a:cs typeface="Trebuchet MS" pitchFamily="34" charset="-120"/>
              </a:rPr>
              <a:t>Null Checks</a:t>
            </a:r>
            <a:endParaRPr lang="en-US" sz="1200" dirty="0"/>
          </a:p>
        </p:txBody>
      </p:sp>
      <p:sp>
        <p:nvSpPr>
          <p:cNvPr id="25" name="Shape 23"/>
          <p:cNvSpPr/>
          <p:nvPr/>
        </p:nvSpPr>
        <p:spPr>
          <a:xfrm>
            <a:off x="2834640" y="2990088"/>
            <a:ext cx="36576" cy="246888"/>
          </a:xfrm>
          <a:prstGeom prst="rect">
            <a:avLst/>
          </a:prstGeom>
          <a:solidFill>
            <a:srgbClr val="2A4A6A"/>
          </a:solidFill>
          <a:ln w="12700">
            <a:solidFill>
              <a:srgbClr val="2A4A6A"/>
            </a:solidFill>
            <a:prstDash val="solid"/>
          </a:ln>
        </p:spPr>
      </p:sp>
      <p:sp>
        <p:nvSpPr>
          <p:cNvPr id="26" name="Text 24"/>
          <p:cNvSpPr/>
          <p:nvPr/>
        </p:nvSpPr>
        <p:spPr>
          <a:xfrm>
            <a:off x="2944368" y="2962656"/>
            <a:ext cx="5669280" cy="292608"/>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Zero nulls on all primary keys and critical metric columns</a:t>
            </a:r>
            <a:endParaRPr lang="en-US" sz="1100" dirty="0"/>
          </a:p>
        </p:txBody>
      </p:sp>
      <p:sp>
        <p:nvSpPr>
          <p:cNvPr id="27" name="Shape 25"/>
          <p:cNvSpPr/>
          <p:nvPr/>
        </p:nvSpPr>
        <p:spPr>
          <a:xfrm>
            <a:off x="365760" y="3401568"/>
            <a:ext cx="8412480" cy="429768"/>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28" name="Shape 26"/>
          <p:cNvSpPr/>
          <p:nvPr/>
        </p:nvSpPr>
        <p:spPr>
          <a:xfrm>
            <a:off x="502920" y="3493008"/>
            <a:ext cx="246888" cy="246888"/>
          </a:xfrm>
          <a:prstGeom prst="ellipse">
            <a:avLst/>
          </a:prstGeom>
          <a:solidFill>
            <a:srgbClr val="2E7D52"/>
          </a:solidFill>
          <a:ln w="12700">
            <a:solidFill>
              <a:srgbClr val="2E7D52"/>
            </a:solidFill>
            <a:prstDash val="solid"/>
          </a:ln>
        </p:spPr>
      </p:sp>
      <p:sp>
        <p:nvSpPr>
          <p:cNvPr id="29" name="Text 27"/>
          <p:cNvSpPr/>
          <p:nvPr/>
        </p:nvSpPr>
        <p:spPr>
          <a:xfrm>
            <a:off x="502920" y="3493008"/>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0" name="Text 28"/>
          <p:cNvSpPr/>
          <p:nvPr/>
        </p:nvSpPr>
        <p:spPr>
          <a:xfrm>
            <a:off x="868680" y="3465576"/>
            <a:ext cx="1920240" cy="292608"/>
          </a:xfrm>
          <a:prstGeom prst="rect">
            <a:avLst/>
          </a:prstGeom>
          <a:noFill/>
          <a:ln/>
        </p:spPr>
        <p:txBody>
          <a:bodyPr wrap="square" lIns="0" tIns="0" rIns="0" bIns="0" rtlCol="0" anchor="ctr"/>
          <a:lstStyle/>
          <a:p>
            <a:pPr algn="l" indent="0" marL="0">
              <a:buNone/>
            </a:pPr>
            <a:r>
              <a:rPr lang="en-US" sz="1200" b="1" dirty="0">
                <a:solidFill>
                  <a:srgbClr val="F4A723"/>
                </a:solidFill>
                <a:latin typeface="Trebuchet MS" pitchFamily="34" charset="0"/>
                <a:ea typeface="Trebuchet MS" pitchFamily="34" charset="-122"/>
                <a:cs typeface="Trebuchet MS" pitchFamily="34" charset="-120"/>
              </a:rPr>
              <a:t>Referential Integrity</a:t>
            </a:r>
            <a:endParaRPr lang="en-US" sz="1200" dirty="0"/>
          </a:p>
        </p:txBody>
      </p:sp>
      <p:sp>
        <p:nvSpPr>
          <p:cNvPr id="31" name="Shape 29"/>
          <p:cNvSpPr/>
          <p:nvPr/>
        </p:nvSpPr>
        <p:spPr>
          <a:xfrm>
            <a:off x="2834640" y="3493008"/>
            <a:ext cx="36576" cy="246888"/>
          </a:xfrm>
          <a:prstGeom prst="rect">
            <a:avLst/>
          </a:prstGeom>
          <a:solidFill>
            <a:srgbClr val="2A4A6A"/>
          </a:solidFill>
          <a:ln w="12700">
            <a:solidFill>
              <a:srgbClr val="2A4A6A"/>
            </a:solidFill>
            <a:prstDash val="solid"/>
          </a:ln>
        </p:spPr>
      </p:sp>
      <p:sp>
        <p:nvSpPr>
          <p:cNvPr id="32" name="Text 30"/>
          <p:cNvSpPr/>
          <p:nvPr/>
        </p:nvSpPr>
        <p:spPr>
          <a:xfrm>
            <a:off x="2944368" y="3465576"/>
            <a:ext cx="5669280" cy="292608"/>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Zero orphan rows — every FK maps to a valid dimension row</a:t>
            </a:r>
            <a:endParaRPr lang="en-US" sz="1100" dirty="0"/>
          </a:p>
        </p:txBody>
      </p:sp>
      <p:sp>
        <p:nvSpPr>
          <p:cNvPr id="33" name="Shape 31"/>
          <p:cNvSpPr/>
          <p:nvPr/>
        </p:nvSpPr>
        <p:spPr>
          <a:xfrm>
            <a:off x="365760" y="3904488"/>
            <a:ext cx="8412480" cy="429768"/>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34" name="Shape 32"/>
          <p:cNvSpPr/>
          <p:nvPr/>
        </p:nvSpPr>
        <p:spPr>
          <a:xfrm>
            <a:off x="502920" y="3995928"/>
            <a:ext cx="246888" cy="246888"/>
          </a:xfrm>
          <a:prstGeom prst="ellipse">
            <a:avLst/>
          </a:prstGeom>
          <a:solidFill>
            <a:srgbClr val="2E7D52"/>
          </a:solidFill>
          <a:ln w="12700">
            <a:solidFill>
              <a:srgbClr val="2E7D52"/>
            </a:solidFill>
            <a:prstDash val="solid"/>
          </a:ln>
        </p:spPr>
      </p:sp>
      <p:sp>
        <p:nvSpPr>
          <p:cNvPr id="35" name="Text 33"/>
          <p:cNvSpPr/>
          <p:nvPr/>
        </p:nvSpPr>
        <p:spPr>
          <a:xfrm>
            <a:off x="502920" y="3995928"/>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6" name="Text 34"/>
          <p:cNvSpPr/>
          <p:nvPr/>
        </p:nvSpPr>
        <p:spPr>
          <a:xfrm>
            <a:off x="868680" y="3968496"/>
            <a:ext cx="1920240" cy="292608"/>
          </a:xfrm>
          <a:prstGeom prst="rect">
            <a:avLst/>
          </a:prstGeom>
          <a:noFill/>
          <a:ln/>
        </p:spPr>
        <p:txBody>
          <a:bodyPr wrap="square" lIns="0" tIns="0" rIns="0" bIns="0" rtlCol="0" anchor="ctr"/>
          <a:lstStyle/>
          <a:p>
            <a:pPr algn="l" indent="0" marL="0">
              <a:buNone/>
            </a:pPr>
            <a:r>
              <a:rPr lang="en-US" sz="1200" b="1" dirty="0">
                <a:solidFill>
                  <a:srgbClr val="F4A723"/>
                </a:solidFill>
                <a:latin typeface="Trebuchet MS" pitchFamily="34" charset="0"/>
                <a:ea typeface="Trebuchet MS" pitchFamily="34" charset="-122"/>
                <a:cs typeface="Trebuchet MS" pitchFamily="34" charset="-120"/>
              </a:rPr>
              <a:t>Business Logic</a:t>
            </a:r>
            <a:endParaRPr lang="en-US" sz="1200" dirty="0"/>
          </a:p>
        </p:txBody>
      </p:sp>
      <p:sp>
        <p:nvSpPr>
          <p:cNvPr id="37" name="Shape 35"/>
          <p:cNvSpPr/>
          <p:nvPr/>
        </p:nvSpPr>
        <p:spPr>
          <a:xfrm>
            <a:off x="2834640" y="3995928"/>
            <a:ext cx="36576" cy="246888"/>
          </a:xfrm>
          <a:prstGeom prst="rect">
            <a:avLst/>
          </a:prstGeom>
          <a:solidFill>
            <a:srgbClr val="2A4A6A"/>
          </a:solidFill>
          <a:ln w="12700">
            <a:solidFill>
              <a:srgbClr val="2A4A6A"/>
            </a:solidFill>
            <a:prstDash val="solid"/>
          </a:ln>
        </p:spPr>
      </p:sp>
      <p:sp>
        <p:nvSpPr>
          <p:cNvPr id="38" name="Text 36"/>
          <p:cNvSpPr/>
          <p:nvPr/>
        </p:nvSpPr>
        <p:spPr>
          <a:xfrm>
            <a:off x="2944368" y="3968496"/>
            <a:ext cx="5669280" cy="292608"/>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won is boolean, goals ≥ 0, exactly 2 team rows per game</a:t>
            </a:r>
            <a:endParaRPr lang="en-US" sz="1100" dirty="0"/>
          </a:p>
        </p:txBody>
      </p:sp>
      <p:sp>
        <p:nvSpPr>
          <p:cNvPr id="39" name="Shape 37"/>
          <p:cNvSpPr/>
          <p:nvPr/>
        </p:nvSpPr>
        <p:spPr>
          <a:xfrm>
            <a:off x="365760" y="4407408"/>
            <a:ext cx="8412480" cy="429768"/>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40" name="Shape 38"/>
          <p:cNvSpPr/>
          <p:nvPr/>
        </p:nvSpPr>
        <p:spPr>
          <a:xfrm>
            <a:off x="502920" y="4498848"/>
            <a:ext cx="246888" cy="246888"/>
          </a:xfrm>
          <a:prstGeom prst="ellipse">
            <a:avLst/>
          </a:prstGeom>
          <a:solidFill>
            <a:srgbClr val="2E7D52"/>
          </a:solidFill>
          <a:ln w="12700">
            <a:solidFill>
              <a:srgbClr val="2E7D52"/>
            </a:solidFill>
            <a:prstDash val="solid"/>
          </a:ln>
        </p:spPr>
      </p:sp>
      <p:sp>
        <p:nvSpPr>
          <p:cNvPr id="41" name="Text 39"/>
          <p:cNvSpPr/>
          <p:nvPr/>
        </p:nvSpPr>
        <p:spPr>
          <a:xfrm>
            <a:off x="502920" y="4498848"/>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42" name="Text 40"/>
          <p:cNvSpPr/>
          <p:nvPr/>
        </p:nvSpPr>
        <p:spPr>
          <a:xfrm>
            <a:off x="868680" y="4471416"/>
            <a:ext cx="1920240" cy="292608"/>
          </a:xfrm>
          <a:prstGeom prst="rect">
            <a:avLst/>
          </a:prstGeom>
          <a:noFill/>
          <a:ln/>
        </p:spPr>
        <p:txBody>
          <a:bodyPr wrap="square" lIns="0" tIns="0" rIns="0" bIns="0" rtlCol="0" anchor="ctr"/>
          <a:lstStyle/>
          <a:p>
            <a:pPr algn="l" indent="0" marL="0">
              <a:buNone/>
            </a:pPr>
            <a:r>
              <a:rPr lang="en-US" sz="1200" b="1" dirty="0">
                <a:solidFill>
                  <a:srgbClr val="F4A723"/>
                </a:solidFill>
                <a:latin typeface="Trebuchet MS" pitchFamily="34" charset="0"/>
                <a:ea typeface="Trebuchet MS" pitchFamily="34" charset="-122"/>
                <a:cs typeface="Trebuchet MS" pitchFamily="34" charset="-120"/>
              </a:rPr>
              <a:t>Range Checks</a:t>
            </a:r>
            <a:endParaRPr lang="en-US" sz="1200" dirty="0"/>
          </a:p>
        </p:txBody>
      </p:sp>
      <p:sp>
        <p:nvSpPr>
          <p:cNvPr id="43" name="Shape 41"/>
          <p:cNvSpPr/>
          <p:nvPr/>
        </p:nvSpPr>
        <p:spPr>
          <a:xfrm>
            <a:off x="2834640" y="4498848"/>
            <a:ext cx="36576" cy="246888"/>
          </a:xfrm>
          <a:prstGeom prst="rect">
            <a:avLst/>
          </a:prstGeom>
          <a:solidFill>
            <a:srgbClr val="2A4A6A"/>
          </a:solidFill>
          <a:ln w="12700">
            <a:solidFill>
              <a:srgbClr val="2A4A6A"/>
            </a:solidFill>
            <a:prstDash val="solid"/>
          </a:ln>
        </p:spPr>
      </p:sp>
      <p:sp>
        <p:nvSpPr>
          <p:cNvPr id="44" name="Text 42"/>
          <p:cNvSpPr/>
          <p:nvPr/>
        </p:nvSpPr>
        <p:spPr>
          <a:xfrm>
            <a:off x="2944368" y="4471416"/>
            <a:ext cx="5669280" cy="292608"/>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Period 1–5, shot coordinates within NHL rink bounds, valid seasons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1956816" cy="237744"/>
          </a:xfrm>
          <a:prstGeom prst="rect">
            <a:avLst/>
          </a:prstGeom>
          <a:solidFill>
            <a:srgbClr val="F4A723"/>
          </a:solidFill>
          <a:ln w="12700">
            <a:solidFill>
              <a:srgbClr val="F4A723"/>
            </a:solidFill>
            <a:prstDash val="solid"/>
          </a:ln>
          <a:effectLst>
            <a:outerShdw sx="100000" sy="100000" kx="0" ky="0" algn="bl" rotWithShape="0" blurRad="101600" dist="38100" dir="8100000">
              <a:srgbClr val="000000">
                <a:alpha val="18000"/>
              </a:srgbClr>
            </a:outerShdw>
          </a:effectLst>
        </p:spPr>
      </p:sp>
      <p:sp>
        <p:nvSpPr>
          <p:cNvPr id="3" name="Text 1"/>
          <p:cNvSpPr/>
          <p:nvPr/>
        </p:nvSpPr>
        <p:spPr>
          <a:xfrm>
            <a:off x="457200" y="256032"/>
            <a:ext cx="1956816" cy="237744"/>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08 — RECOMMENDATIONS</a:t>
            </a:r>
            <a:endParaRPr lang="en-US" sz="900" dirty="0"/>
          </a:p>
        </p:txBody>
      </p:sp>
      <p:sp>
        <p:nvSpPr>
          <p:cNvPr id="4" name="Shape 2"/>
          <p:cNvSpPr/>
          <p:nvPr/>
        </p:nvSpPr>
        <p:spPr>
          <a:xfrm>
            <a:off x="457200" y="621792"/>
            <a:ext cx="50292" cy="475488"/>
          </a:xfrm>
          <a:prstGeom prst="rect">
            <a:avLst/>
          </a:prstGeom>
          <a:solidFill>
            <a:srgbClr val="F4A723"/>
          </a:solidFill>
          <a:ln w="12700">
            <a:solidFill>
              <a:srgbClr val="F4A723"/>
            </a:solidFill>
            <a:prstDash val="solid"/>
          </a:ln>
        </p:spPr>
      </p:sp>
      <p:sp>
        <p:nvSpPr>
          <p:cNvPr id="5" name="Text 3"/>
          <p:cNvSpPr/>
          <p:nvPr/>
        </p:nvSpPr>
        <p:spPr>
          <a:xfrm>
            <a:off x="621792" y="621792"/>
            <a:ext cx="822960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Trebuchet MS" pitchFamily="34" charset="0"/>
                <a:ea typeface="Trebuchet MS" pitchFamily="34" charset="-122"/>
                <a:cs typeface="Trebuchet MS" pitchFamily="34" charset="-120"/>
              </a:rPr>
              <a:t>Business Recommendations</a:t>
            </a:r>
            <a:endParaRPr lang="en-US" sz="2800" dirty="0"/>
          </a:p>
        </p:txBody>
      </p:sp>
      <p:sp>
        <p:nvSpPr>
          <p:cNvPr id="6" name="Shape 4"/>
          <p:cNvSpPr/>
          <p:nvPr/>
        </p:nvSpPr>
        <p:spPr>
          <a:xfrm>
            <a:off x="365760" y="1261872"/>
            <a:ext cx="8412480" cy="59436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65760" y="1261872"/>
            <a:ext cx="475488" cy="594360"/>
          </a:xfrm>
          <a:prstGeom prst="rect">
            <a:avLst/>
          </a:prstGeom>
          <a:solidFill>
            <a:srgbClr val="F4A723"/>
          </a:solidFill>
          <a:ln w="12700">
            <a:solidFill>
              <a:srgbClr val="F4A723"/>
            </a:solidFill>
            <a:prstDash val="solid"/>
          </a:ln>
        </p:spPr>
      </p:sp>
      <p:sp>
        <p:nvSpPr>
          <p:cNvPr id="8" name="Text 6"/>
          <p:cNvSpPr/>
          <p:nvPr/>
        </p:nvSpPr>
        <p:spPr>
          <a:xfrm>
            <a:off x="365760" y="1261872"/>
            <a:ext cx="475488" cy="594360"/>
          </a:xfrm>
          <a:prstGeom prst="rect">
            <a:avLst/>
          </a:prstGeom>
          <a:noFill/>
          <a:ln/>
        </p:spPr>
        <p:txBody>
          <a:bodyPr wrap="square" lIns="0" tIns="0" rIns="0" bIns="0" rtlCol="0" anchor="ctr"/>
          <a:lstStyle/>
          <a:p>
            <a:pPr algn="ctr" indent="0" marL="0">
              <a:buNone/>
            </a:pPr>
            <a:r>
              <a:rPr lang="en-US" sz="1800" b="1" dirty="0">
                <a:solidFill>
                  <a:srgbClr val="0D1B2A"/>
                </a:solidFill>
                <a:latin typeface="Trebuchet MS" pitchFamily="34" charset="0"/>
                <a:ea typeface="Trebuchet MS" pitchFamily="34" charset="-122"/>
                <a:cs typeface="Trebuchet MS" pitchFamily="34" charset="-120"/>
              </a:rPr>
              <a:t>1</a:t>
            </a:r>
            <a:endParaRPr lang="en-US" sz="1800" dirty="0"/>
          </a:p>
        </p:txBody>
      </p:sp>
      <p:sp>
        <p:nvSpPr>
          <p:cNvPr id="9" name="Text 7"/>
          <p:cNvSpPr/>
          <p:nvPr/>
        </p:nvSpPr>
        <p:spPr>
          <a:xfrm>
            <a:off x="987552" y="1325880"/>
            <a:ext cx="3520440" cy="329184"/>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Prioritise Power Play Efficiency</a:t>
            </a:r>
            <a:endParaRPr lang="en-US" sz="1300" dirty="0"/>
          </a:p>
        </p:txBody>
      </p:sp>
      <p:sp>
        <p:nvSpPr>
          <p:cNvPr id="10" name="Shape 8"/>
          <p:cNvSpPr/>
          <p:nvPr/>
        </p:nvSpPr>
        <p:spPr>
          <a:xfrm>
            <a:off x="4617720" y="1353312"/>
            <a:ext cx="36576" cy="411480"/>
          </a:xfrm>
          <a:prstGeom prst="rect">
            <a:avLst/>
          </a:prstGeom>
          <a:solidFill>
            <a:srgbClr val="2A4A6A"/>
          </a:solidFill>
          <a:ln w="12700">
            <a:solidFill>
              <a:srgbClr val="2A4A6A"/>
            </a:solidFill>
            <a:prstDash val="solid"/>
          </a:ln>
        </p:spPr>
      </p:sp>
      <p:sp>
        <p:nvSpPr>
          <p:cNvPr id="11" name="Text 9"/>
          <p:cNvSpPr/>
          <p:nvPr/>
        </p:nvSpPr>
        <p:spPr>
          <a:xfrm>
            <a:off x="4736592" y="1335024"/>
            <a:ext cx="3931920" cy="438912"/>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Top-quartile PP% teams win 8–12% more games — invest in special teams training</a:t>
            </a:r>
            <a:endParaRPr lang="en-US" sz="1100" dirty="0"/>
          </a:p>
        </p:txBody>
      </p:sp>
      <p:sp>
        <p:nvSpPr>
          <p:cNvPr id="12" name="Shape 10"/>
          <p:cNvSpPr/>
          <p:nvPr/>
        </p:nvSpPr>
        <p:spPr>
          <a:xfrm>
            <a:off x="365760" y="1975104"/>
            <a:ext cx="8412480" cy="59436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365760" y="1975104"/>
            <a:ext cx="475488" cy="594360"/>
          </a:xfrm>
          <a:prstGeom prst="rect">
            <a:avLst/>
          </a:prstGeom>
          <a:solidFill>
            <a:srgbClr val="F4A723"/>
          </a:solidFill>
          <a:ln w="12700">
            <a:solidFill>
              <a:srgbClr val="F4A723"/>
            </a:solidFill>
            <a:prstDash val="solid"/>
          </a:ln>
        </p:spPr>
      </p:sp>
      <p:sp>
        <p:nvSpPr>
          <p:cNvPr id="14" name="Text 12"/>
          <p:cNvSpPr/>
          <p:nvPr/>
        </p:nvSpPr>
        <p:spPr>
          <a:xfrm>
            <a:off x="365760" y="1975104"/>
            <a:ext cx="475488" cy="594360"/>
          </a:xfrm>
          <a:prstGeom prst="rect">
            <a:avLst/>
          </a:prstGeom>
          <a:noFill/>
          <a:ln/>
        </p:spPr>
        <p:txBody>
          <a:bodyPr wrap="square" lIns="0" tIns="0" rIns="0" bIns="0" rtlCol="0" anchor="ctr"/>
          <a:lstStyle/>
          <a:p>
            <a:pPr algn="ctr" indent="0" marL="0">
              <a:buNone/>
            </a:pPr>
            <a:r>
              <a:rPr lang="en-US" sz="1800" b="1" dirty="0">
                <a:solidFill>
                  <a:srgbClr val="0D1B2A"/>
                </a:solidFill>
                <a:latin typeface="Trebuchet MS" pitchFamily="34" charset="0"/>
                <a:ea typeface="Trebuchet MS" pitchFamily="34" charset="-122"/>
                <a:cs typeface="Trebuchet MS" pitchFamily="34" charset="-120"/>
              </a:rPr>
              <a:t>2</a:t>
            </a:r>
            <a:endParaRPr lang="en-US" sz="1800" dirty="0"/>
          </a:p>
        </p:txBody>
      </p:sp>
      <p:sp>
        <p:nvSpPr>
          <p:cNvPr id="15" name="Text 13"/>
          <p:cNvSpPr/>
          <p:nvPr/>
        </p:nvSpPr>
        <p:spPr>
          <a:xfrm>
            <a:off x="987552" y="2039112"/>
            <a:ext cx="3520440" cy="329184"/>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Shot Volume is a Leading Indicator</a:t>
            </a:r>
            <a:endParaRPr lang="en-US" sz="1300" dirty="0"/>
          </a:p>
        </p:txBody>
      </p:sp>
      <p:sp>
        <p:nvSpPr>
          <p:cNvPr id="16" name="Shape 14"/>
          <p:cNvSpPr/>
          <p:nvPr/>
        </p:nvSpPr>
        <p:spPr>
          <a:xfrm>
            <a:off x="4617720" y="2066544"/>
            <a:ext cx="36576" cy="411480"/>
          </a:xfrm>
          <a:prstGeom prst="rect">
            <a:avLst/>
          </a:prstGeom>
          <a:solidFill>
            <a:srgbClr val="2A4A6A"/>
          </a:solidFill>
          <a:ln w="12700">
            <a:solidFill>
              <a:srgbClr val="2A4A6A"/>
            </a:solidFill>
            <a:prstDash val="solid"/>
          </a:ln>
        </p:spPr>
      </p:sp>
      <p:sp>
        <p:nvSpPr>
          <p:cNvPr id="17" name="Text 15"/>
          <p:cNvSpPr/>
          <p:nvPr/>
        </p:nvSpPr>
        <p:spPr>
          <a:xfrm>
            <a:off x="4736592" y="2048256"/>
            <a:ext cx="3931920" cy="438912"/>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Teams with 35+ shots/game win significantly more; build shot-generating systems</a:t>
            </a:r>
            <a:endParaRPr lang="en-US" sz="1100" dirty="0"/>
          </a:p>
        </p:txBody>
      </p:sp>
      <p:sp>
        <p:nvSpPr>
          <p:cNvPr id="18" name="Shape 16"/>
          <p:cNvSpPr/>
          <p:nvPr/>
        </p:nvSpPr>
        <p:spPr>
          <a:xfrm>
            <a:off x="365760" y="2688336"/>
            <a:ext cx="8412480" cy="59436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365760" y="2688336"/>
            <a:ext cx="475488" cy="594360"/>
          </a:xfrm>
          <a:prstGeom prst="rect">
            <a:avLst/>
          </a:prstGeom>
          <a:solidFill>
            <a:srgbClr val="F4A723"/>
          </a:solidFill>
          <a:ln w="12700">
            <a:solidFill>
              <a:srgbClr val="F4A723"/>
            </a:solidFill>
            <a:prstDash val="solid"/>
          </a:ln>
        </p:spPr>
      </p:sp>
      <p:sp>
        <p:nvSpPr>
          <p:cNvPr id="20" name="Text 18"/>
          <p:cNvSpPr/>
          <p:nvPr/>
        </p:nvSpPr>
        <p:spPr>
          <a:xfrm>
            <a:off x="365760" y="2688336"/>
            <a:ext cx="475488" cy="594360"/>
          </a:xfrm>
          <a:prstGeom prst="rect">
            <a:avLst/>
          </a:prstGeom>
          <a:noFill/>
          <a:ln/>
        </p:spPr>
        <p:txBody>
          <a:bodyPr wrap="square" lIns="0" tIns="0" rIns="0" bIns="0" rtlCol="0" anchor="ctr"/>
          <a:lstStyle/>
          <a:p>
            <a:pPr algn="ctr" indent="0" marL="0">
              <a:buNone/>
            </a:pPr>
            <a:r>
              <a:rPr lang="en-US" sz="1800" b="1" dirty="0">
                <a:solidFill>
                  <a:srgbClr val="0D1B2A"/>
                </a:solidFill>
                <a:latin typeface="Trebuchet MS" pitchFamily="34" charset="0"/>
                <a:ea typeface="Trebuchet MS" pitchFamily="34" charset="-122"/>
                <a:cs typeface="Trebuchet MS" pitchFamily="34" charset="-120"/>
              </a:rPr>
              <a:t>3</a:t>
            </a:r>
            <a:endParaRPr lang="en-US" sz="1800" dirty="0"/>
          </a:p>
        </p:txBody>
      </p:sp>
      <p:sp>
        <p:nvSpPr>
          <p:cNvPr id="21" name="Text 19"/>
          <p:cNvSpPr/>
          <p:nvPr/>
        </p:nvSpPr>
        <p:spPr>
          <a:xfrm>
            <a:off x="987552" y="2752344"/>
            <a:ext cx="3520440" cy="329184"/>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Home Ice Scheduling Matters</a:t>
            </a:r>
            <a:endParaRPr lang="en-US" sz="1300" dirty="0"/>
          </a:p>
        </p:txBody>
      </p:sp>
      <p:sp>
        <p:nvSpPr>
          <p:cNvPr id="22" name="Shape 20"/>
          <p:cNvSpPr/>
          <p:nvPr/>
        </p:nvSpPr>
        <p:spPr>
          <a:xfrm>
            <a:off x="4617720" y="2779776"/>
            <a:ext cx="36576" cy="411480"/>
          </a:xfrm>
          <a:prstGeom prst="rect">
            <a:avLst/>
          </a:prstGeom>
          <a:solidFill>
            <a:srgbClr val="2A4A6A"/>
          </a:solidFill>
          <a:ln w="12700">
            <a:solidFill>
              <a:srgbClr val="2A4A6A"/>
            </a:solidFill>
            <a:prstDash val="solid"/>
          </a:ln>
        </p:spPr>
      </p:sp>
      <p:sp>
        <p:nvSpPr>
          <p:cNvPr id="23" name="Text 21"/>
          <p:cNvSpPr/>
          <p:nvPr/>
        </p:nvSpPr>
        <p:spPr>
          <a:xfrm>
            <a:off x="4736592" y="2761488"/>
            <a:ext cx="3931920" cy="438912"/>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~55% home win rate makes playoff seeding — and home ice — a critical strategic goal</a:t>
            </a:r>
            <a:endParaRPr lang="en-US" sz="1100" dirty="0"/>
          </a:p>
        </p:txBody>
      </p:sp>
      <p:sp>
        <p:nvSpPr>
          <p:cNvPr id="24" name="Shape 22"/>
          <p:cNvSpPr/>
          <p:nvPr/>
        </p:nvSpPr>
        <p:spPr>
          <a:xfrm>
            <a:off x="365760" y="3401568"/>
            <a:ext cx="8412480" cy="59436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365760" y="3401568"/>
            <a:ext cx="475488" cy="594360"/>
          </a:xfrm>
          <a:prstGeom prst="rect">
            <a:avLst/>
          </a:prstGeom>
          <a:solidFill>
            <a:srgbClr val="F4A723"/>
          </a:solidFill>
          <a:ln w="12700">
            <a:solidFill>
              <a:srgbClr val="F4A723"/>
            </a:solidFill>
            <a:prstDash val="solid"/>
          </a:ln>
        </p:spPr>
      </p:sp>
      <p:sp>
        <p:nvSpPr>
          <p:cNvPr id="26" name="Text 24"/>
          <p:cNvSpPr/>
          <p:nvPr/>
        </p:nvSpPr>
        <p:spPr>
          <a:xfrm>
            <a:off x="365760" y="3401568"/>
            <a:ext cx="475488" cy="594360"/>
          </a:xfrm>
          <a:prstGeom prst="rect">
            <a:avLst/>
          </a:prstGeom>
          <a:noFill/>
          <a:ln/>
        </p:spPr>
        <p:txBody>
          <a:bodyPr wrap="square" lIns="0" tIns="0" rIns="0" bIns="0" rtlCol="0" anchor="ctr"/>
          <a:lstStyle/>
          <a:p>
            <a:pPr algn="ctr" indent="0" marL="0">
              <a:buNone/>
            </a:pPr>
            <a:r>
              <a:rPr lang="en-US" sz="1800" b="1" dirty="0">
                <a:solidFill>
                  <a:srgbClr val="0D1B2A"/>
                </a:solidFill>
                <a:latin typeface="Trebuchet MS" pitchFamily="34" charset="0"/>
                <a:ea typeface="Trebuchet MS" pitchFamily="34" charset="-122"/>
                <a:cs typeface="Trebuchet MS" pitchFamily="34" charset="-120"/>
              </a:rPr>
              <a:t>4</a:t>
            </a:r>
            <a:endParaRPr lang="en-US" sz="1800" dirty="0"/>
          </a:p>
        </p:txBody>
      </p:sp>
      <p:sp>
        <p:nvSpPr>
          <p:cNvPr id="27" name="Text 25"/>
          <p:cNvSpPr/>
          <p:nvPr/>
        </p:nvSpPr>
        <p:spPr>
          <a:xfrm>
            <a:off x="987552" y="3465576"/>
            <a:ext cx="3520440" cy="329184"/>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Win Faceoffs, Win Possession</a:t>
            </a:r>
            <a:endParaRPr lang="en-US" sz="1300" dirty="0"/>
          </a:p>
        </p:txBody>
      </p:sp>
      <p:sp>
        <p:nvSpPr>
          <p:cNvPr id="28" name="Shape 26"/>
          <p:cNvSpPr/>
          <p:nvPr/>
        </p:nvSpPr>
        <p:spPr>
          <a:xfrm>
            <a:off x="4617720" y="3493008"/>
            <a:ext cx="36576" cy="411480"/>
          </a:xfrm>
          <a:prstGeom prst="rect">
            <a:avLst/>
          </a:prstGeom>
          <a:solidFill>
            <a:srgbClr val="2A4A6A"/>
          </a:solidFill>
          <a:ln w="12700">
            <a:solidFill>
              <a:srgbClr val="2A4A6A"/>
            </a:solidFill>
            <a:prstDash val="solid"/>
          </a:ln>
        </p:spPr>
      </p:sp>
      <p:sp>
        <p:nvSpPr>
          <p:cNvPr id="29" name="Text 27"/>
          <p:cNvSpPr/>
          <p:nvPr/>
        </p:nvSpPr>
        <p:spPr>
          <a:xfrm>
            <a:off x="4736592" y="3474720"/>
            <a:ext cx="3931920" cy="438912"/>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Teams at 52%+ faceoff win% control puck time and generate high-danger chances</a:t>
            </a:r>
            <a:endParaRPr lang="en-US" sz="1100" dirty="0"/>
          </a:p>
        </p:txBody>
      </p:sp>
      <p:sp>
        <p:nvSpPr>
          <p:cNvPr id="30" name="Shape 28"/>
          <p:cNvSpPr/>
          <p:nvPr/>
        </p:nvSpPr>
        <p:spPr>
          <a:xfrm>
            <a:off x="365760" y="4114800"/>
            <a:ext cx="8412480" cy="59436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31" name="Shape 29"/>
          <p:cNvSpPr/>
          <p:nvPr/>
        </p:nvSpPr>
        <p:spPr>
          <a:xfrm>
            <a:off x="365760" y="4114800"/>
            <a:ext cx="475488" cy="594360"/>
          </a:xfrm>
          <a:prstGeom prst="rect">
            <a:avLst/>
          </a:prstGeom>
          <a:solidFill>
            <a:srgbClr val="F4A723"/>
          </a:solidFill>
          <a:ln w="12700">
            <a:solidFill>
              <a:srgbClr val="F4A723"/>
            </a:solidFill>
            <a:prstDash val="solid"/>
          </a:ln>
        </p:spPr>
      </p:sp>
      <p:sp>
        <p:nvSpPr>
          <p:cNvPr id="32" name="Text 30"/>
          <p:cNvSpPr/>
          <p:nvPr/>
        </p:nvSpPr>
        <p:spPr>
          <a:xfrm>
            <a:off x="365760" y="4114800"/>
            <a:ext cx="475488" cy="594360"/>
          </a:xfrm>
          <a:prstGeom prst="rect">
            <a:avLst/>
          </a:prstGeom>
          <a:noFill/>
          <a:ln/>
        </p:spPr>
        <p:txBody>
          <a:bodyPr wrap="square" lIns="0" tIns="0" rIns="0" bIns="0" rtlCol="0" anchor="ctr"/>
          <a:lstStyle/>
          <a:p>
            <a:pPr algn="ctr" indent="0" marL="0">
              <a:buNone/>
            </a:pPr>
            <a:r>
              <a:rPr lang="en-US" sz="1800" b="1" dirty="0">
                <a:solidFill>
                  <a:srgbClr val="0D1B2A"/>
                </a:solidFill>
                <a:latin typeface="Trebuchet MS" pitchFamily="34" charset="0"/>
                <a:ea typeface="Trebuchet MS" pitchFamily="34" charset="-122"/>
                <a:cs typeface="Trebuchet MS" pitchFamily="34" charset="-120"/>
              </a:rPr>
              <a:t>5</a:t>
            </a:r>
            <a:endParaRPr lang="en-US" sz="1800" dirty="0"/>
          </a:p>
        </p:txBody>
      </p:sp>
      <p:sp>
        <p:nvSpPr>
          <p:cNvPr id="33" name="Text 31"/>
          <p:cNvSpPr/>
          <p:nvPr/>
        </p:nvSpPr>
        <p:spPr>
          <a:xfrm>
            <a:off x="987552" y="4178808"/>
            <a:ext cx="3520440" cy="329184"/>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Defend the Slot Zone</a:t>
            </a:r>
            <a:endParaRPr lang="en-US" sz="1300" dirty="0"/>
          </a:p>
        </p:txBody>
      </p:sp>
      <p:sp>
        <p:nvSpPr>
          <p:cNvPr id="34" name="Shape 32"/>
          <p:cNvSpPr/>
          <p:nvPr/>
        </p:nvSpPr>
        <p:spPr>
          <a:xfrm>
            <a:off x="4617720" y="4206240"/>
            <a:ext cx="36576" cy="411480"/>
          </a:xfrm>
          <a:prstGeom prst="rect">
            <a:avLst/>
          </a:prstGeom>
          <a:solidFill>
            <a:srgbClr val="2A4A6A"/>
          </a:solidFill>
          <a:ln w="12700">
            <a:solidFill>
              <a:srgbClr val="2A4A6A"/>
            </a:solidFill>
            <a:prstDash val="solid"/>
          </a:ln>
        </p:spPr>
      </p:sp>
      <p:sp>
        <p:nvSpPr>
          <p:cNvPr id="35" name="Text 33"/>
          <p:cNvSpPr/>
          <p:nvPr/>
        </p:nvSpPr>
        <p:spPr>
          <a:xfrm>
            <a:off x="4736592" y="4187952"/>
            <a:ext cx="3931920" cy="438912"/>
          </a:xfrm>
          <a:prstGeom prst="rect">
            <a:avLst/>
          </a:prstGeom>
          <a:noFill/>
          <a:ln/>
        </p:spPr>
        <p:txBody>
          <a:bodyPr wrap="square" lIns="0" tIns="0" rIns="0" bIns="0" rtlCol="0" anchor="ctr"/>
          <a:lstStyle/>
          <a:p>
            <a:pPr algn="l" indent="0" marL="0">
              <a:buNone/>
            </a:pPr>
            <a:r>
              <a:rPr lang="en-US" sz="1100" dirty="0">
                <a:solidFill>
                  <a:srgbClr val="C8E0F4"/>
                </a:solidFill>
                <a:latin typeface="Calibri" pitchFamily="34" charset="0"/>
                <a:ea typeface="Calibri" pitchFamily="34" charset="-122"/>
                <a:cs typeface="Calibri" pitchFamily="34" charset="-120"/>
              </a:rPr>
              <a:t>70%+ of goals scored within 30ft of net — prioritise defensive coverage of the slot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1452067" cy="237744"/>
          </a:xfrm>
          <a:prstGeom prst="rect">
            <a:avLst/>
          </a:prstGeom>
          <a:solidFill>
            <a:srgbClr val="F4A723"/>
          </a:solidFill>
          <a:ln w="12700">
            <a:solidFill>
              <a:srgbClr val="F4A723"/>
            </a:solidFill>
            <a:prstDash val="solid"/>
          </a:ln>
          <a:effectLst>
            <a:outerShdw sx="100000" sy="100000" kx="0" ky="0" algn="bl" rotWithShape="0" blurRad="101600" dist="38100" dir="8100000">
              <a:srgbClr val="000000">
                <a:alpha val="18000"/>
              </a:srgbClr>
            </a:outerShdw>
          </a:effectLst>
        </p:spPr>
      </p:sp>
      <p:sp>
        <p:nvSpPr>
          <p:cNvPr id="3" name="Text 1"/>
          <p:cNvSpPr/>
          <p:nvPr/>
        </p:nvSpPr>
        <p:spPr>
          <a:xfrm>
            <a:off x="457200" y="256032"/>
            <a:ext cx="1452067" cy="237744"/>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09 — LEARNINGS</a:t>
            </a:r>
            <a:endParaRPr lang="en-US" sz="900" dirty="0"/>
          </a:p>
        </p:txBody>
      </p:sp>
      <p:sp>
        <p:nvSpPr>
          <p:cNvPr id="4" name="Shape 2"/>
          <p:cNvSpPr/>
          <p:nvPr/>
        </p:nvSpPr>
        <p:spPr>
          <a:xfrm>
            <a:off x="457200" y="621792"/>
            <a:ext cx="50292" cy="475488"/>
          </a:xfrm>
          <a:prstGeom prst="rect">
            <a:avLst/>
          </a:prstGeom>
          <a:solidFill>
            <a:srgbClr val="F4A723"/>
          </a:solidFill>
          <a:ln w="12700">
            <a:solidFill>
              <a:srgbClr val="F4A723"/>
            </a:solidFill>
            <a:prstDash val="solid"/>
          </a:ln>
        </p:spPr>
      </p:sp>
      <p:sp>
        <p:nvSpPr>
          <p:cNvPr id="5" name="Text 3"/>
          <p:cNvSpPr/>
          <p:nvPr/>
        </p:nvSpPr>
        <p:spPr>
          <a:xfrm>
            <a:off x="621792" y="621792"/>
            <a:ext cx="822960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Trebuchet MS" pitchFamily="34" charset="0"/>
                <a:ea typeface="Trebuchet MS" pitchFamily="34" charset="-122"/>
                <a:cs typeface="Trebuchet MS" pitchFamily="34" charset="-120"/>
              </a:rPr>
              <a:t>Challenges &amp; Learnings</a:t>
            </a:r>
            <a:endParaRPr lang="en-US" sz="2800" dirty="0"/>
          </a:p>
        </p:txBody>
      </p:sp>
      <p:sp>
        <p:nvSpPr>
          <p:cNvPr id="6" name="Shape 4"/>
          <p:cNvSpPr/>
          <p:nvPr/>
        </p:nvSpPr>
        <p:spPr>
          <a:xfrm>
            <a:off x="365760" y="1261872"/>
            <a:ext cx="8412480" cy="77724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65760" y="1261872"/>
            <a:ext cx="64008" cy="777240"/>
          </a:xfrm>
          <a:prstGeom prst="rect">
            <a:avLst/>
          </a:prstGeom>
          <a:solidFill>
            <a:srgbClr val="F4A723"/>
          </a:solidFill>
          <a:ln w="12700">
            <a:solidFill>
              <a:srgbClr val="F4A723"/>
            </a:solidFill>
            <a:prstDash val="solid"/>
          </a:ln>
        </p:spPr>
      </p:sp>
      <p:sp>
        <p:nvSpPr>
          <p:cNvPr id="8" name="Text 6"/>
          <p:cNvSpPr/>
          <p:nvPr/>
        </p:nvSpPr>
        <p:spPr>
          <a:xfrm>
            <a:off x="457200" y="1261872"/>
            <a:ext cx="640080" cy="7772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9" name="Text 7"/>
          <p:cNvSpPr/>
          <p:nvPr/>
        </p:nvSpPr>
        <p:spPr>
          <a:xfrm>
            <a:off x="1143000" y="1325880"/>
            <a:ext cx="3200400" cy="274320"/>
          </a:xfrm>
          <a:prstGeom prst="rect">
            <a:avLst/>
          </a:prstGeom>
          <a:noFill/>
          <a:ln/>
        </p:spPr>
        <p:txBody>
          <a:bodyPr wrap="square" lIns="0" tIns="0" rIns="0" bIns="0" rtlCol="0" anchor="ctr"/>
          <a:lstStyle/>
          <a:p>
            <a:pPr algn="l" indent="0" marL="0">
              <a:buNone/>
            </a:pPr>
            <a:r>
              <a:rPr lang="en-US" sz="1200" b="1" dirty="0">
                <a:solidFill>
                  <a:srgbClr val="F4A723"/>
                </a:solidFill>
                <a:latin typeface="Trebuchet MS" pitchFamily="34" charset="0"/>
                <a:ea typeface="Trebuchet MS" pitchFamily="34" charset="-122"/>
                <a:cs typeface="Trebuchet MS" pitchFamily="34" charset="-120"/>
              </a:rPr>
              <a:t>4M+ row play-by-play table</a:t>
            </a:r>
            <a:endParaRPr lang="en-US" sz="1200" dirty="0"/>
          </a:p>
        </p:txBody>
      </p:sp>
      <p:sp>
        <p:nvSpPr>
          <p:cNvPr id="10" name="Text 8"/>
          <p:cNvSpPr/>
          <p:nvPr/>
        </p:nvSpPr>
        <p:spPr>
          <a:xfrm>
            <a:off x="1143000" y="1664208"/>
            <a:ext cx="3200400" cy="310896"/>
          </a:xfrm>
          <a:prstGeom prst="rect">
            <a:avLst/>
          </a:prstGeom>
          <a:noFill/>
          <a:ln/>
        </p:spPr>
        <p:txBody>
          <a:bodyPr wrap="square" lIns="0" tIns="0" rIns="0" bIns="0" rtlCol="0" anchor="ctr"/>
          <a:lstStyle/>
          <a:p>
            <a:pPr algn="l" indent="0" marL="0">
              <a:buNone/>
            </a:pPr>
            <a:r>
              <a:rPr lang="en-US" sz="1000" dirty="0">
                <a:solidFill>
                  <a:srgbClr val="C8E0F4"/>
                </a:solidFill>
                <a:latin typeface="Calibri" pitchFamily="34" charset="0"/>
                <a:ea typeface="Calibri" pitchFamily="34" charset="-122"/>
                <a:cs typeface="Calibri" pitchFamily="34" charset="-120"/>
              </a:rPr>
              <a:t>Fix: Filtered to key events in Gold layer; pre-aggregate before Power BI</a:t>
            </a:r>
            <a:endParaRPr lang="en-US" sz="1000" dirty="0"/>
          </a:p>
        </p:txBody>
      </p:sp>
      <p:sp>
        <p:nvSpPr>
          <p:cNvPr id="11" name="Shape 9"/>
          <p:cNvSpPr/>
          <p:nvPr/>
        </p:nvSpPr>
        <p:spPr>
          <a:xfrm>
            <a:off x="4480560" y="1371600"/>
            <a:ext cx="36576" cy="548640"/>
          </a:xfrm>
          <a:prstGeom prst="rect">
            <a:avLst/>
          </a:prstGeom>
          <a:solidFill>
            <a:srgbClr val="0F8B8D"/>
          </a:solidFill>
          <a:ln w="12700">
            <a:solidFill>
              <a:srgbClr val="0F8B8D"/>
            </a:solidFill>
            <a:prstDash val="solid"/>
          </a:ln>
        </p:spPr>
      </p:sp>
      <p:sp>
        <p:nvSpPr>
          <p:cNvPr id="12" name="Text 10"/>
          <p:cNvSpPr/>
          <p:nvPr/>
        </p:nvSpPr>
        <p:spPr>
          <a:xfrm>
            <a:off x="4617720" y="1353312"/>
            <a:ext cx="4069080" cy="594360"/>
          </a:xfrm>
          <a:prstGeom prst="rect">
            <a:avLst/>
          </a:prstGeom>
          <a:noFill/>
          <a:ln/>
        </p:spPr>
        <p:txBody>
          <a:bodyPr wrap="square" lIns="0" tIns="0" rIns="0" bIns="0" rtlCol="0" anchor="ctr"/>
          <a:lstStyle/>
          <a:p>
            <a:pPr algn="l" indent="0" marL="0">
              <a:buNone/>
            </a:pPr>
            <a:r>
              <a:rPr lang="en-US" sz="1100" i="1" dirty="0">
                <a:solidFill>
                  <a:srgbClr val="8FA8C0"/>
                </a:solidFill>
                <a:latin typeface="Calibri" pitchFamily="34" charset="0"/>
                <a:ea typeface="Calibri" pitchFamily="34" charset="-122"/>
                <a:cs typeface="Calibri" pitchFamily="34" charset="-120"/>
              </a:rPr>
              <a:t>💡 Pre-aggregation is critical for Power BI performance at scale</a:t>
            </a:r>
            <a:endParaRPr lang="en-US" sz="1100" dirty="0"/>
          </a:p>
        </p:txBody>
      </p:sp>
      <p:sp>
        <p:nvSpPr>
          <p:cNvPr id="13" name="Shape 11"/>
          <p:cNvSpPr/>
          <p:nvPr/>
        </p:nvSpPr>
        <p:spPr>
          <a:xfrm>
            <a:off x="365760" y="2167128"/>
            <a:ext cx="8412480" cy="77724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365760" y="2167128"/>
            <a:ext cx="64008" cy="777240"/>
          </a:xfrm>
          <a:prstGeom prst="rect">
            <a:avLst/>
          </a:prstGeom>
          <a:solidFill>
            <a:srgbClr val="F4A723"/>
          </a:solidFill>
          <a:ln w="12700">
            <a:solidFill>
              <a:srgbClr val="F4A723"/>
            </a:solidFill>
            <a:prstDash val="solid"/>
          </a:ln>
        </p:spPr>
      </p:sp>
      <p:sp>
        <p:nvSpPr>
          <p:cNvPr id="15" name="Text 13"/>
          <p:cNvSpPr/>
          <p:nvPr/>
        </p:nvSpPr>
        <p:spPr>
          <a:xfrm>
            <a:off x="457200" y="2167128"/>
            <a:ext cx="640080" cy="7772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Text 14"/>
          <p:cNvSpPr/>
          <p:nvPr/>
        </p:nvSpPr>
        <p:spPr>
          <a:xfrm>
            <a:off x="1143000" y="2231136"/>
            <a:ext cx="3200400" cy="274320"/>
          </a:xfrm>
          <a:prstGeom prst="rect">
            <a:avLst/>
          </a:prstGeom>
          <a:noFill/>
          <a:ln/>
        </p:spPr>
        <p:txBody>
          <a:bodyPr wrap="square" lIns="0" tIns="0" rIns="0" bIns="0" rtlCol="0" anchor="ctr"/>
          <a:lstStyle/>
          <a:p>
            <a:pPr algn="l" indent="0" marL="0">
              <a:buNone/>
            </a:pPr>
            <a:r>
              <a:rPr lang="en-US" sz="1200" b="1" dirty="0">
                <a:solidFill>
                  <a:srgbClr val="F4A723"/>
                </a:solidFill>
                <a:latin typeface="Trebuchet MS" pitchFamily="34" charset="0"/>
                <a:ea typeface="Trebuchet MS" pitchFamily="34" charset="-122"/>
                <a:cs typeface="Trebuchet MS" pitchFamily="34" charset="-120"/>
              </a:rPr>
              <a:t>Skater vs goalie stats: different schemas</a:t>
            </a:r>
            <a:endParaRPr lang="en-US" sz="1200" dirty="0"/>
          </a:p>
        </p:txBody>
      </p:sp>
      <p:sp>
        <p:nvSpPr>
          <p:cNvPr id="17" name="Text 15"/>
          <p:cNvSpPr/>
          <p:nvPr/>
        </p:nvSpPr>
        <p:spPr>
          <a:xfrm>
            <a:off x="1143000" y="2569464"/>
            <a:ext cx="3200400" cy="310896"/>
          </a:xfrm>
          <a:prstGeom prst="rect">
            <a:avLst/>
          </a:prstGeom>
          <a:noFill/>
          <a:ln/>
        </p:spPr>
        <p:txBody>
          <a:bodyPr wrap="square" lIns="0" tIns="0" rIns="0" bIns="0" rtlCol="0" anchor="ctr"/>
          <a:lstStyle/>
          <a:p>
            <a:pPr algn="l" indent="0" marL="0">
              <a:buNone/>
            </a:pPr>
            <a:r>
              <a:rPr lang="en-US" sz="1000" dirty="0">
                <a:solidFill>
                  <a:srgbClr val="C8E0F4"/>
                </a:solidFill>
                <a:latin typeface="Calibri" pitchFamily="34" charset="0"/>
                <a:ea typeface="Calibri" pitchFamily="34" charset="-122"/>
                <a:cs typeface="Calibri" pitchFamily="34" charset="-120"/>
              </a:rPr>
              <a:t>Fix: Separate fact tables; null-align columns before union</a:t>
            </a:r>
            <a:endParaRPr lang="en-US" sz="1000" dirty="0"/>
          </a:p>
        </p:txBody>
      </p:sp>
      <p:sp>
        <p:nvSpPr>
          <p:cNvPr id="18" name="Shape 16"/>
          <p:cNvSpPr/>
          <p:nvPr/>
        </p:nvSpPr>
        <p:spPr>
          <a:xfrm>
            <a:off x="4480560" y="2276856"/>
            <a:ext cx="36576" cy="548640"/>
          </a:xfrm>
          <a:prstGeom prst="rect">
            <a:avLst/>
          </a:prstGeom>
          <a:solidFill>
            <a:srgbClr val="0F8B8D"/>
          </a:solidFill>
          <a:ln w="12700">
            <a:solidFill>
              <a:srgbClr val="0F8B8D"/>
            </a:solidFill>
            <a:prstDash val="solid"/>
          </a:ln>
        </p:spPr>
      </p:sp>
      <p:sp>
        <p:nvSpPr>
          <p:cNvPr id="19" name="Text 17"/>
          <p:cNvSpPr/>
          <p:nvPr/>
        </p:nvSpPr>
        <p:spPr>
          <a:xfrm>
            <a:off x="4617720" y="2258568"/>
            <a:ext cx="4069080" cy="594360"/>
          </a:xfrm>
          <a:prstGeom prst="rect">
            <a:avLst/>
          </a:prstGeom>
          <a:noFill/>
          <a:ln/>
        </p:spPr>
        <p:txBody>
          <a:bodyPr wrap="square" lIns="0" tIns="0" rIns="0" bIns="0" rtlCol="0" anchor="ctr"/>
          <a:lstStyle/>
          <a:p>
            <a:pPr algn="l" indent="0" marL="0">
              <a:buNone/>
            </a:pPr>
            <a:r>
              <a:rPr lang="en-US" sz="1100" i="1" dirty="0">
                <a:solidFill>
                  <a:srgbClr val="8FA8C0"/>
                </a:solidFill>
                <a:latin typeface="Calibri" pitchFamily="34" charset="0"/>
                <a:ea typeface="Calibri" pitchFamily="34" charset="-122"/>
                <a:cs typeface="Calibri" pitchFamily="34" charset="-120"/>
              </a:rPr>
              <a:t>💡 Never assume two tables with similar names have compatible schemas</a:t>
            </a:r>
            <a:endParaRPr lang="en-US" sz="1100" dirty="0"/>
          </a:p>
        </p:txBody>
      </p:sp>
      <p:sp>
        <p:nvSpPr>
          <p:cNvPr id="20" name="Shape 18"/>
          <p:cNvSpPr/>
          <p:nvPr/>
        </p:nvSpPr>
        <p:spPr>
          <a:xfrm>
            <a:off x="365760" y="3072384"/>
            <a:ext cx="8412480" cy="77724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365760" y="3072384"/>
            <a:ext cx="64008" cy="777240"/>
          </a:xfrm>
          <a:prstGeom prst="rect">
            <a:avLst/>
          </a:prstGeom>
          <a:solidFill>
            <a:srgbClr val="F4A723"/>
          </a:solidFill>
          <a:ln w="12700">
            <a:solidFill>
              <a:srgbClr val="F4A723"/>
            </a:solidFill>
            <a:prstDash val="solid"/>
          </a:ln>
        </p:spPr>
      </p:sp>
      <p:sp>
        <p:nvSpPr>
          <p:cNvPr id="22" name="Text 20"/>
          <p:cNvSpPr/>
          <p:nvPr/>
        </p:nvSpPr>
        <p:spPr>
          <a:xfrm>
            <a:off x="457200" y="3072384"/>
            <a:ext cx="640080" cy="7772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3" name="Text 21"/>
          <p:cNvSpPr/>
          <p:nvPr/>
        </p:nvSpPr>
        <p:spPr>
          <a:xfrm>
            <a:off x="1143000" y="3136392"/>
            <a:ext cx="3200400" cy="274320"/>
          </a:xfrm>
          <a:prstGeom prst="rect">
            <a:avLst/>
          </a:prstGeom>
          <a:noFill/>
          <a:ln/>
        </p:spPr>
        <p:txBody>
          <a:bodyPr wrap="square" lIns="0" tIns="0" rIns="0" bIns="0" rtlCol="0" anchor="ctr"/>
          <a:lstStyle/>
          <a:p>
            <a:pPr algn="l" indent="0" marL="0">
              <a:buNone/>
            </a:pPr>
            <a:r>
              <a:rPr lang="en-US" sz="1200" b="1" dirty="0">
                <a:solidFill>
                  <a:srgbClr val="F4A723"/>
                </a:solidFill>
                <a:latin typeface="Trebuchet MS" pitchFamily="34" charset="0"/>
                <a:ea typeface="Trebuchet MS" pitchFamily="34" charset="-122"/>
                <a:cs typeface="Trebuchet MS" pitchFamily="34" charset="-120"/>
              </a:rPr>
              <a:t>Missing x/y coordinates in older seasons</a:t>
            </a:r>
            <a:endParaRPr lang="en-US" sz="1200" dirty="0"/>
          </a:p>
        </p:txBody>
      </p:sp>
      <p:sp>
        <p:nvSpPr>
          <p:cNvPr id="24" name="Text 22"/>
          <p:cNvSpPr/>
          <p:nvPr/>
        </p:nvSpPr>
        <p:spPr>
          <a:xfrm>
            <a:off x="1143000" y="3474720"/>
            <a:ext cx="3200400" cy="310896"/>
          </a:xfrm>
          <a:prstGeom prst="rect">
            <a:avLst/>
          </a:prstGeom>
          <a:noFill/>
          <a:ln/>
        </p:spPr>
        <p:txBody>
          <a:bodyPr wrap="square" lIns="0" tIns="0" rIns="0" bIns="0" rtlCol="0" anchor="ctr"/>
          <a:lstStyle/>
          <a:p>
            <a:pPr algn="l" indent="0" marL="0">
              <a:buNone/>
            </a:pPr>
            <a:r>
              <a:rPr lang="en-US" sz="1000" dirty="0">
                <a:solidFill>
                  <a:srgbClr val="C8E0F4"/>
                </a:solidFill>
                <a:latin typeface="Calibri" pitchFamily="34" charset="0"/>
                <a:ea typeface="Calibri" pitchFamily="34" charset="-122"/>
                <a:cs typeface="Calibri" pitchFamily="34" charset="-120"/>
              </a:rPr>
              <a:t>Fix: Filled with 0.0; filtered in shot heatmap visual layer</a:t>
            </a:r>
            <a:endParaRPr lang="en-US" sz="1000" dirty="0"/>
          </a:p>
        </p:txBody>
      </p:sp>
      <p:sp>
        <p:nvSpPr>
          <p:cNvPr id="25" name="Shape 23"/>
          <p:cNvSpPr/>
          <p:nvPr/>
        </p:nvSpPr>
        <p:spPr>
          <a:xfrm>
            <a:off x="4480560" y="3182112"/>
            <a:ext cx="36576" cy="548640"/>
          </a:xfrm>
          <a:prstGeom prst="rect">
            <a:avLst/>
          </a:prstGeom>
          <a:solidFill>
            <a:srgbClr val="0F8B8D"/>
          </a:solidFill>
          <a:ln w="12700">
            <a:solidFill>
              <a:srgbClr val="0F8B8D"/>
            </a:solidFill>
            <a:prstDash val="solid"/>
          </a:ln>
        </p:spPr>
      </p:sp>
      <p:sp>
        <p:nvSpPr>
          <p:cNvPr id="26" name="Text 24"/>
          <p:cNvSpPr/>
          <p:nvPr/>
        </p:nvSpPr>
        <p:spPr>
          <a:xfrm>
            <a:off x="4617720" y="3163824"/>
            <a:ext cx="4069080" cy="594360"/>
          </a:xfrm>
          <a:prstGeom prst="rect">
            <a:avLst/>
          </a:prstGeom>
          <a:noFill/>
          <a:ln/>
        </p:spPr>
        <p:txBody>
          <a:bodyPr wrap="square" lIns="0" tIns="0" rIns="0" bIns="0" rtlCol="0" anchor="ctr"/>
          <a:lstStyle/>
          <a:p>
            <a:pPr algn="l" indent="0" marL="0">
              <a:buNone/>
            </a:pPr>
            <a:r>
              <a:rPr lang="en-US" sz="1100" i="1" dirty="0">
                <a:solidFill>
                  <a:srgbClr val="8FA8C0"/>
                </a:solidFill>
                <a:latin typeface="Calibri" pitchFamily="34" charset="0"/>
                <a:ea typeface="Calibri" pitchFamily="34" charset="-122"/>
                <a:cs typeface="Calibri" pitchFamily="34" charset="-120"/>
              </a:rPr>
              <a:t>💡 Data completeness varies across time — always document gaps explicitly</a:t>
            </a:r>
            <a:endParaRPr lang="en-US" sz="1100" dirty="0"/>
          </a:p>
        </p:txBody>
      </p:sp>
      <p:sp>
        <p:nvSpPr>
          <p:cNvPr id="27" name="Shape 25"/>
          <p:cNvSpPr/>
          <p:nvPr/>
        </p:nvSpPr>
        <p:spPr>
          <a:xfrm>
            <a:off x="365760" y="3977640"/>
            <a:ext cx="8412480" cy="77724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28" name="Shape 26"/>
          <p:cNvSpPr/>
          <p:nvPr/>
        </p:nvSpPr>
        <p:spPr>
          <a:xfrm>
            <a:off x="365760" y="3977640"/>
            <a:ext cx="64008" cy="777240"/>
          </a:xfrm>
          <a:prstGeom prst="rect">
            <a:avLst/>
          </a:prstGeom>
          <a:solidFill>
            <a:srgbClr val="F4A723"/>
          </a:solidFill>
          <a:ln w="12700">
            <a:solidFill>
              <a:srgbClr val="F4A723"/>
            </a:solidFill>
            <a:prstDash val="solid"/>
          </a:ln>
        </p:spPr>
      </p:sp>
      <p:sp>
        <p:nvSpPr>
          <p:cNvPr id="29" name="Text 27"/>
          <p:cNvSpPr/>
          <p:nvPr/>
        </p:nvSpPr>
        <p:spPr>
          <a:xfrm>
            <a:off x="457200" y="3977640"/>
            <a:ext cx="640080" cy="7772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Text 28"/>
          <p:cNvSpPr/>
          <p:nvPr/>
        </p:nvSpPr>
        <p:spPr>
          <a:xfrm>
            <a:off x="1143000" y="4041648"/>
            <a:ext cx="3200400" cy="274320"/>
          </a:xfrm>
          <a:prstGeom prst="rect">
            <a:avLst/>
          </a:prstGeom>
          <a:noFill/>
          <a:ln/>
        </p:spPr>
        <p:txBody>
          <a:bodyPr wrap="square" lIns="0" tIns="0" rIns="0" bIns="0" rtlCol="0" anchor="ctr"/>
          <a:lstStyle/>
          <a:p>
            <a:pPr algn="l" indent="0" marL="0">
              <a:buNone/>
            </a:pPr>
            <a:r>
              <a:rPr lang="en-US" sz="1200" b="1" dirty="0">
                <a:solidFill>
                  <a:srgbClr val="F4A723"/>
                </a:solidFill>
                <a:latin typeface="Trebuchet MS" pitchFamily="34" charset="0"/>
                <a:ea typeface="Trebuchet MS" pitchFamily="34" charset="-122"/>
                <a:cs typeface="Trebuchet MS" pitchFamily="34" charset="-120"/>
              </a:rPr>
              <a:t>team_id FK ambiguity in fact table</a:t>
            </a:r>
            <a:endParaRPr lang="en-US" sz="1200" dirty="0"/>
          </a:p>
        </p:txBody>
      </p:sp>
      <p:sp>
        <p:nvSpPr>
          <p:cNvPr id="31" name="Text 29"/>
          <p:cNvSpPr/>
          <p:nvPr/>
        </p:nvSpPr>
        <p:spPr>
          <a:xfrm>
            <a:off x="1143000" y="4379976"/>
            <a:ext cx="3200400" cy="310896"/>
          </a:xfrm>
          <a:prstGeom prst="rect">
            <a:avLst/>
          </a:prstGeom>
          <a:noFill/>
          <a:ln/>
        </p:spPr>
        <p:txBody>
          <a:bodyPr wrap="square" lIns="0" tIns="0" rIns="0" bIns="0" rtlCol="0" anchor="ctr"/>
          <a:lstStyle/>
          <a:p>
            <a:pPr algn="l" indent="0" marL="0">
              <a:buNone/>
            </a:pPr>
            <a:r>
              <a:rPr lang="en-US" sz="1000" dirty="0">
                <a:solidFill>
                  <a:srgbClr val="C8E0F4"/>
                </a:solidFill>
                <a:latin typeface="Calibri" pitchFamily="34" charset="0"/>
                <a:ea typeface="Calibri" pitchFamily="34" charset="-122"/>
                <a:cs typeface="Calibri" pitchFamily="34" charset="-120"/>
              </a:rPr>
              <a:t>Fix: Inactive relationships + USERELATIONSHIP() in DAX</a:t>
            </a:r>
            <a:endParaRPr lang="en-US" sz="1000" dirty="0"/>
          </a:p>
        </p:txBody>
      </p:sp>
      <p:sp>
        <p:nvSpPr>
          <p:cNvPr id="32" name="Shape 30"/>
          <p:cNvSpPr/>
          <p:nvPr/>
        </p:nvSpPr>
        <p:spPr>
          <a:xfrm>
            <a:off x="4480560" y="4087368"/>
            <a:ext cx="36576" cy="548640"/>
          </a:xfrm>
          <a:prstGeom prst="rect">
            <a:avLst/>
          </a:prstGeom>
          <a:solidFill>
            <a:srgbClr val="0F8B8D"/>
          </a:solidFill>
          <a:ln w="12700">
            <a:solidFill>
              <a:srgbClr val="0F8B8D"/>
            </a:solidFill>
            <a:prstDash val="solid"/>
          </a:ln>
        </p:spPr>
      </p:sp>
      <p:sp>
        <p:nvSpPr>
          <p:cNvPr id="33" name="Text 31"/>
          <p:cNvSpPr/>
          <p:nvPr/>
        </p:nvSpPr>
        <p:spPr>
          <a:xfrm>
            <a:off x="4617720" y="4069080"/>
            <a:ext cx="4069080" cy="594360"/>
          </a:xfrm>
          <a:prstGeom prst="rect">
            <a:avLst/>
          </a:prstGeom>
          <a:noFill/>
          <a:ln/>
        </p:spPr>
        <p:txBody>
          <a:bodyPr wrap="square" lIns="0" tIns="0" rIns="0" bIns="0" rtlCol="0" anchor="ctr"/>
          <a:lstStyle/>
          <a:p>
            <a:pPr algn="l" indent="0" marL="0">
              <a:buNone/>
            </a:pPr>
            <a:r>
              <a:rPr lang="en-US" sz="1100" i="1" dirty="0">
                <a:solidFill>
                  <a:srgbClr val="8FA8C0"/>
                </a:solidFill>
                <a:latin typeface="Calibri" pitchFamily="34" charset="0"/>
                <a:ea typeface="Calibri" pitchFamily="34" charset="-122"/>
                <a:cs typeface="Calibri" pitchFamily="34" charset="-120"/>
              </a:rPr>
              <a:t>💡 Multi-role FK patterns need careful schema design and DAX awareness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F4A723"/>
          </a:solidFill>
          <a:ln w="12700">
            <a:solidFill>
              <a:srgbClr val="F4A723"/>
            </a:solidFill>
            <a:prstDash val="solid"/>
          </a:ln>
        </p:spPr>
      </p:sp>
      <p:sp>
        <p:nvSpPr>
          <p:cNvPr id="3" name="Shape 1"/>
          <p:cNvSpPr/>
          <p:nvPr/>
        </p:nvSpPr>
        <p:spPr>
          <a:xfrm>
            <a:off x="0" y="5047488"/>
            <a:ext cx="9144000" cy="91440"/>
          </a:xfrm>
          <a:prstGeom prst="rect">
            <a:avLst/>
          </a:prstGeom>
          <a:solidFill>
            <a:srgbClr val="F4A723"/>
          </a:solidFill>
          <a:ln w="12700">
            <a:solidFill>
              <a:srgbClr val="F4A723"/>
            </a:solidFill>
            <a:prstDash val="solid"/>
          </a:ln>
        </p:spPr>
      </p:sp>
      <p:sp>
        <p:nvSpPr>
          <p:cNvPr id="4" name="Shape 2"/>
          <p:cNvSpPr/>
          <p:nvPr/>
        </p:nvSpPr>
        <p:spPr>
          <a:xfrm>
            <a:off x="365760" y="274320"/>
            <a:ext cx="4114800" cy="4617720"/>
          </a:xfrm>
          <a:prstGeom prst="rect">
            <a:avLst/>
          </a:prstGeom>
          <a:solidFill>
            <a:srgbClr val="1A2E45"/>
          </a:solidFill>
          <a:ln w="6350">
            <a:solidFill>
              <a:srgbClr val="1E3D5A"/>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365760" y="274320"/>
            <a:ext cx="4114800" cy="64008"/>
          </a:xfrm>
          <a:prstGeom prst="rect">
            <a:avLst/>
          </a:prstGeom>
          <a:solidFill>
            <a:srgbClr val="F4A723"/>
          </a:solidFill>
          <a:ln w="12700">
            <a:solidFill>
              <a:srgbClr val="F4A723"/>
            </a:solidFill>
            <a:prstDash val="solid"/>
          </a:ln>
        </p:spPr>
      </p:sp>
      <p:sp>
        <p:nvSpPr>
          <p:cNvPr id="6" name="Text 4"/>
          <p:cNvSpPr/>
          <p:nvPr/>
        </p:nvSpPr>
        <p:spPr>
          <a:xfrm>
            <a:off x="502920" y="411480"/>
            <a:ext cx="3840480" cy="438912"/>
          </a:xfrm>
          <a:prstGeom prst="rect">
            <a:avLst/>
          </a:prstGeom>
          <a:noFill/>
          <a:ln/>
        </p:spPr>
        <p:txBody>
          <a:bodyPr wrap="square" lIns="0" tIns="0" rIns="0" bIns="0" rtlCol="0" anchor="ctr"/>
          <a:lstStyle/>
          <a:p>
            <a:pPr algn="l" indent="0" marL="0">
              <a:buNone/>
            </a:pPr>
            <a:r>
              <a:rPr lang="en-US" sz="2000" b="1" dirty="0">
                <a:solidFill>
                  <a:srgbClr val="F4A723"/>
                </a:solidFill>
                <a:latin typeface="Trebuchet MS" pitchFamily="34" charset="0"/>
                <a:ea typeface="Trebuchet MS" pitchFamily="34" charset="-122"/>
                <a:cs typeface="Trebuchet MS" pitchFamily="34" charset="-120"/>
              </a:rPr>
              <a:t>Project Summary</a:t>
            </a:r>
            <a:endParaRPr lang="en-US" sz="2000" dirty="0"/>
          </a:p>
        </p:txBody>
      </p:sp>
      <p:sp>
        <p:nvSpPr>
          <p:cNvPr id="7" name="Shape 5"/>
          <p:cNvSpPr/>
          <p:nvPr/>
        </p:nvSpPr>
        <p:spPr>
          <a:xfrm>
            <a:off x="502920" y="886968"/>
            <a:ext cx="3749040" cy="36576"/>
          </a:xfrm>
          <a:prstGeom prst="rect">
            <a:avLst/>
          </a:prstGeom>
          <a:solidFill>
            <a:srgbClr val="2A4A6A"/>
          </a:solidFill>
          <a:ln w="12700">
            <a:solidFill>
              <a:srgbClr val="2A4A6A"/>
            </a:solidFill>
            <a:prstDash val="solid"/>
          </a:ln>
        </p:spPr>
      </p:sp>
      <p:sp>
        <p:nvSpPr>
          <p:cNvPr id="8" name="Shape 6"/>
          <p:cNvSpPr/>
          <p:nvPr/>
        </p:nvSpPr>
        <p:spPr>
          <a:xfrm>
            <a:off x="548640" y="1097280"/>
            <a:ext cx="201168" cy="201168"/>
          </a:xfrm>
          <a:prstGeom prst="ellipse">
            <a:avLst/>
          </a:prstGeom>
          <a:solidFill>
            <a:srgbClr val="F4A723"/>
          </a:solidFill>
          <a:ln w="12700">
            <a:solidFill>
              <a:srgbClr val="F4A723"/>
            </a:solidFill>
            <a:prstDash val="solid"/>
          </a:ln>
        </p:spPr>
      </p:sp>
      <p:sp>
        <p:nvSpPr>
          <p:cNvPr id="9" name="Text 7"/>
          <p:cNvSpPr/>
          <p:nvPr/>
        </p:nvSpPr>
        <p:spPr>
          <a:xfrm>
            <a:off x="548640" y="1097280"/>
            <a:ext cx="201168" cy="201168"/>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a:t>
            </a:r>
            <a:endParaRPr lang="en-US" sz="900" dirty="0"/>
          </a:p>
        </p:txBody>
      </p:sp>
      <p:sp>
        <p:nvSpPr>
          <p:cNvPr id="10" name="Text 8"/>
          <p:cNvSpPr/>
          <p:nvPr/>
        </p:nvSpPr>
        <p:spPr>
          <a:xfrm>
            <a:off x="868680" y="1024128"/>
            <a:ext cx="3474720" cy="384048"/>
          </a:xfrm>
          <a:prstGeom prst="rect">
            <a:avLst/>
          </a:prstGeom>
          <a:noFill/>
          <a:ln/>
        </p:spPr>
        <p:txBody>
          <a:bodyPr wrap="square" lIns="0" tIns="0" rIns="0" bIns="0" rtlCol="0" anchor="ctr"/>
          <a:lstStyle/>
          <a:p>
            <a:pPr algn="l" indent="0" marL="0">
              <a:buNone/>
            </a:pPr>
            <a:r>
              <a:rPr lang="en-US" sz="1200" dirty="0">
                <a:solidFill>
                  <a:srgbClr val="C8E0F4"/>
                </a:solidFill>
                <a:latin typeface="Calibri" pitchFamily="34" charset="0"/>
                <a:ea typeface="Calibri" pitchFamily="34" charset="-122"/>
                <a:cs typeface="Calibri" pitchFamily="34" charset="-120"/>
              </a:rPr>
              <a:t>Medallion pipeline: Bronze → Silver → Gold</a:t>
            </a:r>
            <a:endParaRPr lang="en-US" sz="1200" dirty="0"/>
          </a:p>
        </p:txBody>
      </p:sp>
      <p:sp>
        <p:nvSpPr>
          <p:cNvPr id="11" name="Shape 9"/>
          <p:cNvSpPr/>
          <p:nvPr/>
        </p:nvSpPr>
        <p:spPr>
          <a:xfrm>
            <a:off x="548640" y="1673352"/>
            <a:ext cx="201168" cy="201168"/>
          </a:xfrm>
          <a:prstGeom prst="ellipse">
            <a:avLst/>
          </a:prstGeom>
          <a:solidFill>
            <a:srgbClr val="F4A723"/>
          </a:solidFill>
          <a:ln w="12700">
            <a:solidFill>
              <a:srgbClr val="F4A723"/>
            </a:solidFill>
            <a:prstDash val="solid"/>
          </a:ln>
        </p:spPr>
      </p:sp>
      <p:sp>
        <p:nvSpPr>
          <p:cNvPr id="12" name="Text 10"/>
          <p:cNvSpPr/>
          <p:nvPr/>
        </p:nvSpPr>
        <p:spPr>
          <a:xfrm>
            <a:off x="548640" y="1673352"/>
            <a:ext cx="201168" cy="201168"/>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a:t>
            </a:r>
            <a:endParaRPr lang="en-US" sz="900" dirty="0"/>
          </a:p>
        </p:txBody>
      </p:sp>
      <p:sp>
        <p:nvSpPr>
          <p:cNvPr id="13" name="Text 11"/>
          <p:cNvSpPr/>
          <p:nvPr/>
        </p:nvSpPr>
        <p:spPr>
          <a:xfrm>
            <a:off x="868680" y="1600200"/>
            <a:ext cx="3474720" cy="384048"/>
          </a:xfrm>
          <a:prstGeom prst="rect">
            <a:avLst/>
          </a:prstGeom>
          <a:noFill/>
          <a:ln/>
        </p:spPr>
        <p:txBody>
          <a:bodyPr wrap="square" lIns="0" tIns="0" rIns="0" bIns="0" rtlCol="0" anchor="ctr"/>
          <a:lstStyle/>
          <a:p>
            <a:pPr algn="l" indent="0" marL="0">
              <a:buNone/>
            </a:pPr>
            <a:r>
              <a:rPr lang="en-US" sz="1200" dirty="0">
                <a:solidFill>
                  <a:srgbClr val="C8E0F4"/>
                </a:solidFill>
                <a:latin typeface="Calibri" pitchFamily="34" charset="0"/>
                <a:ea typeface="Calibri" pitchFamily="34" charset="-122"/>
                <a:cs typeface="Calibri" pitchFamily="34" charset="-120"/>
              </a:rPr>
              <a:t>Single notebook: RL_Notebook_Fixed</a:t>
            </a:r>
            <a:endParaRPr lang="en-US" sz="1200" dirty="0"/>
          </a:p>
        </p:txBody>
      </p:sp>
      <p:sp>
        <p:nvSpPr>
          <p:cNvPr id="14" name="Shape 12"/>
          <p:cNvSpPr/>
          <p:nvPr/>
        </p:nvSpPr>
        <p:spPr>
          <a:xfrm>
            <a:off x="548640" y="2249424"/>
            <a:ext cx="201168" cy="201168"/>
          </a:xfrm>
          <a:prstGeom prst="ellipse">
            <a:avLst/>
          </a:prstGeom>
          <a:solidFill>
            <a:srgbClr val="F4A723"/>
          </a:solidFill>
          <a:ln w="12700">
            <a:solidFill>
              <a:srgbClr val="F4A723"/>
            </a:solidFill>
            <a:prstDash val="solid"/>
          </a:ln>
        </p:spPr>
      </p:sp>
      <p:sp>
        <p:nvSpPr>
          <p:cNvPr id="15" name="Text 13"/>
          <p:cNvSpPr/>
          <p:nvPr/>
        </p:nvSpPr>
        <p:spPr>
          <a:xfrm>
            <a:off x="548640" y="2249424"/>
            <a:ext cx="201168" cy="201168"/>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a:t>
            </a:r>
            <a:endParaRPr lang="en-US" sz="900" dirty="0"/>
          </a:p>
        </p:txBody>
      </p:sp>
      <p:sp>
        <p:nvSpPr>
          <p:cNvPr id="16" name="Text 14"/>
          <p:cNvSpPr/>
          <p:nvPr/>
        </p:nvSpPr>
        <p:spPr>
          <a:xfrm>
            <a:off x="868680" y="2176272"/>
            <a:ext cx="3474720" cy="384048"/>
          </a:xfrm>
          <a:prstGeom prst="rect">
            <a:avLst/>
          </a:prstGeom>
          <a:noFill/>
          <a:ln/>
        </p:spPr>
        <p:txBody>
          <a:bodyPr wrap="square" lIns="0" tIns="0" rIns="0" bIns="0" rtlCol="0" anchor="ctr"/>
          <a:lstStyle/>
          <a:p>
            <a:pPr algn="l" indent="0" marL="0">
              <a:buNone/>
            </a:pPr>
            <a:r>
              <a:rPr lang="en-US" sz="1200" dirty="0">
                <a:solidFill>
                  <a:srgbClr val="C8E0F4"/>
                </a:solidFill>
                <a:latin typeface="Calibri" pitchFamily="34" charset="0"/>
                <a:ea typeface="Calibri" pitchFamily="34" charset="-122"/>
                <a:cs typeface="Calibri" pitchFamily="34" charset="-120"/>
              </a:rPr>
              <a:t>Star schema: 3 dims, 3 facts, 5 gold aggregates (KPI views)</a:t>
            </a:r>
            <a:endParaRPr lang="en-US" sz="1200" dirty="0"/>
          </a:p>
        </p:txBody>
      </p:sp>
      <p:sp>
        <p:nvSpPr>
          <p:cNvPr id="17" name="Shape 15"/>
          <p:cNvSpPr/>
          <p:nvPr/>
        </p:nvSpPr>
        <p:spPr>
          <a:xfrm>
            <a:off x="548640" y="2825496"/>
            <a:ext cx="201168" cy="201168"/>
          </a:xfrm>
          <a:prstGeom prst="ellipse">
            <a:avLst/>
          </a:prstGeom>
          <a:solidFill>
            <a:srgbClr val="F4A723"/>
          </a:solidFill>
          <a:ln w="12700">
            <a:solidFill>
              <a:srgbClr val="F4A723"/>
            </a:solidFill>
            <a:prstDash val="solid"/>
          </a:ln>
        </p:spPr>
      </p:sp>
      <p:sp>
        <p:nvSpPr>
          <p:cNvPr id="18" name="Text 16"/>
          <p:cNvSpPr/>
          <p:nvPr/>
        </p:nvSpPr>
        <p:spPr>
          <a:xfrm>
            <a:off x="548640" y="2825496"/>
            <a:ext cx="201168" cy="201168"/>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a:t>
            </a:r>
            <a:endParaRPr lang="en-US" sz="900" dirty="0"/>
          </a:p>
        </p:txBody>
      </p:sp>
      <p:sp>
        <p:nvSpPr>
          <p:cNvPr id="19" name="Text 17"/>
          <p:cNvSpPr/>
          <p:nvPr/>
        </p:nvSpPr>
        <p:spPr>
          <a:xfrm>
            <a:off x="868680" y="2752344"/>
            <a:ext cx="3474720" cy="384048"/>
          </a:xfrm>
          <a:prstGeom prst="rect">
            <a:avLst/>
          </a:prstGeom>
          <a:noFill/>
          <a:ln/>
        </p:spPr>
        <p:txBody>
          <a:bodyPr wrap="square" lIns="0" tIns="0" rIns="0" bIns="0" rtlCol="0" anchor="ctr"/>
          <a:lstStyle/>
          <a:p>
            <a:pPr algn="l" indent="0" marL="0">
              <a:buNone/>
            </a:pPr>
            <a:r>
              <a:rPr lang="en-US" sz="1200" dirty="0">
                <a:solidFill>
                  <a:srgbClr val="C8E0F4"/>
                </a:solidFill>
                <a:latin typeface="Calibri" pitchFamily="34" charset="0"/>
                <a:ea typeface="Calibri" pitchFamily="34" charset="-122"/>
                <a:cs typeface="Calibri" pitchFamily="34" charset="-120"/>
              </a:rPr>
              <a:t>25+ automated data quality tests</a:t>
            </a:r>
            <a:endParaRPr lang="en-US" sz="1200" dirty="0"/>
          </a:p>
        </p:txBody>
      </p:sp>
      <p:sp>
        <p:nvSpPr>
          <p:cNvPr id="20" name="Shape 18"/>
          <p:cNvSpPr/>
          <p:nvPr/>
        </p:nvSpPr>
        <p:spPr>
          <a:xfrm>
            <a:off x="548640" y="3401568"/>
            <a:ext cx="201168" cy="201168"/>
          </a:xfrm>
          <a:prstGeom prst="ellipse">
            <a:avLst/>
          </a:prstGeom>
          <a:solidFill>
            <a:srgbClr val="F4A723"/>
          </a:solidFill>
          <a:ln w="12700">
            <a:solidFill>
              <a:srgbClr val="F4A723"/>
            </a:solidFill>
            <a:prstDash val="solid"/>
          </a:ln>
        </p:spPr>
      </p:sp>
      <p:sp>
        <p:nvSpPr>
          <p:cNvPr id="21" name="Text 19"/>
          <p:cNvSpPr/>
          <p:nvPr/>
        </p:nvSpPr>
        <p:spPr>
          <a:xfrm>
            <a:off x="548640" y="3401568"/>
            <a:ext cx="201168" cy="201168"/>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a:t>
            </a:r>
            <a:endParaRPr lang="en-US" sz="900" dirty="0"/>
          </a:p>
        </p:txBody>
      </p:sp>
      <p:sp>
        <p:nvSpPr>
          <p:cNvPr id="22" name="Text 20"/>
          <p:cNvSpPr/>
          <p:nvPr/>
        </p:nvSpPr>
        <p:spPr>
          <a:xfrm>
            <a:off x="868680" y="3328416"/>
            <a:ext cx="3474720" cy="384048"/>
          </a:xfrm>
          <a:prstGeom prst="rect">
            <a:avLst/>
          </a:prstGeom>
          <a:noFill/>
          <a:ln/>
        </p:spPr>
        <p:txBody>
          <a:bodyPr wrap="square" lIns="0" tIns="0" rIns="0" bIns="0" rtlCol="0" anchor="ctr"/>
          <a:lstStyle/>
          <a:p>
            <a:pPr algn="l" indent="0" marL="0">
              <a:buNone/>
            </a:pPr>
            <a:r>
              <a:rPr lang="en-US" sz="1200" dirty="0">
                <a:solidFill>
                  <a:srgbClr val="C8E0F4"/>
                </a:solidFill>
                <a:latin typeface="Calibri" pitchFamily="34" charset="0"/>
                <a:ea typeface="Calibri" pitchFamily="34" charset="-122"/>
                <a:cs typeface="Calibri" pitchFamily="34" charset="-120"/>
              </a:rPr>
              <a:t>6-page Power BI DirectLake dashboard (5 analytics + Dream Team Page 6)</a:t>
            </a:r>
            <a:endParaRPr lang="en-US" sz="1200" dirty="0"/>
          </a:p>
        </p:txBody>
      </p:sp>
      <p:sp>
        <p:nvSpPr>
          <p:cNvPr id="23" name="Shape 21"/>
          <p:cNvSpPr/>
          <p:nvPr/>
        </p:nvSpPr>
        <p:spPr>
          <a:xfrm>
            <a:off x="548640" y="3977640"/>
            <a:ext cx="201168" cy="201168"/>
          </a:xfrm>
          <a:prstGeom prst="ellipse">
            <a:avLst/>
          </a:prstGeom>
          <a:solidFill>
            <a:srgbClr val="F4A723"/>
          </a:solidFill>
          <a:ln w="12700">
            <a:solidFill>
              <a:srgbClr val="F4A723"/>
            </a:solidFill>
            <a:prstDash val="solid"/>
          </a:ln>
        </p:spPr>
      </p:sp>
      <p:sp>
        <p:nvSpPr>
          <p:cNvPr id="24" name="Text 22"/>
          <p:cNvSpPr/>
          <p:nvPr/>
        </p:nvSpPr>
        <p:spPr>
          <a:xfrm>
            <a:off x="548640" y="3977640"/>
            <a:ext cx="201168" cy="201168"/>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a:t>
            </a:r>
            <a:endParaRPr lang="en-US" sz="900" dirty="0"/>
          </a:p>
        </p:txBody>
      </p:sp>
      <p:sp>
        <p:nvSpPr>
          <p:cNvPr id="25" name="Text 23"/>
          <p:cNvSpPr/>
          <p:nvPr/>
        </p:nvSpPr>
        <p:spPr>
          <a:xfrm>
            <a:off x="868680" y="3904488"/>
            <a:ext cx="3474720" cy="384048"/>
          </a:xfrm>
          <a:prstGeom prst="rect">
            <a:avLst/>
          </a:prstGeom>
          <a:noFill/>
          <a:ln/>
        </p:spPr>
        <p:txBody>
          <a:bodyPr wrap="square" lIns="0" tIns="0" rIns="0" bIns="0" rtlCol="0" anchor="ctr"/>
          <a:lstStyle/>
          <a:p>
            <a:pPr algn="l" indent="0" marL="0">
              <a:buNone/>
            </a:pPr>
            <a:r>
              <a:rPr lang="en-US" sz="1200" dirty="0">
                <a:solidFill>
                  <a:srgbClr val="C8E0F4"/>
                </a:solidFill>
                <a:latin typeface="Calibri" pitchFamily="34" charset="0"/>
                <a:ea typeface="Calibri" pitchFamily="34" charset="-122"/>
                <a:cs typeface="Calibri" pitchFamily="34" charset="-120"/>
              </a:rPr>
              <a:t>5 data-driven business recommendations</a:t>
            </a:r>
            <a:endParaRPr lang="en-US" sz="1200" dirty="0"/>
          </a:p>
        </p:txBody>
      </p:sp>
      <p:sp>
        <p:nvSpPr>
          <p:cNvPr id="26" name="Text 24"/>
          <p:cNvSpPr/>
          <p:nvPr/>
        </p:nvSpPr>
        <p:spPr>
          <a:xfrm>
            <a:off x="4754880" y="914400"/>
            <a:ext cx="4114800" cy="685800"/>
          </a:xfrm>
          <a:prstGeom prst="rect">
            <a:avLst/>
          </a:prstGeom>
          <a:noFill/>
          <a:ln/>
        </p:spPr>
        <p:txBody>
          <a:bodyPr wrap="square" lIns="0" tIns="0" rIns="0" bIns="0" rtlCol="0" anchor="ctr"/>
          <a:lstStyle/>
          <a:p>
            <a:pPr algn="ctr" indent="0" marL="0">
              <a:buNone/>
            </a:pPr>
            <a:r>
              <a:rPr lang="en-US" sz="3800" b="1" dirty="0">
                <a:solidFill>
                  <a:srgbClr val="F4A723"/>
                </a:solidFill>
                <a:latin typeface="Trebuchet MS" pitchFamily="34" charset="0"/>
                <a:ea typeface="Trebuchet MS" pitchFamily="34" charset="-122"/>
                <a:cs typeface="Trebuchet MS" pitchFamily="34" charset="-120"/>
              </a:rPr>
              <a:t>Thank You</a:t>
            </a:r>
            <a:endParaRPr lang="en-US" sz="3800" dirty="0"/>
          </a:p>
        </p:txBody>
      </p:sp>
      <p:sp>
        <p:nvSpPr>
          <p:cNvPr id="27" name="Text 25"/>
          <p:cNvSpPr/>
          <p:nvPr/>
        </p:nvSpPr>
        <p:spPr>
          <a:xfrm>
            <a:off x="5989320" y="1691640"/>
            <a:ext cx="1554480" cy="822960"/>
          </a:xfrm>
          <a:prstGeom prst="rect">
            <a:avLst/>
          </a:prstGeom>
          <a:noFill/>
          <a:ln/>
        </p:spPr>
        <p:txBody>
          <a:bodyPr wrap="square" lIns="0" tIns="0" rIns="0" bIns="0" rtlCol="0" anchor="ctr"/>
          <a:lstStyle/>
          <a:p>
            <a:pPr algn="ctr" indent="0" marL="0">
              <a:buNone/>
            </a:pPr>
            <a:r>
              <a:rPr lang="en-US" sz="4800" dirty="0">
                <a:solidFill>
                  <a:srgbClr val="000000"/>
                </a:solidFill>
              </a:rPr>
              <a:t>🏒</a:t>
            </a:r>
            <a:endParaRPr lang="en-US" sz="4800" dirty="0"/>
          </a:p>
        </p:txBody>
      </p:sp>
      <p:sp>
        <p:nvSpPr>
          <p:cNvPr id="28" name="Shape 26"/>
          <p:cNvSpPr/>
          <p:nvPr/>
        </p:nvSpPr>
        <p:spPr>
          <a:xfrm>
            <a:off x="4937760" y="2633472"/>
            <a:ext cx="3749040" cy="36576"/>
          </a:xfrm>
          <a:prstGeom prst="rect">
            <a:avLst/>
          </a:prstGeom>
          <a:solidFill>
            <a:srgbClr val="2A4A6A"/>
          </a:solidFill>
          <a:ln w="12700">
            <a:solidFill>
              <a:srgbClr val="2A4A6A"/>
            </a:solidFill>
            <a:prstDash val="solid"/>
          </a:ln>
        </p:spPr>
      </p:sp>
      <p:sp>
        <p:nvSpPr>
          <p:cNvPr id="29" name="Text 27"/>
          <p:cNvSpPr/>
          <p:nvPr/>
        </p:nvSpPr>
        <p:spPr>
          <a:xfrm>
            <a:off x="4754880" y="2724912"/>
            <a:ext cx="41148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Questions &amp; Discussion</a:t>
            </a:r>
            <a:endParaRPr lang="en-US" sz="2000" dirty="0"/>
          </a:p>
        </p:txBody>
      </p:sp>
      <p:sp>
        <p:nvSpPr>
          <p:cNvPr id="30" name="Text 28"/>
          <p:cNvSpPr/>
          <p:nvPr/>
        </p:nvSpPr>
        <p:spPr>
          <a:xfrm>
            <a:off x="4754880" y="3218688"/>
            <a:ext cx="4114800" cy="292608"/>
          </a:xfrm>
          <a:prstGeom prst="rect">
            <a:avLst/>
          </a:prstGeom>
          <a:noFill/>
          <a:ln/>
        </p:spPr>
        <p:txBody>
          <a:bodyPr wrap="square" lIns="0" tIns="0" rIns="0" bIns="0" rtlCol="0" anchor="ctr"/>
          <a:lstStyle/>
          <a:p>
            <a:pPr algn="ctr" indent="0" marL="0">
              <a:buNone/>
            </a:pPr>
            <a:r>
              <a:rPr lang="en-US" sz="1200" i="1" dirty="0">
                <a:solidFill>
                  <a:srgbClr val="8FA8C0"/>
                </a:solidFill>
                <a:latin typeface="Calibri" pitchFamily="34" charset="0"/>
                <a:ea typeface="Calibri" pitchFamily="34" charset="-122"/>
                <a:cs typeface="Calibri" pitchFamily="34" charset="-120"/>
              </a:rPr>
              <a:t>NHL Game Data · Microsoft Fabric · Power BI</a:t>
            </a:r>
            <a:endParaRPr lang="en-US" sz="1200" dirty="0"/>
          </a:p>
        </p:txBody>
      </p:sp>
      <p:sp>
        <p:nvSpPr>
          <p:cNvPr id="31" name="Shape 29"/>
          <p:cNvSpPr/>
          <p:nvPr/>
        </p:nvSpPr>
        <p:spPr>
          <a:xfrm>
            <a:off x="4937760" y="3675888"/>
            <a:ext cx="3749040" cy="36576"/>
          </a:xfrm>
          <a:prstGeom prst="rect">
            <a:avLst/>
          </a:prstGeom>
          <a:solidFill>
            <a:srgbClr val="2A4A6A"/>
          </a:solidFill>
          <a:ln w="12700">
            <a:solidFill>
              <a:srgbClr val="2A4A6A"/>
            </a:solidFill>
            <a:prstDash val="solid"/>
          </a:ln>
        </p:spPr>
      </p:sp>
      <p:sp>
        <p:nvSpPr>
          <p:cNvPr id="32" name="Text 30"/>
          <p:cNvSpPr/>
          <p:nvPr/>
        </p:nvSpPr>
        <p:spPr>
          <a:xfrm>
            <a:off x="4754880" y="3794760"/>
            <a:ext cx="4114800" cy="256032"/>
          </a:xfrm>
          <a:prstGeom prst="rect">
            <a:avLst/>
          </a:prstGeom>
          <a:noFill/>
          <a:ln/>
        </p:spPr>
        <p:txBody>
          <a:bodyPr wrap="square" lIns="0" tIns="0" rIns="0" bIns="0" rtlCol="0" anchor="ctr"/>
          <a:lstStyle/>
          <a:p>
            <a:pPr algn="ctr" indent="0" marL="0">
              <a:buNone/>
            </a:pPr>
            <a:r>
              <a:rPr lang="en-US" sz="1000" dirty="0">
                <a:solidFill>
                  <a:srgbClr val="8FA8C0"/>
                </a:solidFill>
                <a:latin typeface="Calibri" pitchFamily="34" charset="0"/>
                <a:ea typeface="Calibri" pitchFamily="34" charset="-122"/>
                <a:cs typeface="Calibri" pitchFamily="34" charset="-120"/>
              </a:rPr>
              <a:t>Dataset: Kaggle — martinellis/nhl-game-data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NHL Game Data Analytics — Microsoft Fabric</dc:title>
  <dc:subject>PptxGenJS Presentation</dc:subject>
  <dc:creator>Junior Data Engineer Programme</dc:creator>
  <cp:lastModifiedBy>Junior Data Engineer Programme</cp:lastModifiedBy>
  <cp:revision>1</cp:revision>
  <dcterms:created xsi:type="dcterms:W3CDTF">2026-06-03T08:00:33Z</dcterms:created>
  <dcterms:modified xsi:type="dcterms:W3CDTF">2026-06-03T08:00:33Z</dcterms:modified>
</cp:coreProperties>
</file>