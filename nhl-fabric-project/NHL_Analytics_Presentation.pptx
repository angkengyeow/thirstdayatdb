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excited to walk through the NHL Analytics Dashboard we've built using Microsoft Fabric and Power BI. This dashboard transforms 20 years of NHL game data into an interactive analytics experience. 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We'll start with the data architecture - how we built this on Microsoft Fabric's medallion architecture. Then walk through 7 dashboard pages, starting from high-level league overviews and drilling into team and player performance, play-by-play events, home ice advantage, and our flagship pages: the Dream Team per-season roster builder and the All-Stars all-time greats.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Fabric Medallion: Bronze → Silver → Gold → Power BILet me walk you through our data architecture. We used Microsoft Fabric's medallion architecture. The Bronze layer ingests 13 raw CSV files from the NHL Kaggle dataset covering 2000-2020. The Silver layer cleans and deduplicates this data, removing orphan records. The Gold layer creates our star schema with dimension and fact tables, plus pre-aggregated KPIs like player season stats. Finally, Power BI connects via DirectLake for real-time querying without data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league overview with season and game-type filteringPage 1 is our Executive Summary. It gives a high-level league overview for any selected season. Users can filter by season and game type (Regular Season or Playoffs). The top row shows KPI cards: Total Games, Total Goals, Goals Per Game, and Home Win Percentage. Below that, we have a Goals by Month line chart showing season trends, a Wins by Team bar chart, and a donut chart showing game outcome distribution between regulation, overtime, and shootout. This page answers: 'How did the league perform this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team efficiency metrics across seasonsPage 2 focuses on Team Performance. Here we compare teams head-to-head on efficiency metrics. The main table shows team standings with wins, win percentage, goals per game, shooting percentage, power play percentage, and faceoff win percentage. We've applied conditional formatting - red to green color scale on win percentage for quick visual assessment. Supporting charts include a Shot% vs Win% scatter plot that reveals which teams are most efficient, plus individual ranking bars for power play and faceoff performance. This page answers: 'Which teams are the most efficient, and where do they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player performance with positional and team filteringPage 3 drills into individual Player Analytics. Users can filter by position, season, and team. The main visual is a Top 20 Scorers bar chart showing the league's best by points. We also have a Goals vs Assists scatter plot that reveals player archetypes - the playmakers vs the finishers. The Points by Season line chart shows how scoring has trended across positions over two decades. There's also a Goalie leaderboard table sorted by save percentage. This page answers: 'Who are the best players, and what does their scoring profile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distribution, shot types, and location mappingPage 4 covers Play-by-Play Analysis for the tactical analysts. Users can filter by event type, period, and season. Key visuals include: Events by Type bar chart showing the distribution of goals, shots, hits, penalties, and faceoffs. Goals by Period shows scoring distribution across regulation and overtime. Goals by Shot Type reveals whether wrist shots, slap shots, or deflections are most effective. The highlight is the Shot Location Map - a scatter plot using NHL rink coordinates to show where shots and goals happen. This page answers: 'What events drive the game, and where do shots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Quantifying home ice advantage over 20 seasonsPage 5 quantifies Home Ice Advantage. The centerpiece is a dual-line chart tracking Home Win% vs Away Win% across all 20 seasons, with a 50% reference line. We also have a gauge showing home win percentage against the 50% baseline - anything above confirms home ice matters. The matrix visual breaks this down by individual team, showing which franchises have the biggest home-ice advantage. This page answers: 'Does home ice really matter? By how much, and for which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6 is our flagship - the Dream Team roster builder. This is the most interactive and fun page of the dashboard. A single season slicer at the top controls everything. Change the season, and all 6 roster slots instantly refresh. We have 6 position slots: Center, Left Wing, Right Wing, Defense 1, Defense 2, and Goalie. Each slot shows the player's name, their photo from the NHL CDN, and their key stat. For skaters we use points (goals + assists), and for goalies we use save percentage with a minimum game threshold to ensure quality. This page answers: 'If you could build a team from any single season, who would you pick?' It's powered entirely by DAX measures using TOPN against our gold_player_season_stats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7 is the All-Stars page. This is the Hall of Fame showcase - unlike the Dream Team which changes by season, the All-Stars page shows the best players across all 20 seasons combined. No season filter needed here. We use the player_career table which aggregates every player's totals across their entire career. For skaters, we rank by career points. For goalies, we rank by career games played to surface the true workhorses. Each slot shows the player's photo, name, and their key career stat. This page answers: 'Who are the all-time greats of this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implementation details and architecture decisionsLet me highlight some key technical decisions. We use DirectLake mode for zero data movement between the lakehouse and Power BI. All business logic lives in DAX measures, not calculated columns, keeping the model lean. The Dream Team uses a TOPN DAX pattern that dynamically finds the top player per position per season. Player headshots load directly from the NHL CDN using the player_id. We maintain separate tables for per-season and career views for optimal performance. And the entire pipeline runs on Fabric's medallion architecture for data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happy to answer any questions about the architecture, DAX measures, or how we built specific visuals. This dashboard demonstrates the power of Microsoft Fabric for sports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914400"/>
            <a:ext cx="7680960" cy="914400"/>
          </a:xfrm>
          <a:prstGeom prst="rect">
            <a:avLst/>
          </a:prstGeom>
          <a:noFill/>
          <a:ln/>
        </p:spPr>
        <p:txBody>
          <a:bodyPr wrap="square" lIns="0" tIns="0" rIns="0" bIns="0" rtlCol="0" anchor="ctr"/>
          <a:lstStyle/>
          <a:p>
            <a:pPr indent="0" marL="0">
              <a:buNone/>
            </a:pPr>
            <a:r>
              <a:rPr lang="en-US" sz="4800" b="1" spc="400" kern="0" dirty="0">
                <a:solidFill>
                  <a:srgbClr val="FFFFFF"/>
                </a:solidFill>
                <a:latin typeface="Georgia" pitchFamily="34" charset="0"/>
                <a:ea typeface="Georgia" pitchFamily="34" charset="-122"/>
                <a:cs typeface="Georgia" pitchFamily="34" charset="-120"/>
              </a:rPr>
              <a:t>NHL ANALYTICS</a:t>
            </a:r>
            <a:endParaRPr lang="en-US" sz="4800" dirty="0"/>
          </a:p>
        </p:txBody>
      </p:sp>
      <p:sp>
        <p:nvSpPr>
          <p:cNvPr id="4" name="Text 2"/>
          <p:cNvSpPr/>
          <p:nvPr/>
        </p:nvSpPr>
        <p:spPr>
          <a:xfrm>
            <a:off x="731520" y="1645920"/>
            <a:ext cx="7680960" cy="731520"/>
          </a:xfrm>
          <a:prstGeom prst="rect">
            <a:avLst/>
          </a:prstGeom>
          <a:noFill/>
          <a:ln/>
        </p:spPr>
        <p:txBody>
          <a:bodyPr wrap="square" lIns="0" tIns="0" rIns="0" bIns="0" rtlCol="0" anchor="ctr"/>
          <a:lstStyle/>
          <a:p>
            <a:pPr indent="0" marL="0">
              <a:buNone/>
            </a:pPr>
            <a:r>
              <a:rPr lang="en-US" sz="4000" dirty="0">
                <a:solidFill>
                  <a:srgbClr val="D4A843"/>
                </a:solidFill>
                <a:latin typeface="Georgia" pitchFamily="34" charset="0"/>
                <a:ea typeface="Georgia" pitchFamily="34" charset="-122"/>
                <a:cs typeface="Georgia" pitchFamily="34" charset="-120"/>
              </a:rPr>
              <a:t>DASHBOARD</a:t>
            </a:r>
            <a:endParaRPr lang="en-US" sz="4000" dirty="0"/>
          </a:p>
        </p:txBody>
      </p:sp>
      <p:sp>
        <p:nvSpPr>
          <p:cNvPr id="5" name="Text 3"/>
          <p:cNvSpPr/>
          <p:nvPr/>
        </p:nvSpPr>
        <p:spPr>
          <a:xfrm>
            <a:off x="731520" y="2743200"/>
            <a:ext cx="768096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Microsoft Fabric  |  Power BI  |  DirectLake</a:t>
            </a:r>
            <a:endParaRPr lang="en-US" sz="1600" dirty="0"/>
          </a:p>
        </p:txBody>
      </p:sp>
      <p:sp>
        <p:nvSpPr>
          <p:cNvPr id="6" name="Text 4"/>
          <p:cNvSpPr/>
          <p:nvPr/>
        </p:nvSpPr>
        <p:spPr>
          <a:xfrm>
            <a:off x="731520" y="3200400"/>
            <a:ext cx="768096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Data: NHL Game Data 2000–2020 (Kaggle)</a:t>
            </a:r>
            <a:endParaRPr lang="en-US" sz="1400" dirty="0"/>
          </a:p>
        </p:txBody>
      </p:sp>
      <p:sp>
        <p:nvSpPr>
          <p:cNvPr id="7" name="Text 5"/>
          <p:cNvSpPr/>
          <p:nvPr/>
        </p:nvSpPr>
        <p:spPr>
          <a:xfrm>
            <a:off x="731520" y="4114800"/>
            <a:ext cx="768096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Presented by the Analytics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2761"/>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AGENDA</a:t>
            </a:r>
            <a:endParaRPr lang="en-US" sz="2800" dirty="0"/>
          </a:p>
        </p:txBody>
      </p:sp>
      <p:sp>
        <p:nvSpPr>
          <p:cNvPr id="4" name="Shape 2"/>
          <p:cNvSpPr/>
          <p:nvPr/>
        </p:nvSpPr>
        <p:spPr>
          <a:xfrm>
            <a:off x="548640" y="100584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5" name="Text 3"/>
          <p:cNvSpPr/>
          <p:nvPr/>
        </p:nvSpPr>
        <p:spPr>
          <a:xfrm>
            <a:off x="685800" y="109728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1280160" y="109728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Project Overview</a:t>
            </a:r>
            <a:endParaRPr lang="en-US" sz="1600" dirty="0"/>
          </a:p>
        </p:txBody>
      </p:sp>
      <p:sp>
        <p:nvSpPr>
          <p:cNvPr id="7" name="Text 5"/>
          <p:cNvSpPr/>
          <p:nvPr/>
        </p:nvSpPr>
        <p:spPr>
          <a:xfrm>
            <a:off x="1280160" y="141732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Data architecture &amp; tech stack</a:t>
            </a:r>
            <a:endParaRPr lang="en-US" sz="1200" dirty="0"/>
          </a:p>
        </p:txBody>
      </p:sp>
      <p:sp>
        <p:nvSpPr>
          <p:cNvPr id="8" name="Shape 6"/>
          <p:cNvSpPr/>
          <p:nvPr/>
        </p:nvSpPr>
        <p:spPr>
          <a:xfrm>
            <a:off x="4754880" y="100584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9" name="Text 7"/>
          <p:cNvSpPr/>
          <p:nvPr/>
        </p:nvSpPr>
        <p:spPr>
          <a:xfrm>
            <a:off x="4892040" y="109728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02</a:t>
            </a:r>
            <a:endParaRPr lang="en-US" sz="2200" dirty="0"/>
          </a:p>
        </p:txBody>
      </p:sp>
      <p:sp>
        <p:nvSpPr>
          <p:cNvPr id="10" name="Text 8"/>
          <p:cNvSpPr/>
          <p:nvPr/>
        </p:nvSpPr>
        <p:spPr>
          <a:xfrm>
            <a:off x="5486400" y="109728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Executive Summary</a:t>
            </a:r>
            <a:endParaRPr lang="en-US" sz="1600" dirty="0"/>
          </a:p>
        </p:txBody>
      </p:sp>
      <p:sp>
        <p:nvSpPr>
          <p:cNvPr id="11" name="Text 9"/>
          <p:cNvSpPr/>
          <p:nvPr/>
        </p:nvSpPr>
        <p:spPr>
          <a:xfrm>
            <a:off x="5486400" y="141732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High-level league overview</a:t>
            </a:r>
            <a:endParaRPr lang="en-US" sz="1200" dirty="0"/>
          </a:p>
        </p:txBody>
      </p:sp>
      <p:sp>
        <p:nvSpPr>
          <p:cNvPr id="12" name="Shape 10"/>
          <p:cNvSpPr/>
          <p:nvPr/>
        </p:nvSpPr>
        <p:spPr>
          <a:xfrm>
            <a:off x="548640" y="201168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13" name="Text 11"/>
          <p:cNvSpPr/>
          <p:nvPr/>
        </p:nvSpPr>
        <p:spPr>
          <a:xfrm>
            <a:off x="685800" y="210312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03</a:t>
            </a:r>
            <a:endParaRPr lang="en-US" sz="2200" dirty="0"/>
          </a:p>
        </p:txBody>
      </p:sp>
      <p:sp>
        <p:nvSpPr>
          <p:cNvPr id="14" name="Text 12"/>
          <p:cNvSpPr/>
          <p:nvPr/>
        </p:nvSpPr>
        <p:spPr>
          <a:xfrm>
            <a:off x="1280160" y="210312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Team Performance</a:t>
            </a:r>
            <a:endParaRPr lang="en-US" sz="1600" dirty="0"/>
          </a:p>
        </p:txBody>
      </p:sp>
      <p:sp>
        <p:nvSpPr>
          <p:cNvPr id="15" name="Text 13"/>
          <p:cNvSpPr/>
          <p:nvPr/>
        </p:nvSpPr>
        <p:spPr>
          <a:xfrm>
            <a:off x="1280160" y="242316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Efficiency metrics comparison</a:t>
            </a:r>
            <a:endParaRPr lang="en-US" sz="1200" dirty="0"/>
          </a:p>
        </p:txBody>
      </p:sp>
      <p:sp>
        <p:nvSpPr>
          <p:cNvPr id="16" name="Shape 14"/>
          <p:cNvSpPr/>
          <p:nvPr/>
        </p:nvSpPr>
        <p:spPr>
          <a:xfrm>
            <a:off x="4754880" y="201168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17" name="Text 15"/>
          <p:cNvSpPr/>
          <p:nvPr/>
        </p:nvSpPr>
        <p:spPr>
          <a:xfrm>
            <a:off x="4892040" y="210312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04</a:t>
            </a:r>
            <a:endParaRPr lang="en-US" sz="2200" dirty="0"/>
          </a:p>
        </p:txBody>
      </p:sp>
      <p:sp>
        <p:nvSpPr>
          <p:cNvPr id="18" name="Text 16"/>
          <p:cNvSpPr/>
          <p:nvPr/>
        </p:nvSpPr>
        <p:spPr>
          <a:xfrm>
            <a:off x="5486400" y="210312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Player Analytics</a:t>
            </a:r>
            <a:endParaRPr lang="en-US" sz="1600" dirty="0"/>
          </a:p>
        </p:txBody>
      </p:sp>
      <p:sp>
        <p:nvSpPr>
          <p:cNvPr id="19" name="Text 17"/>
          <p:cNvSpPr/>
          <p:nvPr/>
        </p:nvSpPr>
        <p:spPr>
          <a:xfrm>
            <a:off x="5486400" y="242316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Individual player performance</a:t>
            </a:r>
            <a:endParaRPr lang="en-US" sz="1200" dirty="0"/>
          </a:p>
        </p:txBody>
      </p:sp>
      <p:sp>
        <p:nvSpPr>
          <p:cNvPr id="20" name="Shape 18"/>
          <p:cNvSpPr/>
          <p:nvPr/>
        </p:nvSpPr>
        <p:spPr>
          <a:xfrm>
            <a:off x="548640" y="301752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21" name="Text 19"/>
          <p:cNvSpPr/>
          <p:nvPr/>
        </p:nvSpPr>
        <p:spPr>
          <a:xfrm>
            <a:off x="685800" y="310896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05</a:t>
            </a:r>
            <a:endParaRPr lang="en-US" sz="2200" dirty="0"/>
          </a:p>
        </p:txBody>
      </p:sp>
      <p:sp>
        <p:nvSpPr>
          <p:cNvPr id="22" name="Text 20"/>
          <p:cNvSpPr/>
          <p:nvPr/>
        </p:nvSpPr>
        <p:spPr>
          <a:xfrm>
            <a:off x="1280160" y="310896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Play-by-Play Analysis</a:t>
            </a:r>
            <a:endParaRPr lang="en-US" sz="1600" dirty="0"/>
          </a:p>
        </p:txBody>
      </p:sp>
      <p:sp>
        <p:nvSpPr>
          <p:cNvPr id="23" name="Text 21"/>
          <p:cNvSpPr/>
          <p:nvPr/>
        </p:nvSpPr>
        <p:spPr>
          <a:xfrm>
            <a:off x="1280160" y="342900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Event &amp; shot analysis</a:t>
            </a:r>
            <a:endParaRPr lang="en-US" sz="1200" dirty="0"/>
          </a:p>
        </p:txBody>
      </p:sp>
      <p:sp>
        <p:nvSpPr>
          <p:cNvPr id="24" name="Shape 22"/>
          <p:cNvSpPr/>
          <p:nvPr/>
        </p:nvSpPr>
        <p:spPr>
          <a:xfrm>
            <a:off x="4754880" y="301752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25" name="Text 23"/>
          <p:cNvSpPr/>
          <p:nvPr/>
        </p:nvSpPr>
        <p:spPr>
          <a:xfrm>
            <a:off x="4892040" y="310896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06</a:t>
            </a:r>
            <a:endParaRPr lang="en-US" sz="2200" dirty="0"/>
          </a:p>
        </p:txBody>
      </p:sp>
      <p:sp>
        <p:nvSpPr>
          <p:cNvPr id="26" name="Text 24"/>
          <p:cNvSpPr/>
          <p:nvPr/>
        </p:nvSpPr>
        <p:spPr>
          <a:xfrm>
            <a:off x="5486400" y="310896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Home vs Away</a:t>
            </a:r>
            <a:endParaRPr lang="en-US" sz="1600" dirty="0"/>
          </a:p>
        </p:txBody>
      </p:sp>
      <p:sp>
        <p:nvSpPr>
          <p:cNvPr id="27" name="Text 25"/>
          <p:cNvSpPr/>
          <p:nvPr/>
        </p:nvSpPr>
        <p:spPr>
          <a:xfrm>
            <a:off x="5486400" y="342900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Home ice advantage quantified</a:t>
            </a:r>
            <a:endParaRPr lang="en-US" sz="1200" dirty="0"/>
          </a:p>
        </p:txBody>
      </p:sp>
      <p:sp>
        <p:nvSpPr>
          <p:cNvPr id="28" name="Shape 26"/>
          <p:cNvSpPr/>
          <p:nvPr/>
        </p:nvSpPr>
        <p:spPr>
          <a:xfrm>
            <a:off x="548640" y="402336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29" name="Text 27"/>
          <p:cNvSpPr/>
          <p:nvPr/>
        </p:nvSpPr>
        <p:spPr>
          <a:xfrm>
            <a:off x="685800" y="411480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07</a:t>
            </a:r>
            <a:endParaRPr lang="en-US" sz="2200" dirty="0"/>
          </a:p>
        </p:txBody>
      </p:sp>
      <p:sp>
        <p:nvSpPr>
          <p:cNvPr id="30" name="Text 28"/>
          <p:cNvSpPr/>
          <p:nvPr/>
        </p:nvSpPr>
        <p:spPr>
          <a:xfrm>
            <a:off x="1280160" y="411480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Dream Team</a:t>
            </a:r>
            <a:endParaRPr lang="en-US" sz="1600" dirty="0"/>
          </a:p>
        </p:txBody>
      </p:sp>
      <p:sp>
        <p:nvSpPr>
          <p:cNvPr id="31" name="Text 29"/>
          <p:cNvSpPr/>
          <p:nvPr/>
        </p:nvSpPr>
        <p:spPr>
          <a:xfrm>
            <a:off x="1280160" y="443484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Per-season roster builder</a:t>
            </a:r>
            <a:endParaRPr lang="en-US" sz="1200" dirty="0"/>
          </a:p>
        </p:txBody>
      </p:sp>
      <p:sp>
        <p:nvSpPr>
          <p:cNvPr id="32" name="Shape 30"/>
          <p:cNvSpPr/>
          <p:nvPr/>
        </p:nvSpPr>
        <p:spPr>
          <a:xfrm>
            <a:off x="4754880" y="4023360"/>
            <a:ext cx="3840480" cy="777240"/>
          </a:xfrm>
          <a:prstGeom prst="rect">
            <a:avLst/>
          </a:prstGeom>
          <a:solidFill>
            <a:srgbClr val="F8FAFC"/>
          </a:solidFill>
          <a:ln/>
          <a:effectLst>
            <a:outerShdw sx="100000" sy="100000" kx="0" ky="0" algn="bl" rotWithShape="0" blurRad="101600" dist="38100" dir="8100000">
              <a:srgbClr val="000000">
                <a:alpha val="12000"/>
              </a:srgbClr>
            </a:outerShdw>
          </a:effectLst>
        </p:spPr>
      </p:sp>
      <p:sp>
        <p:nvSpPr>
          <p:cNvPr id="33" name="Text 31"/>
          <p:cNvSpPr/>
          <p:nvPr/>
        </p:nvSpPr>
        <p:spPr>
          <a:xfrm>
            <a:off x="4892040" y="4114800"/>
            <a:ext cx="548640" cy="59436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08</a:t>
            </a:r>
            <a:endParaRPr lang="en-US" sz="2200" dirty="0"/>
          </a:p>
        </p:txBody>
      </p:sp>
      <p:sp>
        <p:nvSpPr>
          <p:cNvPr id="34" name="Text 32"/>
          <p:cNvSpPr/>
          <p:nvPr/>
        </p:nvSpPr>
        <p:spPr>
          <a:xfrm>
            <a:off x="5486400" y="411480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All-Stars</a:t>
            </a:r>
            <a:endParaRPr lang="en-US" sz="1600" dirty="0"/>
          </a:p>
        </p:txBody>
      </p:sp>
      <p:sp>
        <p:nvSpPr>
          <p:cNvPr id="35" name="Text 33"/>
          <p:cNvSpPr/>
          <p:nvPr/>
        </p:nvSpPr>
        <p:spPr>
          <a:xfrm>
            <a:off x="5486400" y="4434840"/>
            <a:ext cx="2926080" cy="3200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All-time career greats</a:t>
            </a:r>
            <a:endParaRPr lang="en-US" sz="1200" dirty="0"/>
          </a:p>
        </p:txBody>
      </p:sp>
      <p:sp>
        <p:nvSpPr>
          <p:cNvPr id="36" name="Shape 34"/>
          <p:cNvSpPr/>
          <p:nvPr/>
        </p:nvSpPr>
        <p:spPr>
          <a:xfrm>
            <a:off x="0" y="4892040"/>
            <a:ext cx="9144000" cy="251460"/>
          </a:xfrm>
          <a:prstGeom prst="rect">
            <a:avLst/>
          </a:prstGeom>
          <a:solidFill>
            <a:srgbClr val="1E2761"/>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DATA ARCHITECTURE</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Microsoft Fabric Medallion: Bronze → Silver → Gold → Power BI</a:t>
            </a:r>
            <a:endParaRPr lang="en-US" sz="1800" dirty="0"/>
          </a:p>
        </p:txBody>
      </p:sp>
      <p:sp>
        <p:nvSpPr>
          <p:cNvPr id="6" name="Shape 3"/>
          <p:cNvSpPr/>
          <p:nvPr/>
        </p:nvSpPr>
        <p:spPr>
          <a:xfrm>
            <a:off x="731520" y="914400"/>
            <a:ext cx="7680960" cy="77724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7" name="Text 4"/>
          <p:cNvSpPr/>
          <p:nvPr/>
        </p:nvSpPr>
        <p:spPr>
          <a:xfrm>
            <a:off x="914400" y="987552"/>
            <a:ext cx="1828800" cy="640080"/>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BRONZE LAYER</a:t>
            </a:r>
            <a:endParaRPr lang="en-US" sz="1400" dirty="0"/>
          </a:p>
        </p:txBody>
      </p:sp>
      <p:sp>
        <p:nvSpPr>
          <p:cNvPr id="8" name="Text 5"/>
          <p:cNvSpPr/>
          <p:nvPr/>
        </p:nvSpPr>
        <p:spPr>
          <a:xfrm>
            <a:off x="2926080" y="987552"/>
            <a:ext cx="530352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Raw CSV ingestion 13 tables including game, player, team, skater stats, goalie stats, plays</a:t>
            </a:r>
            <a:endParaRPr lang="en-US" sz="1400" dirty="0"/>
          </a:p>
        </p:txBody>
      </p:sp>
      <p:sp>
        <p:nvSpPr>
          <p:cNvPr id="9" name="Shape 6"/>
          <p:cNvSpPr/>
          <p:nvPr/>
        </p:nvSpPr>
        <p:spPr>
          <a:xfrm>
            <a:off x="731520" y="1920240"/>
            <a:ext cx="7680960" cy="77724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0" name="Text 7"/>
          <p:cNvSpPr/>
          <p:nvPr/>
        </p:nvSpPr>
        <p:spPr>
          <a:xfrm>
            <a:off x="914400" y="1993392"/>
            <a:ext cx="1828800" cy="640080"/>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SILVER LAYER</a:t>
            </a:r>
            <a:endParaRPr lang="en-US" sz="1400" dirty="0"/>
          </a:p>
        </p:txBody>
      </p:sp>
      <p:sp>
        <p:nvSpPr>
          <p:cNvPr id="11" name="Text 8"/>
          <p:cNvSpPr/>
          <p:nvPr/>
        </p:nvSpPr>
        <p:spPr>
          <a:xfrm>
            <a:off x="2926080" y="1993392"/>
            <a:ext cx="530352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Cleaned, deduplicated, validated 15+ tables with orphan record removal</a:t>
            </a:r>
            <a:endParaRPr lang="en-US" sz="1400" dirty="0"/>
          </a:p>
        </p:txBody>
      </p:sp>
      <p:sp>
        <p:nvSpPr>
          <p:cNvPr id="12" name="Shape 9"/>
          <p:cNvSpPr/>
          <p:nvPr/>
        </p:nvSpPr>
        <p:spPr>
          <a:xfrm>
            <a:off x="731520" y="2926080"/>
            <a:ext cx="7680960" cy="77724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3" name="Text 10"/>
          <p:cNvSpPr/>
          <p:nvPr/>
        </p:nvSpPr>
        <p:spPr>
          <a:xfrm>
            <a:off x="914400" y="2999232"/>
            <a:ext cx="1828800" cy="640080"/>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GOLD LAYER</a:t>
            </a:r>
            <a:endParaRPr lang="en-US" sz="1400" dirty="0"/>
          </a:p>
        </p:txBody>
      </p:sp>
      <p:sp>
        <p:nvSpPr>
          <p:cNvPr id="14" name="Text 11"/>
          <p:cNvSpPr/>
          <p:nvPr/>
        </p:nvSpPr>
        <p:spPr>
          <a:xfrm>
            <a:off x="2926080" y="2999232"/>
            <a:ext cx="530352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Star schema &amp; aggregated KPIs dims + facts, team standings, player season stats</a:t>
            </a:r>
            <a:endParaRPr lang="en-US" sz="1400" dirty="0"/>
          </a:p>
        </p:txBody>
      </p:sp>
      <p:sp>
        <p:nvSpPr>
          <p:cNvPr id="15" name="Shape 12"/>
          <p:cNvSpPr/>
          <p:nvPr/>
        </p:nvSpPr>
        <p:spPr>
          <a:xfrm>
            <a:off x="731520" y="3931920"/>
            <a:ext cx="7680960" cy="77724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6" name="Text 13"/>
          <p:cNvSpPr/>
          <p:nvPr/>
        </p:nvSpPr>
        <p:spPr>
          <a:xfrm>
            <a:off x="914400" y="4005072"/>
            <a:ext cx="1828800" cy="640080"/>
          </a:xfrm>
          <a:prstGeom prst="rect">
            <a:avLst/>
          </a:prstGeom>
          <a:noFill/>
          <a:ln/>
        </p:spPr>
        <p:txBody>
          <a:bodyPr wrap="square" lIns="0" tIns="0" rIns="0" bIns="0"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POWER BI</a:t>
            </a:r>
            <a:endParaRPr lang="en-US" sz="1400" dirty="0"/>
          </a:p>
        </p:txBody>
      </p:sp>
      <p:sp>
        <p:nvSpPr>
          <p:cNvPr id="17" name="Text 14"/>
          <p:cNvSpPr/>
          <p:nvPr/>
        </p:nvSpPr>
        <p:spPr>
          <a:xfrm>
            <a:off x="2926080" y="4005072"/>
            <a:ext cx="530352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DirectLake semantic model 7 dashboard pages, all interactive filtering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PAGE 1: EXECUTIVE SUMMARY</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High-level league overview with season and game-type filtering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PAGE 2: TEAM PERFORMANCE</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Compare team efficiency metrics across seasons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PAGE 3: PLAYER ANALYTICS</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Individual player performance with positional and team filtering</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PAGE 4: PLAY-BY-PLAY ANALYSIS</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Event distribution, shot types, and location mapping</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PAGE 5: HOME VS AWAY ANALYSIS</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Quantifying home ice advantage over 20 seasons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800" b="1" dirty="0">
                <a:solidFill>
                  <a:srgbClr val="D4A843"/>
                </a:solidFill>
                <a:latin typeface="Georgia" pitchFamily="34" charset="0"/>
                <a:ea typeface="Georgia" pitchFamily="34" charset="-122"/>
                <a:cs typeface="Georgia" pitchFamily="34" charset="-120"/>
              </a:rPr>
              <a:t>PAGE 6: DREAM TEAM</a:t>
            </a:r>
            <a:endParaRPr lang="en-US" sz="2800" dirty="0"/>
          </a:p>
        </p:txBody>
      </p:sp>
      <p:sp>
        <p:nvSpPr>
          <p:cNvPr id="4" name="Text 2"/>
          <p:cNvSpPr/>
          <p:nvPr/>
        </p:nvSpPr>
        <p:spPr>
          <a:xfrm>
            <a:off x="548640" y="731520"/>
            <a:ext cx="804672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Per-Season Roster Builder — The Flagship Page</a:t>
            </a:r>
            <a:endParaRPr lang="en-US" sz="1600" dirty="0"/>
          </a:p>
        </p:txBody>
      </p:sp>
      <p:sp>
        <p:nvSpPr>
          <p:cNvPr id="5" name="Shape 3"/>
          <p:cNvSpPr/>
          <p:nvPr/>
        </p:nvSpPr>
        <p:spPr>
          <a:xfrm>
            <a:off x="365760" y="137160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6" name="Shape 4"/>
          <p:cNvSpPr/>
          <p:nvPr/>
        </p:nvSpPr>
        <p:spPr>
          <a:xfrm>
            <a:off x="365760" y="1371600"/>
            <a:ext cx="2651760" cy="36576"/>
          </a:xfrm>
          <a:prstGeom prst="rect">
            <a:avLst/>
          </a:prstGeom>
          <a:solidFill>
            <a:srgbClr val="D4A843"/>
          </a:solidFill>
          <a:ln/>
        </p:spPr>
      </p:sp>
      <p:sp>
        <p:nvSpPr>
          <p:cNvPr id="7" name="Text 5"/>
          <p:cNvSpPr/>
          <p:nvPr/>
        </p:nvSpPr>
        <p:spPr>
          <a:xfrm>
            <a:off x="502920" y="1508760"/>
            <a:ext cx="2377440" cy="320040"/>
          </a:xfrm>
          <a:prstGeom prst="rect">
            <a:avLst/>
          </a:prstGeom>
          <a:noFill/>
          <a:ln/>
        </p:spPr>
        <p:txBody>
          <a:bodyPr wrap="square" lIns="0" tIns="0" rIns="0" bIns="0"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CENTER</a:t>
            </a:r>
            <a:endParaRPr lang="en-US" sz="1200" dirty="0"/>
          </a:p>
        </p:txBody>
      </p:sp>
      <p:sp>
        <p:nvSpPr>
          <p:cNvPr id="8" name="Text 6"/>
          <p:cNvSpPr/>
          <p:nvPr/>
        </p:nvSpPr>
        <p:spPr>
          <a:xfrm>
            <a:off x="502920" y="182880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9" name="Text 7"/>
          <p:cNvSpPr/>
          <p:nvPr/>
        </p:nvSpPr>
        <p:spPr>
          <a:xfrm>
            <a:off x="1645920" y="1828800"/>
            <a:ext cx="1280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[Name]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[Stats]</a:t>
            </a:r>
            <a:endParaRPr lang="en-US" sz="1200" dirty="0"/>
          </a:p>
        </p:txBody>
      </p:sp>
      <p:sp>
        <p:nvSpPr>
          <p:cNvPr id="10" name="Shape 8"/>
          <p:cNvSpPr/>
          <p:nvPr/>
        </p:nvSpPr>
        <p:spPr>
          <a:xfrm>
            <a:off x="3291840" y="137160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1" name="Shape 9"/>
          <p:cNvSpPr/>
          <p:nvPr/>
        </p:nvSpPr>
        <p:spPr>
          <a:xfrm>
            <a:off x="3291840" y="1371600"/>
            <a:ext cx="2651760" cy="36576"/>
          </a:xfrm>
          <a:prstGeom prst="rect">
            <a:avLst/>
          </a:prstGeom>
          <a:solidFill>
            <a:srgbClr val="D4A843"/>
          </a:solidFill>
          <a:ln/>
        </p:spPr>
      </p:sp>
      <p:sp>
        <p:nvSpPr>
          <p:cNvPr id="12" name="Text 10"/>
          <p:cNvSpPr/>
          <p:nvPr/>
        </p:nvSpPr>
        <p:spPr>
          <a:xfrm>
            <a:off x="3429000" y="1508760"/>
            <a:ext cx="2377440" cy="320040"/>
          </a:xfrm>
          <a:prstGeom prst="rect">
            <a:avLst/>
          </a:prstGeom>
          <a:noFill/>
          <a:ln/>
        </p:spPr>
        <p:txBody>
          <a:bodyPr wrap="square" lIns="0" tIns="0" rIns="0" bIns="0"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LEFT WING</a:t>
            </a:r>
            <a:endParaRPr lang="en-US" sz="1200" dirty="0"/>
          </a:p>
        </p:txBody>
      </p:sp>
      <p:sp>
        <p:nvSpPr>
          <p:cNvPr id="13" name="Text 11"/>
          <p:cNvSpPr/>
          <p:nvPr/>
        </p:nvSpPr>
        <p:spPr>
          <a:xfrm>
            <a:off x="3429000" y="182880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14" name="Text 12"/>
          <p:cNvSpPr/>
          <p:nvPr/>
        </p:nvSpPr>
        <p:spPr>
          <a:xfrm>
            <a:off x="4572000" y="1828800"/>
            <a:ext cx="1280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[Name]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[Stats]</a:t>
            </a:r>
            <a:endParaRPr lang="en-US" sz="1200" dirty="0"/>
          </a:p>
        </p:txBody>
      </p:sp>
      <p:sp>
        <p:nvSpPr>
          <p:cNvPr id="15" name="Shape 13"/>
          <p:cNvSpPr/>
          <p:nvPr/>
        </p:nvSpPr>
        <p:spPr>
          <a:xfrm>
            <a:off x="6217920" y="137160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6" name="Shape 14"/>
          <p:cNvSpPr/>
          <p:nvPr/>
        </p:nvSpPr>
        <p:spPr>
          <a:xfrm>
            <a:off x="6217920" y="1371600"/>
            <a:ext cx="2651760" cy="36576"/>
          </a:xfrm>
          <a:prstGeom prst="rect">
            <a:avLst/>
          </a:prstGeom>
          <a:solidFill>
            <a:srgbClr val="D4A843"/>
          </a:solidFill>
          <a:ln/>
        </p:spPr>
      </p:sp>
      <p:sp>
        <p:nvSpPr>
          <p:cNvPr id="17" name="Text 15"/>
          <p:cNvSpPr/>
          <p:nvPr/>
        </p:nvSpPr>
        <p:spPr>
          <a:xfrm>
            <a:off x="6355080" y="1508760"/>
            <a:ext cx="2377440" cy="320040"/>
          </a:xfrm>
          <a:prstGeom prst="rect">
            <a:avLst/>
          </a:prstGeom>
          <a:noFill/>
          <a:ln/>
        </p:spPr>
        <p:txBody>
          <a:bodyPr wrap="square" lIns="0" tIns="0" rIns="0" bIns="0"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RIGHT WING</a:t>
            </a:r>
            <a:endParaRPr lang="en-US" sz="1200" dirty="0"/>
          </a:p>
        </p:txBody>
      </p:sp>
      <p:sp>
        <p:nvSpPr>
          <p:cNvPr id="18" name="Text 16"/>
          <p:cNvSpPr/>
          <p:nvPr/>
        </p:nvSpPr>
        <p:spPr>
          <a:xfrm>
            <a:off x="6355080" y="182880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19" name="Text 17"/>
          <p:cNvSpPr/>
          <p:nvPr/>
        </p:nvSpPr>
        <p:spPr>
          <a:xfrm>
            <a:off x="7498080" y="1828800"/>
            <a:ext cx="1280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[Name]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[Stats]</a:t>
            </a:r>
            <a:endParaRPr lang="en-US" sz="1200" dirty="0"/>
          </a:p>
        </p:txBody>
      </p:sp>
      <p:sp>
        <p:nvSpPr>
          <p:cNvPr id="20" name="Shape 18"/>
          <p:cNvSpPr/>
          <p:nvPr/>
        </p:nvSpPr>
        <p:spPr>
          <a:xfrm>
            <a:off x="365760" y="310896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21" name="Shape 19"/>
          <p:cNvSpPr/>
          <p:nvPr/>
        </p:nvSpPr>
        <p:spPr>
          <a:xfrm>
            <a:off x="365760" y="3108960"/>
            <a:ext cx="2651760" cy="36576"/>
          </a:xfrm>
          <a:prstGeom prst="rect">
            <a:avLst/>
          </a:prstGeom>
          <a:solidFill>
            <a:srgbClr val="D4A843"/>
          </a:solidFill>
          <a:ln/>
        </p:spPr>
      </p:sp>
      <p:sp>
        <p:nvSpPr>
          <p:cNvPr id="22" name="Text 20"/>
          <p:cNvSpPr/>
          <p:nvPr/>
        </p:nvSpPr>
        <p:spPr>
          <a:xfrm>
            <a:off x="502920" y="3246120"/>
            <a:ext cx="2377440" cy="320040"/>
          </a:xfrm>
          <a:prstGeom prst="rect">
            <a:avLst/>
          </a:prstGeom>
          <a:noFill/>
          <a:ln/>
        </p:spPr>
        <p:txBody>
          <a:bodyPr wrap="square" lIns="0" tIns="0" rIns="0" bIns="0"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DEFENSE 1</a:t>
            </a:r>
            <a:endParaRPr lang="en-US" sz="1200" dirty="0"/>
          </a:p>
        </p:txBody>
      </p:sp>
      <p:sp>
        <p:nvSpPr>
          <p:cNvPr id="23" name="Text 21"/>
          <p:cNvSpPr/>
          <p:nvPr/>
        </p:nvSpPr>
        <p:spPr>
          <a:xfrm>
            <a:off x="502920" y="356616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24" name="Text 22"/>
          <p:cNvSpPr/>
          <p:nvPr/>
        </p:nvSpPr>
        <p:spPr>
          <a:xfrm>
            <a:off x="1645920" y="3566160"/>
            <a:ext cx="1280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[Name]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[Stats]</a:t>
            </a:r>
            <a:endParaRPr lang="en-US" sz="1200" dirty="0"/>
          </a:p>
        </p:txBody>
      </p:sp>
      <p:sp>
        <p:nvSpPr>
          <p:cNvPr id="25" name="Shape 23"/>
          <p:cNvSpPr/>
          <p:nvPr/>
        </p:nvSpPr>
        <p:spPr>
          <a:xfrm>
            <a:off x="3291840" y="310896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26" name="Shape 24"/>
          <p:cNvSpPr/>
          <p:nvPr/>
        </p:nvSpPr>
        <p:spPr>
          <a:xfrm>
            <a:off x="3291840" y="3108960"/>
            <a:ext cx="2651760" cy="36576"/>
          </a:xfrm>
          <a:prstGeom prst="rect">
            <a:avLst/>
          </a:prstGeom>
          <a:solidFill>
            <a:srgbClr val="D4A843"/>
          </a:solidFill>
          <a:ln/>
        </p:spPr>
      </p:sp>
      <p:sp>
        <p:nvSpPr>
          <p:cNvPr id="27" name="Text 25"/>
          <p:cNvSpPr/>
          <p:nvPr/>
        </p:nvSpPr>
        <p:spPr>
          <a:xfrm>
            <a:off x="3429000" y="3246120"/>
            <a:ext cx="2377440" cy="320040"/>
          </a:xfrm>
          <a:prstGeom prst="rect">
            <a:avLst/>
          </a:prstGeom>
          <a:noFill/>
          <a:ln/>
        </p:spPr>
        <p:txBody>
          <a:bodyPr wrap="square" lIns="0" tIns="0" rIns="0" bIns="0"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DEFENSE 2</a:t>
            </a:r>
            <a:endParaRPr lang="en-US" sz="1200" dirty="0"/>
          </a:p>
        </p:txBody>
      </p:sp>
      <p:sp>
        <p:nvSpPr>
          <p:cNvPr id="28" name="Text 26"/>
          <p:cNvSpPr/>
          <p:nvPr/>
        </p:nvSpPr>
        <p:spPr>
          <a:xfrm>
            <a:off x="3429000" y="356616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29" name="Text 27"/>
          <p:cNvSpPr/>
          <p:nvPr/>
        </p:nvSpPr>
        <p:spPr>
          <a:xfrm>
            <a:off x="4572000" y="3566160"/>
            <a:ext cx="1280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[Name]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[Stats]</a:t>
            </a:r>
            <a:endParaRPr lang="en-US" sz="1200" dirty="0"/>
          </a:p>
        </p:txBody>
      </p:sp>
      <p:sp>
        <p:nvSpPr>
          <p:cNvPr id="30" name="Shape 28"/>
          <p:cNvSpPr/>
          <p:nvPr/>
        </p:nvSpPr>
        <p:spPr>
          <a:xfrm>
            <a:off x="6217920" y="310896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31" name="Shape 29"/>
          <p:cNvSpPr/>
          <p:nvPr/>
        </p:nvSpPr>
        <p:spPr>
          <a:xfrm>
            <a:off x="6217920" y="3108960"/>
            <a:ext cx="2651760" cy="36576"/>
          </a:xfrm>
          <a:prstGeom prst="rect">
            <a:avLst/>
          </a:prstGeom>
          <a:solidFill>
            <a:srgbClr val="D4A843"/>
          </a:solidFill>
          <a:ln/>
        </p:spPr>
      </p:sp>
      <p:sp>
        <p:nvSpPr>
          <p:cNvPr id="32" name="Text 30"/>
          <p:cNvSpPr/>
          <p:nvPr/>
        </p:nvSpPr>
        <p:spPr>
          <a:xfrm>
            <a:off x="6355080" y="3246120"/>
            <a:ext cx="2377440" cy="320040"/>
          </a:xfrm>
          <a:prstGeom prst="rect">
            <a:avLst/>
          </a:prstGeom>
          <a:noFill/>
          <a:ln/>
        </p:spPr>
        <p:txBody>
          <a:bodyPr wrap="square" lIns="0" tIns="0" rIns="0" bIns="0" rtlCol="0" anchor="ctr"/>
          <a:lstStyle/>
          <a:p>
            <a:pPr indent="0" marL="0">
              <a:buNone/>
            </a:pPr>
            <a:r>
              <a:rPr lang="en-US" sz="1200" b="1" spc="200" kern="0" dirty="0">
                <a:solidFill>
                  <a:srgbClr val="D4A843"/>
                </a:solidFill>
                <a:latin typeface="Calibri" pitchFamily="34" charset="0"/>
                <a:ea typeface="Calibri" pitchFamily="34" charset="-122"/>
                <a:cs typeface="Calibri" pitchFamily="34" charset="-120"/>
              </a:rPr>
              <a:t>GOALIE</a:t>
            </a:r>
            <a:endParaRPr lang="en-US" sz="1200" dirty="0"/>
          </a:p>
        </p:txBody>
      </p:sp>
      <p:sp>
        <p:nvSpPr>
          <p:cNvPr id="33" name="Text 31"/>
          <p:cNvSpPr/>
          <p:nvPr/>
        </p:nvSpPr>
        <p:spPr>
          <a:xfrm>
            <a:off x="6355080" y="356616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34" name="Text 32"/>
          <p:cNvSpPr/>
          <p:nvPr/>
        </p:nvSpPr>
        <p:spPr>
          <a:xfrm>
            <a:off x="7498080" y="3566160"/>
            <a:ext cx="1280160" cy="9144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[Name]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[Stats]</a:t>
            </a:r>
            <a:endParaRPr lang="en-US" sz="1200" dirty="0"/>
          </a:p>
        </p:txBody>
      </p:sp>
      <p:sp>
        <p:nvSpPr>
          <p:cNvPr id="35" name="Text 33"/>
          <p:cNvSpPr/>
          <p:nvPr/>
        </p:nvSpPr>
        <p:spPr>
          <a:xfrm>
            <a:off x="548640" y="4572000"/>
            <a:ext cx="80467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Season slicer controls all 6 roster slots. Change the season, get a new team.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548640" y="182880"/>
            <a:ext cx="8046720" cy="548640"/>
          </a:xfrm>
          <a:prstGeom prst="rect">
            <a:avLst/>
          </a:prstGeom>
          <a:noFill/>
          <a:ln/>
        </p:spPr>
        <p:txBody>
          <a:bodyPr wrap="square" lIns="0" tIns="0" rIns="0" bIns="0" rtlCol="0" anchor="ctr"/>
          <a:lstStyle/>
          <a:p>
            <a:pPr indent="0" marL="0">
              <a:buNone/>
            </a:pPr>
            <a:r>
              <a:rPr lang="en-US" sz="2800" b="1" dirty="0">
                <a:solidFill>
                  <a:srgbClr val="D4A843"/>
                </a:solidFill>
                <a:latin typeface="Georgia" pitchFamily="34" charset="0"/>
                <a:ea typeface="Georgia" pitchFamily="34" charset="-122"/>
                <a:cs typeface="Georgia" pitchFamily="34" charset="-120"/>
              </a:rPr>
              <a:t>PAGE 7: ALL-STARS</a:t>
            </a:r>
            <a:endParaRPr lang="en-US" sz="2800" dirty="0"/>
          </a:p>
        </p:txBody>
      </p:sp>
      <p:sp>
        <p:nvSpPr>
          <p:cNvPr id="4" name="Text 2"/>
          <p:cNvSpPr/>
          <p:nvPr/>
        </p:nvSpPr>
        <p:spPr>
          <a:xfrm>
            <a:off x="548640" y="731520"/>
            <a:ext cx="804672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All-Time Career Greats — No Season Filter Needed</a:t>
            </a:r>
            <a:endParaRPr lang="en-US" sz="1600" dirty="0"/>
          </a:p>
        </p:txBody>
      </p:sp>
      <p:sp>
        <p:nvSpPr>
          <p:cNvPr id="5" name="Shape 3"/>
          <p:cNvSpPr/>
          <p:nvPr/>
        </p:nvSpPr>
        <p:spPr>
          <a:xfrm>
            <a:off x="365760" y="137160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6" name="Shape 4"/>
          <p:cNvSpPr/>
          <p:nvPr/>
        </p:nvSpPr>
        <p:spPr>
          <a:xfrm>
            <a:off x="365760" y="1371600"/>
            <a:ext cx="2651760" cy="36576"/>
          </a:xfrm>
          <a:prstGeom prst="rect">
            <a:avLst/>
          </a:prstGeom>
          <a:solidFill>
            <a:srgbClr val="CADCFC"/>
          </a:solidFill>
          <a:ln/>
        </p:spPr>
      </p:sp>
      <p:sp>
        <p:nvSpPr>
          <p:cNvPr id="7" name="Text 5"/>
          <p:cNvSpPr/>
          <p:nvPr/>
        </p:nvSpPr>
        <p:spPr>
          <a:xfrm>
            <a:off x="502920" y="1508760"/>
            <a:ext cx="237744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CENTER</a:t>
            </a:r>
            <a:endParaRPr lang="en-US" sz="1200" dirty="0"/>
          </a:p>
        </p:txBody>
      </p:sp>
      <p:sp>
        <p:nvSpPr>
          <p:cNvPr id="8" name="Text 6"/>
          <p:cNvSpPr/>
          <p:nvPr/>
        </p:nvSpPr>
        <p:spPr>
          <a:xfrm>
            <a:off x="502920" y="182880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9" name="Text 7"/>
          <p:cNvSpPr/>
          <p:nvPr/>
        </p:nvSpPr>
        <p:spPr>
          <a:xfrm>
            <a:off x="1645920" y="2011680"/>
            <a:ext cx="12801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Career PTS Leader</a:t>
            </a:r>
            <a:endParaRPr lang="en-US" sz="1100" dirty="0"/>
          </a:p>
        </p:txBody>
      </p:sp>
      <p:sp>
        <p:nvSpPr>
          <p:cNvPr id="10" name="Shape 8"/>
          <p:cNvSpPr/>
          <p:nvPr/>
        </p:nvSpPr>
        <p:spPr>
          <a:xfrm>
            <a:off x="3291840" y="137160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1" name="Shape 9"/>
          <p:cNvSpPr/>
          <p:nvPr/>
        </p:nvSpPr>
        <p:spPr>
          <a:xfrm>
            <a:off x="3291840" y="1371600"/>
            <a:ext cx="2651760" cy="36576"/>
          </a:xfrm>
          <a:prstGeom prst="rect">
            <a:avLst/>
          </a:prstGeom>
          <a:solidFill>
            <a:srgbClr val="CADCFC"/>
          </a:solidFill>
          <a:ln/>
        </p:spPr>
      </p:sp>
      <p:sp>
        <p:nvSpPr>
          <p:cNvPr id="12" name="Text 10"/>
          <p:cNvSpPr/>
          <p:nvPr/>
        </p:nvSpPr>
        <p:spPr>
          <a:xfrm>
            <a:off x="3429000" y="1508760"/>
            <a:ext cx="237744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LEFT WING</a:t>
            </a:r>
            <a:endParaRPr lang="en-US" sz="1200" dirty="0"/>
          </a:p>
        </p:txBody>
      </p:sp>
      <p:sp>
        <p:nvSpPr>
          <p:cNvPr id="13" name="Text 11"/>
          <p:cNvSpPr/>
          <p:nvPr/>
        </p:nvSpPr>
        <p:spPr>
          <a:xfrm>
            <a:off x="3429000" y="182880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14" name="Text 12"/>
          <p:cNvSpPr/>
          <p:nvPr/>
        </p:nvSpPr>
        <p:spPr>
          <a:xfrm>
            <a:off x="4572000" y="2011680"/>
            <a:ext cx="12801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Career PTS Leader</a:t>
            </a:r>
            <a:endParaRPr lang="en-US" sz="1100" dirty="0"/>
          </a:p>
        </p:txBody>
      </p:sp>
      <p:sp>
        <p:nvSpPr>
          <p:cNvPr id="15" name="Shape 13"/>
          <p:cNvSpPr/>
          <p:nvPr/>
        </p:nvSpPr>
        <p:spPr>
          <a:xfrm>
            <a:off x="6217920" y="137160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16" name="Shape 14"/>
          <p:cNvSpPr/>
          <p:nvPr/>
        </p:nvSpPr>
        <p:spPr>
          <a:xfrm>
            <a:off x="6217920" y="1371600"/>
            <a:ext cx="2651760" cy="36576"/>
          </a:xfrm>
          <a:prstGeom prst="rect">
            <a:avLst/>
          </a:prstGeom>
          <a:solidFill>
            <a:srgbClr val="CADCFC"/>
          </a:solidFill>
          <a:ln/>
        </p:spPr>
      </p:sp>
      <p:sp>
        <p:nvSpPr>
          <p:cNvPr id="17" name="Text 15"/>
          <p:cNvSpPr/>
          <p:nvPr/>
        </p:nvSpPr>
        <p:spPr>
          <a:xfrm>
            <a:off x="6355080" y="1508760"/>
            <a:ext cx="237744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RIGHT WING</a:t>
            </a:r>
            <a:endParaRPr lang="en-US" sz="1200" dirty="0"/>
          </a:p>
        </p:txBody>
      </p:sp>
      <p:sp>
        <p:nvSpPr>
          <p:cNvPr id="18" name="Text 16"/>
          <p:cNvSpPr/>
          <p:nvPr/>
        </p:nvSpPr>
        <p:spPr>
          <a:xfrm>
            <a:off x="6355080" y="182880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19" name="Text 17"/>
          <p:cNvSpPr/>
          <p:nvPr/>
        </p:nvSpPr>
        <p:spPr>
          <a:xfrm>
            <a:off x="7498080" y="2011680"/>
            <a:ext cx="12801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Career PTS Leader</a:t>
            </a:r>
            <a:endParaRPr lang="en-US" sz="1100" dirty="0"/>
          </a:p>
        </p:txBody>
      </p:sp>
      <p:sp>
        <p:nvSpPr>
          <p:cNvPr id="20" name="Shape 18"/>
          <p:cNvSpPr/>
          <p:nvPr/>
        </p:nvSpPr>
        <p:spPr>
          <a:xfrm>
            <a:off x="365760" y="310896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21" name="Shape 19"/>
          <p:cNvSpPr/>
          <p:nvPr/>
        </p:nvSpPr>
        <p:spPr>
          <a:xfrm>
            <a:off x="365760" y="3108960"/>
            <a:ext cx="2651760" cy="36576"/>
          </a:xfrm>
          <a:prstGeom prst="rect">
            <a:avLst/>
          </a:prstGeom>
          <a:solidFill>
            <a:srgbClr val="CADCFC"/>
          </a:solidFill>
          <a:ln/>
        </p:spPr>
      </p:sp>
      <p:sp>
        <p:nvSpPr>
          <p:cNvPr id="22" name="Text 20"/>
          <p:cNvSpPr/>
          <p:nvPr/>
        </p:nvSpPr>
        <p:spPr>
          <a:xfrm>
            <a:off x="502920" y="3246120"/>
            <a:ext cx="237744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DEFENSE 1</a:t>
            </a:r>
            <a:endParaRPr lang="en-US" sz="1200" dirty="0"/>
          </a:p>
        </p:txBody>
      </p:sp>
      <p:sp>
        <p:nvSpPr>
          <p:cNvPr id="23" name="Text 21"/>
          <p:cNvSpPr/>
          <p:nvPr/>
        </p:nvSpPr>
        <p:spPr>
          <a:xfrm>
            <a:off x="502920" y="356616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24" name="Text 22"/>
          <p:cNvSpPr/>
          <p:nvPr/>
        </p:nvSpPr>
        <p:spPr>
          <a:xfrm>
            <a:off x="1645920" y="3749040"/>
            <a:ext cx="12801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Top Career PTS</a:t>
            </a:r>
            <a:endParaRPr lang="en-US" sz="1100" dirty="0"/>
          </a:p>
        </p:txBody>
      </p:sp>
      <p:sp>
        <p:nvSpPr>
          <p:cNvPr id="25" name="Shape 23"/>
          <p:cNvSpPr/>
          <p:nvPr/>
        </p:nvSpPr>
        <p:spPr>
          <a:xfrm>
            <a:off x="3291840" y="310896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26" name="Shape 24"/>
          <p:cNvSpPr/>
          <p:nvPr/>
        </p:nvSpPr>
        <p:spPr>
          <a:xfrm>
            <a:off x="3291840" y="3108960"/>
            <a:ext cx="2651760" cy="36576"/>
          </a:xfrm>
          <a:prstGeom prst="rect">
            <a:avLst/>
          </a:prstGeom>
          <a:solidFill>
            <a:srgbClr val="CADCFC"/>
          </a:solidFill>
          <a:ln/>
        </p:spPr>
      </p:sp>
      <p:sp>
        <p:nvSpPr>
          <p:cNvPr id="27" name="Text 25"/>
          <p:cNvSpPr/>
          <p:nvPr/>
        </p:nvSpPr>
        <p:spPr>
          <a:xfrm>
            <a:off x="3429000" y="3246120"/>
            <a:ext cx="237744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DEFENSE 2</a:t>
            </a:r>
            <a:endParaRPr lang="en-US" sz="1200" dirty="0"/>
          </a:p>
        </p:txBody>
      </p:sp>
      <p:sp>
        <p:nvSpPr>
          <p:cNvPr id="28" name="Text 26"/>
          <p:cNvSpPr/>
          <p:nvPr/>
        </p:nvSpPr>
        <p:spPr>
          <a:xfrm>
            <a:off x="3429000" y="356616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29" name="Text 27"/>
          <p:cNvSpPr/>
          <p:nvPr/>
        </p:nvSpPr>
        <p:spPr>
          <a:xfrm>
            <a:off x="4572000" y="3749040"/>
            <a:ext cx="12801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2nd Career PTS</a:t>
            </a:r>
            <a:endParaRPr lang="en-US" sz="1100" dirty="0"/>
          </a:p>
        </p:txBody>
      </p:sp>
      <p:sp>
        <p:nvSpPr>
          <p:cNvPr id="30" name="Shape 28"/>
          <p:cNvSpPr/>
          <p:nvPr/>
        </p:nvSpPr>
        <p:spPr>
          <a:xfrm>
            <a:off x="6217920" y="3108960"/>
            <a:ext cx="2651760" cy="1463040"/>
          </a:xfrm>
          <a:prstGeom prst="rect">
            <a:avLst/>
          </a:prstGeom>
          <a:solidFill>
            <a:srgbClr val="1E293B"/>
          </a:solidFill>
          <a:ln/>
          <a:effectLst>
            <a:outerShdw sx="100000" sy="100000" kx="0" ky="0" algn="bl" rotWithShape="0" blurRad="101600" dist="38100" dir="8100000">
              <a:srgbClr val="000000">
                <a:alpha val="12000"/>
              </a:srgbClr>
            </a:outerShdw>
          </a:effectLst>
        </p:spPr>
      </p:sp>
      <p:sp>
        <p:nvSpPr>
          <p:cNvPr id="31" name="Shape 29"/>
          <p:cNvSpPr/>
          <p:nvPr/>
        </p:nvSpPr>
        <p:spPr>
          <a:xfrm>
            <a:off x="6217920" y="3108960"/>
            <a:ext cx="2651760" cy="36576"/>
          </a:xfrm>
          <a:prstGeom prst="rect">
            <a:avLst/>
          </a:prstGeom>
          <a:solidFill>
            <a:srgbClr val="CADCFC"/>
          </a:solidFill>
          <a:ln/>
        </p:spPr>
      </p:sp>
      <p:sp>
        <p:nvSpPr>
          <p:cNvPr id="32" name="Text 30"/>
          <p:cNvSpPr/>
          <p:nvPr/>
        </p:nvSpPr>
        <p:spPr>
          <a:xfrm>
            <a:off x="6355080" y="3246120"/>
            <a:ext cx="2377440" cy="32004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GOALIE</a:t>
            </a:r>
            <a:endParaRPr lang="en-US" sz="1200" dirty="0"/>
          </a:p>
        </p:txBody>
      </p:sp>
      <p:sp>
        <p:nvSpPr>
          <p:cNvPr id="33" name="Text 31"/>
          <p:cNvSpPr/>
          <p:nvPr/>
        </p:nvSpPr>
        <p:spPr>
          <a:xfrm>
            <a:off x="6355080" y="3566160"/>
            <a:ext cx="1097280" cy="9144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[Photo]</a:t>
            </a:r>
            <a:endParaRPr lang="en-US" sz="1100" dirty="0"/>
          </a:p>
        </p:txBody>
      </p:sp>
      <p:sp>
        <p:nvSpPr>
          <p:cNvPr id="34" name="Text 32"/>
          <p:cNvSpPr/>
          <p:nvPr/>
        </p:nvSpPr>
        <p:spPr>
          <a:xfrm>
            <a:off x="7498080" y="3749040"/>
            <a:ext cx="1280160" cy="5486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Most Games Played</a:t>
            </a:r>
            <a:endParaRPr lang="en-US" sz="1100" dirty="0"/>
          </a:p>
        </p:txBody>
      </p:sp>
      <p:sp>
        <p:nvSpPr>
          <p:cNvPr id="35" name="Text 33"/>
          <p:cNvSpPr/>
          <p:nvPr/>
        </p:nvSpPr>
        <p:spPr>
          <a:xfrm>
            <a:off x="548640" y="4572000"/>
            <a:ext cx="80467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Built from player_career table — career totals across all seasons (2000–2020)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097280"/>
            <a:ext cx="7680960" cy="137160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TECHNICAL HIGHLIGHTS</a:t>
            </a:r>
            <a:endParaRPr lang="en-US" sz="4000" dirty="0"/>
          </a:p>
        </p:txBody>
      </p:sp>
      <p:sp>
        <p:nvSpPr>
          <p:cNvPr id="4" name="Text 2"/>
          <p:cNvSpPr/>
          <p:nvPr/>
        </p:nvSpPr>
        <p:spPr>
          <a:xfrm>
            <a:off x="731520" y="2560320"/>
            <a:ext cx="7680960" cy="9144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Key implementation details and architecture decisions</a:t>
            </a:r>
            <a:endParaRPr lang="en-US" sz="1800" dirty="0"/>
          </a:p>
        </p:txBody>
      </p:sp>
      <p:sp>
        <p:nvSpPr>
          <p:cNvPr id="6" name="Shape 3"/>
          <p:cNvSpPr/>
          <p:nvPr/>
        </p:nvSpPr>
        <p:spPr>
          <a:xfrm>
            <a:off x="731520" y="914400"/>
            <a:ext cx="7680960" cy="50292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7" name="Text 4"/>
          <p:cNvSpPr/>
          <p:nvPr/>
        </p:nvSpPr>
        <p:spPr>
          <a:xfrm>
            <a:off x="914400" y="960120"/>
            <a:ext cx="228600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DirectLake Mode</a:t>
            </a:r>
            <a:endParaRPr lang="en-US" sz="1300" dirty="0"/>
          </a:p>
        </p:txBody>
      </p:sp>
      <p:sp>
        <p:nvSpPr>
          <p:cNvPr id="8" name="Text 5"/>
          <p:cNvSpPr/>
          <p:nvPr/>
        </p:nvSpPr>
        <p:spPr>
          <a:xfrm>
            <a:off x="3291840" y="960120"/>
            <a:ext cx="493776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Zero data movement - Power BI queries the lakehouse directly</a:t>
            </a:r>
            <a:endParaRPr lang="en-US" sz="1300" dirty="0"/>
          </a:p>
        </p:txBody>
      </p:sp>
      <p:sp>
        <p:nvSpPr>
          <p:cNvPr id="9" name="Shape 6"/>
          <p:cNvSpPr/>
          <p:nvPr/>
        </p:nvSpPr>
        <p:spPr>
          <a:xfrm>
            <a:off x="731520" y="1554480"/>
            <a:ext cx="7680960" cy="50292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0" name="Text 7"/>
          <p:cNvSpPr/>
          <p:nvPr/>
        </p:nvSpPr>
        <p:spPr>
          <a:xfrm>
            <a:off x="914400" y="1600200"/>
            <a:ext cx="228600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DAX Measures</a:t>
            </a:r>
            <a:endParaRPr lang="en-US" sz="1300" dirty="0"/>
          </a:p>
        </p:txBody>
      </p:sp>
      <p:sp>
        <p:nvSpPr>
          <p:cNvPr id="11" name="Text 8"/>
          <p:cNvSpPr/>
          <p:nvPr/>
        </p:nvSpPr>
        <p:spPr>
          <a:xfrm>
            <a:off x="3291840" y="1600200"/>
            <a:ext cx="493776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All logic in measures (no calculated columns in large fact tables)</a:t>
            </a:r>
            <a:endParaRPr lang="en-US" sz="1300" dirty="0"/>
          </a:p>
        </p:txBody>
      </p:sp>
      <p:sp>
        <p:nvSpPr>
          <p:cNvPr id="12" name="Shape 9"/>
          <p:cNvSpPr/>
          <p:nvPr/>
        </p:nvSpPr>
        <p:spPr>
          <a:xfrm>
            <a:off x="731520" y="2194560"/>
            <a:ext cx="7680960" cy="50292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3" name="Text 10"/>
          <p:cNvSpPr/>
          <p:nvPr/>
        </p:nvSpPr>
        <p:spPr>
          <a:xfrm>
            <a:off x="914400" y="2240280"/>
            <a:ext cx="228600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TOPN Pattern</a:t>
            </a:r>
            <a:endParaRPr lang="en-US" sz="1300" dirty="0"/>
          </a:p>
        </p:txBody>
      </p:sp>
      <p:sp>
        <p:nvSpPr>
          <p:cNvPr id="14" name="Text 11"/>
          <p:cNvSpPr/>
          <p:nvPr/>
        </p:nvSpPr>
        <p:spPr>
          <a:xfrm>
            <a:off x="3291840" y="2240280"/>
            <a:ext cx="493776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Dream Team uses TOPN to find top player per position dynamically</a:t>
            </a:r>
            <a:endParaRPr lang="en-US" sz="1300" dirty="0"/>
          </a:p>
        </p:txBody>
      </p:sp>
      <p:sp>
        <p:nvSpPr>
          <p:cNvPr id="15" name="Shape 12"/>
          <p:cNvSpPr/>
          <p:nvPr/>
        </p:nvSpPr>
        <p:spPr>
          <a:xfrm>
            <a:off x="731520" y="2834640"/>
            <a:ext cx="7680960" cy="50292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6" name="Text 13"/>
          <p:cNvSpPr/>
          <p:nvPr/>
        </p:nvSpPr>
        <p:spPr>
          <a:xfrm>
            <a:off x="914400" y="2880360"/>
            <a:ext cx="228600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NHL Photo CDN</a:t>
            </a:r>
            <a:endParaRPr lang="en-US" sz="1300" dirty="0"/>
          </a:p>
        </p:txBody>
      </p:sp>
      <p:sp>
        <p:nvSpPr>
          <p:cNvPr id="17" name="Text 14"/>
          <p:cNvSpPr/>
          <p:nvPr/>
        </p:nvSpPr>
        <p:spPr>
          <a:xfrm>
            <a:off x="3291840" y="2880360"/>
            <a:ext cx="493776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Headshots loaded from assets.nhle.com using player_id in URL</a:t>
            </a:r>
            <a:endParaRPr lang="en-US" sz="1300" dirty="0"/>
          </a:p>
        </p:txBody>
      </p:sp>
      <p:sp>
        <p:nvSpPr>
          <p:cNvPr id="18" name="Shape 15"/>
          <p:cNvSpPr/>
          <p:nvPr/>
        </p:nvSpPr>
        <p:spPr>
          <a:xfrm>
            <a:off x="731520" y="3474720"/>
            <a:ext cx="7680960" cy="50292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19" name="Text 16"/>
          <p:cNvSpPr/>
          <p:nvPr/>
        </p:nvSpPr>
        <p:spPr>
          <a:xfrm>
            <a:off x="914400" y="3520440"/>
            <a:ext cx="228600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Per-Season vs Career</a:t>
            </a:r>
            <a:endParaRPr lang="en-US" sz="1300" dirty="0"/>
          </a:p>
        </p:txBody>
      </p:sp>
      <p:sp>
        <p:nvSpPr>
          <p:cNvPr id="20" name="Text 17"/>
          <p:cNvSpPr/>
          <p:nvPr/>
        </p:nvSpPr>
        <p:spPr>
          <a:xfrm>
            <a:off x="3291840" y="3520440"/>
            <a:ext cx="493776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Separate tables for seasonal (gold_player_season_stats) and career (player_career) views</a:t>
            </a:r>
            <a:endParaRPr lang="en-US" sz="1300" dirty="0"/>
          </a:p>
        </p:txBody>
      </p:sp>
      <p:sp>
        <p:nvSpPr>
          <p:cNvPr id="21" name="Shape 18"/>
          <p:cNvSpPr/>
          <p:nvPr/>
        </p:nvSpPr>
        <p:spPr>
          <a:xfrm>
            <a:off x="731520" y="4114800"/>
            <a:ext cx="7680960" cy="502920"/>
          </a:xfrm>
          <a:prstGeom prst="rect">
            <a:avLst/>
          </a:prstGeom>
          <a:solidFill>
            <a:srgbClr val="1C3A5E"/>
          </a:solidFill>
          <a:ln/>
          <a:effectLst>
            <a:outerShdw sx="100000" sy="100000" kx="0" ky="0" algn="bl" rotWithShape="0" blurRad="101600" dist="38100" dir="8100000">
              <a:srgbClr val="000000">
                <a:alpha val="12000"/>
              </a:srgbClr>
            </a:outerShdw>
          </a:effectLst>
        </p:spPr>
      </p:sp>
      <p:sp>
        <p:nvSpPr>
          <p:cNvPr id="22" name="Text 19"/>
          <p:cNvSpPr/>
          <p:nvPr/>
        </p:nvSpPr>
        <p:spPr>
          <a:xfrm>
            <a:off x="914400" y="4160520"/>
            <a:ext cx="2286000" cy="411480"/>
          </a:xfrm>
          <a:prstGeom prst="rect">
            <a:avLst/>
          </a:prstGeom>
          <a:noFill/>
          <a:ln/>
        </p:spPr>
        <p:txBody>
          <a:bodyPr wrap="square" lIns="0" tIns="0" rIns="0" bIns="0"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Medallion Architecture</a:t>
            </a:r>
            <a:endParaRPr lang="en-US" sz="1300" dirty="0"/>
          </a:p>
        </p:txBody>
      </p:sp>
      <p:sp>
        <p:nvSpPr>
          <p:cNvPr id="23" name="Text 20"/>
          <p:cNvSpPr/>
          <p:nvPr/>
        </p:nvSpPr>
        <p:spPr>
          <a:xfrm>
            <a:off x="3291840" y="4160520"/>
            <a:ext cx="4937760" cy="4114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Bronze → Silver → Gold ensures data quality at every stage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731520" y="1371600"/>
            <a:ext cx="7680960" cy="1097280"/>
          </a:xfrm>
          <a:prstGeom prst="rect">
            <a:avLst/>
          </a:prstGeom>
          <a:noFill/>
          <a:ln/>
        </p:spPr>
        <p:txBody>
          <a:bodyPr wrap="square" lIns="0" tIns="0" rIns="0" bIns="0" rtlCol="0" anchor="ctr"/>
          <a:lstStyle/>
          <a:p>
            <a:pPr indent="0" marL="0">
              <a:buNone/>
            </a:pPr>
            <a:r>
              <a:rPr lang="en-US" sz="4800" b="1" spc="400" kern="0" dirty="0">
                <a:solidFill>
                  <a:srgbClr val="FFFFFF"/>
                </a:solidFill>
                <a:latin typeface="Georgia" pitchFamily="34" charset="0"/>
                <a:ea typeface="Georgia" pitchFamily="34" charset="-122"/>
                <a:cs typeface="Georgia" pitchFamily="34" charset="-120"/>
              </a:rPr>
              <a:t>THANK YOU</a:t>
            </a:r>
            <a:endParaRPr lang="en-US" sz="4800" dirty="0"/>
          </a:p>
        </p:txBody>
      </p:sp>
      <p:sp>
        <p:nvSpPr>
          <p:cNvPr id="4" name="Text 2"/>
          <p:cNvSpPr/>
          <p:nvPr/>
        </p:nvSpPr>
        <p:spPr>
          <a:xfrm>
            <a:off x="731520" y="2560320"/>
            <a:ext cx="768096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Shape 3"/>
          <p:cNvSpPr/>
          <p:nvPr/>
        </p:nvSpPr>
        <p:spPr>
          <a:xfrm>
            <a:off x="731520" y="3474720"/>
            <a:ext cx="1828800" cy="36576"/>
          </a:xfrm>
          <a:prstGeom prst="rect">
            <a:avLst/>
          </a:prstGeom>
          <a:solidFill>
            <a:srgbClr val="D4A843"/>
          </a:solidFill>
          <a:ln/>
        </p:spPr>
      </p:sp>
      <p:sp>
        <p:nvSpPr>
          <p:cNvPr id="6" name="Text 4"/>
          <p:cNvSpPr/>
          <p:nvPr/>
        </p:nvSpPr>
        <p:spPr>
          <a:xfrm>
            <a:off x="731520" y="3657600"/>
            <a:ext cx="7680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NHL Analytics Dashboard</a:t>
            </a:r>
            <a:endParaRPr lang="en-US" sz="1400" dirty="0"/>
          </a:p>
        </p:txBody>
      </p:sp>
      <p:sp>
        <p:nvSpPr>
          <p:cNvPr id="7" name="Text 5"/>
          <p:cNvSpPr/>
          <p:nvPr/>
        </p:nvSpPr>
        <p:spPr>
          <a:xfrm>
            <a:off x="731520" y="3931920"/>
            <a:ext cx="768096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Built with Microsoft Fabric + Power BI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NHL Analytics Dashboard — Presentation</dc:title>
  <dc:subject>PptxGenJS Presentation</dc:subject>
  <dc:creator>NHL Analytics Team</dc:creator>
  <cp:lastModifiedBy>NHL Analytics Team</cp:lastModifiedBy>
  <cp:revision>1</cp:revision>
  <dcterms:created xsi:type="dcterms:W3CDTF">2026-06-08T13:12:14Z</dcterms:created>
  <dcterms:modified xsi:type="dcterms:W3CDTF">2026-06-08T13:12:14Z</dcterms:modified>
</cp:coreProperties>
</file>